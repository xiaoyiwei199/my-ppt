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1.xml" ContentType="application/vnd.openxmlformats-officedocument.presentationml.tags+xml"/>
  <Override PartName="/ppt/notesSlides/notesSlide2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08" r:id="rId2"/>
    <p:sldId id="416" r:id="rId3"/>
    <p:sldId id="420" r:id="rId4"/>
    <p:sldId id="301" r:id="rId5"/>
    <p:sldId id="824" r:id="rId6"/>
    <p:sldId id="825" r:id="rId7"/>
    <p:sldId id="826" r:id="rId8"/>
    <p:sldId id="805" r:id="rId9"/>
    <p:sldId id="808" r:id="rId10"/>
    <p:sldId id="809" r:id="rId11"/>
    <p:sldId id="827" r:id="rId12"/>
    <p:sldId id="828" r:id="rId13"/>
    <p:sldId id="829" r:id="rId14"/>
    <p:sldId id="830" r:id="rId15"/>
    <p:sldId id="831" r:id="rId16"/>
    <p:sldId id="832" r:id="rId17"/>
    <p:sldId id="833" r:id="rId18"/>
    <p:sldId id="834" r:id="rId19"/>
    <p:sldId id="835" r:id="rId20"/>
    <p:sldId id="836" r:id="rId21"/>
    <p:sldId id="812" r:id="rId22"/>
    <p:sldId id="840" r:id="rId23"/>
    <p:sldId id="841" r:id="rId24"/>
    <p:sldId id="839" r:id="rId25"/>
    <p:sldId id="814" r:id="rId26"/>
    <p:sldId id="842" r:id="rId27"/>
    <p:sldId id="815" r:id="rId28"/>
    <p:sldId id="816" r:id="rId29"/>
    <p:sldId id="859" r:id="rId30"/>
    <p:sldId id="818" r:id="rId31"/>
    <p:sldId id="845" r:id="rId32"/>
    <p:sldId id="846" r:id="rId33"/>
    <p:sldId id="819" r:id="rId34"/>
    <p:sldId id="861" r:id="rId35"/>
    <p:sldId id="855" r:id="rId36"/>
    <p:sldId id="856" r:id="rId37"/>
    <p:sldId id="857" r:id="rId38"/>
    <p:sldId id="858" r:id="rId39"/>
    <p:sldId id="837" r:id="rId40"/>
    <p:sldId id="838" r:id="rId41"/>
    <p:sldId id="412" r:id="rId42"/>
  </p:sldIdLst>
  <p:sldSz cx="9144000" cy="5143500" type="screen16x9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 Yang" initials="XY" lastIdx="2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5F01"/>
    <a:srgbClr val="F1F1F1"/>
    <a:srgbClr val="003CA6"/>
    <a:srgbClr val="FF8344"/>
    <a:srgbClr val="F36522"/>
    <a:srgbClr val="ED6D2B"/>
    <a:srgbClr val="FC6A25"/>
    <a:srgbClr val="E46836"/>
    <a:srgbClr val="F06712"/>
    <a:srgbClr val="FD7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5" autoAdjust="0"/>
    <p:restoredTop sz="95184" autoAdjust="0"/>
  </p:normalViewPr>
  <p:slideViewPr>
    <p:cSldViewPr snapToGrid="0" showGuides="1">
      <p:cViewPr varScale="1">
        <p:scale>
          <a:sx n="114" d="100"/>
          <a:sy n="114" d="100"/>
        </p:scale>
        <p:origin x="653" y="91"/>
      </p:cViewPr>
      <p:guideLst>
        <p:guide orient="horz" pos="547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2025/4/18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9012C8C0-A3D3-487B-AECC-CB6663EAE28D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849D3E0-124D-4DFF-AE99-4EA4CC201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122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题目来源</a:t>
            </a:r>
            <a:r>
              <a:rPr kumimoji="1" lang="en-US" altLang="zh-CN" dirty="0"/>
              <a:t> P1366</a:t>
            </a:r>
            <a:r>
              <a:rPr kumimoji="1" lang="zh-CN" altLang="en-US" dirty="0"/>
              <a:t>【洛谷】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849D3E0-124D-4DFF-AE99-4EA4CC201DB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4C4388EF-52D1-4258-9BE5-BCD010C7D4DE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3D3EE65E-57D2-4566-898C-4F2076833F8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" y="-1"/>
            <a:ext cx="9138047" cy="51603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8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" y="947"/>
            <a:ext cx="9138046" cy="5158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63671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558052" y="2064136"/>
            <a:ext cx="7886700" cy="175483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kumimoji="1" lang="en-US" altLang="zh-CN" dirty="0">
                <a:latin typeface="+mj-lt"/>
              </a:rPr>
              <a:t>THANK YOU</a:t>
            </a:r>
            <a:endParaRPr kumimoji="1" lang="en-US" altLang="zh-CN" sz="2400" b="0" dirty="0">
              <a:latin typeface="+mj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CFE5-9BAE-434A-B7E0-C053F9E20057}" type="datetimeFigureOut">
              <a:rPr kumimoji="1" lang="zh-CN" altLang="en-US" smtClean="0"/>
              <a:t>2025/4/18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75E1B-EC61-4B40-BD8F-EFE8DCE774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6B6FCFE5-9BAE-434A-B7E0-C053F9E20057}" type="datetimeFigureOut">
              <a:rPr kumimoji="1" lang="zh-CN" altLang="en-US" smtClean="0"/>
              <a:t>2025/4/18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9AD75E1B-EC61-4B40-BD8F-EFE8DCE774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4" Type="http://schemas.openxmlformats.org/officeDocument/2006/relationships/hyperlink" Target="https://www.luogu.com.cn/training/674879%0d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090892" y="1739723"/>
            <a:ext cx="6883213" cy="23750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kumimoji="1" lang="en-US" altLang="zh-CN" spc="225" dirty="0"/>
              <a:t>NOIP1-1-8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2600" spc="225" dirty="0"/>
              <a:t>for </a:t>
            </a:r>
            <a:r>
              <a:rPr kumimoji="1" lang="zh-CN" altLang="en-US" sz="2600" spc="225" dirty="0"/>
              <a:t>循环</a:t>
            </a:r>
            <a:endParaRPr kumimoji="1" lang="en-US" altLang="zh-CN" sz="1800" b="0" spc="225" dirty="0">
              <a:latin typeface="+mn-lt"/>
            </a:endParaRPr>
          </a:p>
          <a:p>
            <a:pPr algn="ctr">
              <a:lnSpc>
                <a:spcPct val="150000"/>
              </a:lnSpc>
            </a:pPr>
            <a:endParaRPr kumimoji="1" lang="zh-CN" altLang="en-US" sz="1800" b="0" spc="225" dirty="0">
              <a:latin typeface="+mn-lt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800" b="0" spc="225" dirty="0">
                <a:latin typeface="+mn-lt"/>
              </a:rPr>
              <a:t>C++</a:t>
            </a:r>
            <a:r>
              <a:rPr kumimoji="1" lang="zh-CN" altLang="en-US" sz="1800" b="0" spc="225" dirty="0">
                <a:latin typeface="+mn-lt"/>
              </a:rPr>
              <a:t>代码编程</a:t>
            </a:r>
          </a:p>
          <a:p>
            <a:pPr algn="ctr">
              <a:lnSpc>
                <a:spcPct val="150000"/>
              </a:lnSpc>
            </a:pPr>
            <a:endParaRPr kumimoji="1" lang="en-US" altLang="zh-CN" sz="1800" b="0" spc="225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626360" y="2009140"/>
            <a:ext cx="5246370" cy="18434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en-US" altLang="zh-CN" sz="3600" b="0" dirty="0">
                <a:latin typeface="+mj-lt"/>
              </a:rPr>
              <a:t>1</a:t>
            </a:r>
            <a:r>
              <a:rPr kumimoji="1" lang="en-US" altLang="zh-CN" sz="2400" dirty="0">
                <a:latin typeface="+mj-lt"/>
              </a:rPr>
              <a:t>/</a:t>
            </a:r>
            <a:r>
              <a:rPr kumimoji="1" lang="zh-CN" altLang="en-US" sz="2400" dirty="0">
                <a:latin typeface="+mj-lt"/>
              </a:rPr>
              <a:t>  </a:t>
            </a:r>
            <a:r>
              <a:rPr kumimoji="1" lang="en-US" altLang="zh-CN" sz="2400" dirty="0">
                <a:latin typeface="+mj-lt"/>
              </a:rPr>
              <a:t> for</a:t>
            </a:r>
            <a:r>
              <a:rPr kumimoji="1" lang="zh-CN" altLang="en-US" sz="2400" dirty="0">
                <a:latin typeface="+mj-lt"/>
              </a:rPr>
              <a:t>循环的基本语法和结构</a:t>
            </a:r>
            <a:endParaRPr kumimoji="1" lang="en-US" altLang="zh-CN" sz="2400" dirty="0"/>
          </a:p>
          <a:p>
            <a:pPr>
              <a:lnSpc>
                <a:spcPct val="100000"/>
              </a:lnSpc>
            </a:pPr>
            <a:r>
              <a:rPr kumimoji="1" lang="en-US" altLang="zh-CN" sz="3600" b="0" dirty="0">
                <a:latin typeface="+mj-lt"/>
              </a:rPr>
              <a:t>2</a:t>
            </a:r>
            <a:r>
              <a:rPr kumimoji="1" lang="en-US" altLang="zh-CN" sz="2400" dirty="0">
                <a:latin typeface="+mj-lt"/>
              </a:rPr>
              <a:t>/</a:t>
            </a:r>
            <a:r>
              <a:rPr kumimoji="1" lang="zh-CN" altLang="en-US" sz="2400" dirty="0"/>
              <a:t>  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擂台法求最值</a:t>
            </a:r>
            <a:endParaRPr kumimoji="1" lang="en-US" altLang="zh-CN" sz="2400" dirty="0"/>
          </a:p>
          <a:p>
            <a:pPr>
              <a:lnSpc>
                <a:spcPct val="100000"/>
              </a:lnSpc>
            </a:pPr>
            <a:r>
              <a:rPr kumimoji="1" lang="en-US" altLang="zh-CN" sz="3600" b="0" dirty="0">
                <a:latin typeface="+mj-lt"/>
              </a:rPr>
              <a:t>3</a:t>
            </a:r>
            <a:r>
              <a:rPr kumimoji="1" lang="en-US" altLang="zh-CN" sz="2400" dirty="0">
                <a:latin typeface="+mj-lt"/>
              </a:rPr>
              <a:t>/</a:t>
            </a:r>
            <a:r>
              <a:rPr kumimoji="1" lang="zh-CN" altLang="en-US" sz="2400" dirty="0"/>
              <a:t>  </a:t>
            </a:r>
            <a:r>
              <a:rPr kumimoji="1" lang="en-US" altLang="zh-CN" sz="2400" dirty="0"/>
              <a:t> for</a:t>
            </a:r>
            <a:r>
              <a:rPr kumimoji="1" lang="zh-CN" altLang="en-US" sz="2400" dirty="0"/>
              <a:t>循环的应用</a:t>
            </a:r>
            <a:endParaRPr kumimoji="1" lang="en-US" altLang="zh-CN" sz="2400" b="0" spc="300" dirty="0"/>
          </a:p>
          <a:p>
            <a:pPr>
              <a:lnSpc>
                <a:spcPct val="100000"/>
              </a:lnSpc>
            </a:pPr>
            <a:endParaRPr kumimoji="1" lang="en-US" altLang="zh-CN" sz="2400" b="0" spc="300" dirty="0"/>
          </a:p>
          <a:p>
            <a:pPr>
              <a:lnSpc>
                <a:spcPct val="150000"/>
              </a:lnSpc>
            </a:pPr>
            <a:endParaRPr kumimoji="1" lang="en-US" altLang="zh-CN" sz="2400" b="0" spc="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43" y="2138092"/>
            <a:ext cx="6582334" cy="8337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课前回顾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课前回顾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675" y="1367960"/>
            <a:ext cx="814023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kumimoji="1"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循环三要素是什么？</a:t>
            </a:r>
            <a:br>
              <a:rPr kumimoji="1"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while </a:t>
            </a:r>
            <a:r>
              <a:rPr kumimoji="1"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循环的格式和执行顺序？</a:t>
            </a:r>
            <a:br>
              <a:rPr kumimoji="1"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do while </a:t>
            </a:r>
            <a:r>
              <a:rPr kumimoji="1" lang="zh-CN" altLang="en-US" b="1" dirty="0">
                <a:solidFill>
                  <a:srgbClr val="E7E6E6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循环的格式和执行顺序？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54075" y="1328420"/>
            <a:ext cx="261175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1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的初始化 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54075" y="2039620"/>
            <a:ext cx="296926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1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的执行条件 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53927" y="2743538"/>
            <a:ext cx="2859599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21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</a:t>
            </a: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的递进方式</a:t>
            </a: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2400" b="1" spc="0" dirty="0">
                <a:solidFill>
                  <a:srgbClr val="003CA6"/>
                </a:solidFill>
                <a:cs typeface="微软雅黑" panose="020B0503020204020204" charset="-122"/>
              </a:rPr>
              <a:t>循环语句的三要素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4453" y="2317084"/>
            <a:ext cx="418400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 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循环条件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循环体代码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对话气泡: 圆角矩形 6"/>
          <p:cNvSpPr/>
          <p:nvPr/>
        </p:nvSpPr>
        <p:spPr>
          <a:xfrm>
            <a:off x="1517459" y="1495348"/>
            <a:ext cx="1918982" cy="556820"/>
          </a:xfrm>
          <a:prstGeom prst="wedgeRoundRectCallout">
            <a:avLst>
              <a:gd name="adj1" fmla="val -13947"/>
              <a:gd name="adj2" fmla="val 999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每次循环，都会检查条件是否为真</a:t>
            </a:r>
          </a:p>
        </p:txBody>
      </p:sp>
      <p:sp>
        <p:nvSpPr>
          <p:cNvPr id="8" name="对话气泡: 圆角矩形 7"/>
          <p:cNvSpPr/>
          <p:nvPr/>
        </p:nvSpPr>
        <p:spPr>
          <a:xfrm>
            <a:off x="1693628" y="3473217"/>
            <a:ext cx="2003975" cy="556820"/>
          </a:xfrm>
          <a:prstGeom prst="wedgeRoundRectCallout">
            <a:avLst>
              <a:gd name="adj1" fmla="val -25189"/>
              <a:gd name="adj2" fmla="val -1046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当条件为真时执行语句</a:t>
            </a:r>
          </a:p>
        </p:txBody>
      </p:sp>
      <p:grpSp>
        <p:nvGrpSpPr>
          <p:cNvPr id="5" name="Group 9"/>
          <p:cNvGrpSpPr/>
          <p:nvPr/>
        </p:nvGrpSpPr>
        <p:grpSpPr bwMode="auto">
          <a:xfrm>
            <a:off x="5839886" y="1773757"/>
            <a:ext cx="1744266" cy="2235994"/>
            <a:chOff x="0" y="0"/>
            <a:chExt cx="1465" cy="1878"/>
          </a:xfrm>
        </p:grpSpPr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710" y="0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 useBgFill="1">
          <p:nvSpPr>
            <p:cNvPr id="11" name="AutoShape 13"/>
            <p:cNvSpPr>
              <a:spLocks noChangeArrowheads="1"/>
            </p:cNvSpPr>
            <p:nvPr/>
          </p:nvSpPr>
          <p:spPr bwMode="auto">
            <a:xfrm>
              <a:off x="204" y="304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900" b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循环条件</a:t>
              </a: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710" y="605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 useBgFill="1"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384" y="909"/>
              <a:ext cx="649" cy="193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zh-CN" altLang="en-US" sz="900" b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循环体代码</a:t>
              </a: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710" y="1134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H="1">
              <a:off x="0" y="1289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 flipV="1">
              <a:off x="0" y="134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0" y="13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1189" y="444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1465" y="444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H="1">
              <a:off x="710" y="1445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710" y="1445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1123" y="184"/>
              <a:ext cx="31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假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710" y="595"/>
              <a:ext cx="276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</a:t>
              </a:r>
            </a:p>
          </p:txBody>
        </p:sp>
      </p:grpSp>
      <p:sp>
        <p:nvSpPr>
          <p:cNvPr id="24" name="箭头: 右 23"/>
          <p:cNvSpPr/>
          <p:nvPr/>
        </p:nvSpPr>
        <p:spPr>
          <a:xfrm>
            <a:off x="4134824" y="2426526"/>
            <a:ext cx="1376448" cy="5033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94334" y="2299568"/>
            <a:ext cx="104902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对应流程图</a:t>
            </a: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spc="0" dirty="0">
                <a:solidFill>
                  <a:srgbClr val="003CA6"/>
                </a:solidFill>
                <a:cs typeface="微软雅黑" panose="020B0503020204020204" charset="-122"/>
              </a:rPr>
              <a:t>while </a:t>
            </a:r>
            <a:r>
              <a:rPr lang="zh-CN" altLang="en-US" sz="2400" b="1" spc="0" dirty="0">
                <a:solidFill>
                  <a:srgbClr val="003CA6"/>
                </a:solidFill>
                <a:cs typeface="微软雅黑" panose="020B0503020204020204" charset="-122"/>
              </a:rPr>
              <a:t>循环的格式和执行顺序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24" grpId="0" bldLvl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>
            <p:custDataLst>
              <p:tags r:id="rId2"/>
            </p:custDataLst>
          </p:nvPr>
        </p:nvSpPr>
        <p:spPr>
          <a:xfrm>
            <a:off x="334645" y="436880"/>
            <a:ext cx="8455025" cy="375920"/>
          </a:xfrm>
          <a:prstGeom prst="rect">
            <a:avLst/>
          </a:prstGeom>
        </p:spPr>
        <p:txBody>
          <a:bodyPr lIns="51433" tIns="25716" rIns="51433" bIns="25716"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while 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的格式和执行顺序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7720" y="1049020"/>
            <a:ext cx="40627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35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spcAft>
                <a:spcPts val="1200"/>
              </a:spcAft>
              <a:buFont typeface="微软雅黑" panose="020B0503020204020204" charset="-122"/>
              <a:buChar char="•"/>
            </a:pPr>
            <a:r>
              <a:rPr lang="en-US" altLang="zh-CN" sz="13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… while</a:t>
            </a:r>
            <a:r>
              <a:rPr lang="zh-CN" altLang="en-US" sz="13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先执行循环体再判断条件表达式；</a:t>
            </a:r>
          </a:p>
        </p:txBody>
      </p:sp>
      <p:grpSp>
        <p:nvGrpSpPr>
          <p:cNvPr id="28" name="Group 30"/>
          <p:cNvGrpSpPr/>
          <p:nvPr/>
        </p:nvGrpSpPr>
        <p:grpSpPr bwMode="auto">
          <a:xfrm>
            <a:off x="4759259" y="2288108"/>
            <a:ext cx="1676400" cy="1764506"/>
            <a:chOff x="0" y="0"/>
            <a:chExt cx="1408" cy="1482"/>
          </a:xfrm>
        </p:grpSpPr>
        <p:sp>
          <p:nvSpPr>
            <p:cNvPr id="29" name="Line 33"/>
            <p:cNvSpPr>
              <a:spLocks noChangeShapeType="1"/>
            </p:cNvSpPr>
            <p:nvPr/>
          </p:nvSpPr>
          <p:spPr bwMode="auto">
            <a:xfrm>
              <a:off x="912" y="1082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>
              <a:off x="922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 useBgFill="1">
          <p:nvSpPr>
            <p:cNvPr id="31" name="Text Box 35"/>
            <p:cNvSpPr txBox="1">
              <a:spLocks noChangeArrowheads="1"/>
            </p:cNvSpPr>
            <p:nvPr/>
          </p:nvSpPr>
          <p:spPr bwMode="auto">
            <a:xfrm>
              <a:off x="634" y="281"/>
              <a:ext cx="649" cy="270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</a:t>
              </a:r>
            </a:p>
          </p:txBody>
        </p:sp>
        <p:sp>
          <p:nvSpPr>
            <p:cNvPr id="32" name="Line 36"/>
            <p:cNvSpPr>
              <a:spLocks noChangeShapeType="1"/>
            </p:cNvSpPr>
            <p:nvPr/>
          </p:nvSpPr>
          <p:spPr bwMode="auto">
            <a:xfrm>
              <a:off x="922" y="55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 useBgFill="1">
          <p:nvSpPr>
            <p:cNvPr id="33" name="AutoShape 37"/>
            <p:cNvSpPr>
              <a:spLocks noChangeArrowheads="1"/>
            </p:cNvSpPr>
            <p:nvPr/>
          </p:nvSpPr>
          <p:spPr bwMode="auto">
            <a:xfrm>
              <a:off x="423" y="781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</a:t>
              </a: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912" y="1071"/>
              <a:ext cx="276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假</a:t>
              </a:r>
            </a:p>
          </p:txBody>
        </p:sp>
        <p:sp>
          <p:nvSpPr>
            <p:cNvPr id="35" name="Text Box 39"/>
            <p:cNvSpPr txBox="1">
              <a:spLocks noChangeArrowheads="1"/>
            </p:cNvSpPr>
            <p:nvPr/>
          </p:nvSpPr>
          <p:spPr bwMode="auto">
            <a:xfrm>
              <a:off x="156" y="676"/>
              <a:ext cx="314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1pPr>
              <a:lvl2pPr marL="742950" indent="-28575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2pPr>
              <a:lvl3pPr marL="11430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3pPr>
              <a:lvl4pPr marL="16002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4pPr>
              <a:lvl5pPr marL="2057400" indent="-228600"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500" b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</a:t>
              </a:r>
            </a:p>
          </p:txBody>
        </p:sp>
        <p:sp>
          <p:nvSpPr>
            <p:cNvPr id="36" name="Line 40"/>
            <p:cNvSpPr>
              <a:spLocks noChangeShapeType="1"/>
            </p:cNvSpPr>
            <p:nvPr/>
          </p:nvSpPr>
          <p:spPr bwMode="auto">
            <a:xfrm flipH="1">
              <a:off x="0" y="937"/>
              <a:ext cx="4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 flipV="1">
              <a:off x="0" y="148"/>
              <a:ext cx="0" cy="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  <p:sp>
          <p:nvSpPr>
            <p:cNvPr id="38" name="Line 42"/>
            <p:cNvSpPr>
              <a:spLocks noChangeShapeType="1"/>
            </p:cNvSpPr>
            <p:nvPr/>
          </p:nvSpPr>
          <p:spPr bwMode="auto">
            <a:xfrm>
              <a:off x="0" y="148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cs typeface="微软雅黑" panose="020B0503020204020204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058557" y="4332761"/>
            <a:ext cx="1547666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while </a:t>
            </a:r>
            <a:r>
              <a:rPr lang="zh-CN" altLang="en-US" sz="10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3920" y="2424430"/>
            <a:ext cx="2216785" cy="1383665"/>
          </a:xfrm>
          <a:prstGeom prst="rect">
            <a:avLst/>
          </a:prstGeom>
          <a:noFill/>
          <a:ln>
            <a:solidFill>
              <a:srgbClr val="003CA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3CA6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400" b="1" dirty="0">
                <a:solidFill>
                  <a:srgbClr val="AF00DB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do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{</a:t>
            </a:r>
            <a:b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</a:b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          </a:t>
            </a:r>
            <a:b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</a:b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        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循环体语句；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         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          </a:t>
            </a:r>
            <a:b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</a:b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    }</a:t>
            </a:r>
            <a:r>
              <a:rPr lang="en-US" altLang="zh-CN" sz="1400" b="1" dirty="0">
                <a:solidFill>
                  <a:srgbClr val="AF00DB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循环条件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);</a:t>
            </a:r>
            <a:br>
              <a:rPr lang="en-US" altLang="zh-CN" sz="1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+mn-ea"/>
              </a:rPr>
            </a:br>
            <a:endParaRPr lang="en-US" altLang="zh-CN" sz="1400" b="1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9" grpId="0"/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作业检查</a:t>
            </a:r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82925" y="2130425"/>
            <a:ext cx="3088640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latinLnBrk="1">
              <a:lnSpc>
                <a:spcPct val="200000"/>
              </a:lnSpc>
              <a:buFont typeface="+mj-lt"/>
              <a:buNone/>
            </a:pPr>
            <a:r>
              <a:rPr lang="zh-CN" altLang="en-US" sz="28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作业检查</a:t>
            </a:r>
            <a:r>
              <a:rPr lang="en-US" altLang="zh-CN" sz="28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 lang="zh-CN" altLang="en-US" sz="28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43" y="2138092"/>
            <a:ext cx="6582334" cy="8337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1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/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for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循环的基本语法和应用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循环引入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8110" y="3276770"/>
            <a:ext cx="81402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</a:t>
            </a: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循环：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一种更加紧凑且常用的循环结构，特别适用于已知循环次数的情况。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92730" y="1902460"/>
            <a:ext cx="3329940" cy="11684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 &lt;=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i++) {</a:t>
            </a:r>
            <a:b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altLang="zh-CN" sz="14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%d\n</a:t>
            </a:r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", i);</a:t>
            </a:r>
            <a:b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altLang="zh-CN" sz="1400" b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79040" y="1174115"/>
            <a:ext cx="1513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循环变量初始化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992880" y="117411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循环条件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081905" y="1174115"/>
            <a:ext cx="1981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循环变量的递进方式</a:t>
            </a:r>
          </a:p>
        </p:txBody>
      </p:sp>
      <p:cxnSp>
        <p:nvCxnSpPr>
          <p:cNvPr id="15" name="直接箭头连接符 14"/>
          <p:cNvCxnSpPr>
            <a:stCxn id="12" idx="2"/>
          </p:cNvCxnSpPr>
          <p:nvPr/>
        </p:nvCxnSpPr>
        <p:spPr>
          <a:xfrm>
            <a:off x="3235960" y="1480820"/>
            <a:ext cx="552450" cy="4603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3" idx="2"/>
          </p:cNvCxnSpPr>
          <p:nvPr/>
        </p:nvCxnSpPr>
        <p:spPr>
          <a:xfrm>
            <a:off x="4448175" y="1480820"/>
            <a:ext cx="377190" cy="4546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4" idx="2"/>
          </p:cNvCxnSpPr>
          <p:nvPr/>
        </p:nvCxnSpPr>
        <p:spPr>
          <a:xfrm flipH="1">
            <a:off x="5598795" y="1480820"/>
            <a:ext cx="473710" cy="4603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5157" y="919067"/>
            <a:ext cx="7317802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计算从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1+2+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的值</a:t>
            </a:r>
          </a:p>
        </p:txBody>
      </p:sp>
      <p:sp>
        <p:nvSpPr>
          <p:cNvPr id="8" name="箭头: 左右 5"/>
          <p:cNvSpPr/>
          <p:nvPr/>
        </p:nvSpPr>
        <p:spPr>
          <a:xfrm>
            <a:off x="3652909" y="2813936"/>
            <a:ext cx="721519" cy="374718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en-US" altLang="zh-CN" sz="2400" b="1" spc="0" dirty="0">
              <a:solidFill>
                <a:srgbClr val="003CA6"/>
              </a:solidFill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5157" y="1778157"/>
            <a:ext cx="3057338" cy="24612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re</a:t>
            </a:r>
            <a:r>
              <a:rPr lang="en-US" altLang="zh-C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r>
              <a:rPr lang="en-US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zh-CN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altLang="zh-C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2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  <a:r>
              <a:rPr lang="en-US" altLang="zh-C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zh-CN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20440" y="1985632"/>
            <a:ext cx="4128403" cy="20300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81057" y="2822674"/>
            <a:ext cx="7317802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：如果计算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50+51+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的值，怎么修改？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81057" y="3197392"/>
            <a:ext cx="7317802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：如果计算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50+51+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的值，怎么修改？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81057" y="3572110"/>
            <a:ext cx="7317802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：如果计算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50+52+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54+ …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的值，怎么修改？</a:t>
            </a: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en-US" altLang="zh-CN" sz="2400" b="1" spc="0" dirty="0">
              <a:solidFill>
                <a:srgbClr val="003CA6"/>
              </a:solidFill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81057" y="1507766"/>
            <a:ext cx="4128403" cy="73723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0093" y="1256006"/>
            <a:ext cx="6393656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微软雅黑" panose="020B0503020204020204" charset="-122"/>
              <a:buChar char="•"/>
            </a:pP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循环的基本形式：</a:t>
            </a:r>
            <a:endParaRPr lang="en-US" altLang="zh-CN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350" dirty="0">
                <a:cs typeface="微软雅黑" panose="020B0503020204020204" charset="-122"/>
              </a:rPr>
              <a:t>	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(  初始化循环变量；     条件表达式；     循环变量增量) </a:t>
            </a:r>
            <a:endParaRPr lang="en-US" altLang="zh-CN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 </a:t>
            </a:r>
            <a:endParaRPr lang="en-US" altLang="zh-CN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循环体代码 </a:t>
            </a:r>
            <a:endParaRPr lang="en-US" altLang="zh-CN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</a:p>
        </p:txBody>
      </p:sp>
      <p:sp>
        <p:nvSpPr>
          <p:cNvPr id="7" name="对话气泡: 矩形 3"/>
          <p:cNvSpPr/>
          <p:nvPr/>
        </p:nvSpPr>
        <p:spPr>
          <a:xfrm>
            <a:off x="1243330" y="726440"/>
            <a:ext cx="2218690" cy="335915"/>
          </a:xfrm>
          <a:prstGeom prst="wedgeRectCallout">
            <a:avLst>
              <a:gd name="adj1" fmla="val 27696"/>
              <a:gd name="adj2" fmla="val 1816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在循环开始前执行的代码 </a:t>
            </a:r>
          </a:p>
        </p:txBody>
      </p:sp>
      <p:sp>
        <p:nvSpPr>
          <p:cNvPr id="8" name="对话气泡: 矩形 4"/>
          <p:cNvSpPr/>
          <p:nvPr/>
        </p:nvSpPr>
        <p:spPr>
          <a:xfrm>
            <a:off x="3697605" y="726574"/>
            <a:ext cx="1900238" cy="335756"/>
          </a:xfrm>
          <a:prstGeom prst="wedgeRectCallout">
            <a:avLst>
              <a:gd name="adj1" fmla="val -24592"/>
              <a:gd name="adj2" fmla="val 1688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可以验证真假的条件</a:t>
            </a:r>
          </a:p>
        </p:txBody>
      </p:sp>
      <p:sp>
        <p:nvSpPr>
          <p:cNvPr id="10" name="对话气泡: 矩形 5"/>
          <p:cNvSpPr/>
          <p:nvPr/>
        </p:nvSpPr>
        <p:spPr>
          <a:xfrm>
            <a:off x="5056663" y="2110239"/>
            <a:ext cx="3264694" cy="335756"/>
          </a:xfrm>
          <a:prstGeom prst="wedgeRectCallout">
            <a:avLst>
              <a:gd name="adj1" fmla="val -37283"/>
              <a:gd name="adj2" fmla="val -821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每次执行完循环体要执行的代码</a:t>
            </a:r>
          </a:p>
        </p:txBody>
      </p:sp>
      <p:sp>
        <p:nvSpPr>
          <p:cNvPr id="11" name="对话气泡: 矩形 6"/>
          <p:cNvSpPr/>
          <p:nvPr/>
        </p:nvSpPr>
        <p:spPr>
          <a:xfrm>
            <a:off x="2536031" y="2492263"/>
            <a:ext cx="2064544" cy="335756"/>
          </a:xfrm>
          <a:prstGeom prst="wedgeRectCallout">
            <a:avLst>
              <a:gd name="adj1" fmla="val -42972"/>
              <a:gd name="adj2" fmla="val -800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只要条件为真就执行</a:t>
            </a:r>
          </a:p>
        </p:txBody>
      </p:sp>
      <p:sp>
        <p:nvSpPr>
          <p:cNvPr id="12" name="矩形 11"/>
          <p:cNvSpPr/>
          <p:nvPr/>
        </p:nvSpPr>
        <p:spPr>
          <a:xfrm>
            <a:off x="750093" y="3011728"/>
            <a:ext cx="6393656" cy="299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微软雅黑" panose="020B0503020204020204" charset="-122"/>
              <a:buChar char="•"/>
            </a:pP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后面的括号里有</a:t>
            </a: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条语句，两个</a:t>
            </a: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zh-CN" altLang="en-US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0093" y="3494110"/>
            <a:ext cx="7415213" cy="299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微软雅黑" panose="020B0503020204020204" charset="-122"/>
              <a:buChar char="•"/>
            </a:pP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语句是 </a:t>
            </a: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/C++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语言中最为灵活，使用最广泛的循环语句，可完全替代</a:t>
            </a: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语句。</a:t>
            </a: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en-US" altLang="zh-CN" sz="2400" b="1" spc="0" dirty="0">
              <a:solidFill>
                <a:srgbClr val="003CA6"/>
              </a:solidFill>
              <a:cs typeface="微软雅黑" panose="020B0503020204020204" charset="-122"/>
            </a:endParaRPr>
          </a:p>
        </p:txBody>
      </p:sp>
      <p:sp>
        <p:nvSpPr>
          <p:cNvPr id="5" name="下弧形箭头 4"/>
          <p:cNvSpPr/>
          <p:nvPr/>
        </p:nvSpPr>
        <p:spPr>
          <a:xfrm>
            <a:off x="2996803" y="1182468"/>
            <a:ext cx="1143000" cy="522514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16" name="下箭头 15"/>
          <p:cNvSpPr/>
          <p:nvPr/>
        </p:nvSpPr>
        <p:spPr>
          <a:xfrm rot="2959555">
            <a:off x="3782613" y="1813160"/>
            <a:ext cx="192882" cy="52101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7" name="上弧形箭头 16"/>
          <p:cNvSpPr/>
          <p:nvPr/>
        </p:nvSpPr>
        <p:spPr>
          <a:xfrm>
            <a:off x="4276165" y="2611459"/>
            <a:ext cx="1559859" cy="530746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20" name="下弧形箭头 19"/>
          <p:cNvSpPr/>
          <p:nvPr/>
        </p:nvSpPr>
        <p:spPr>
          <a:xfrm flipH="1">
            <a:off x="4265432" y="1201342"/>
            <a:ext cx="1477534" cy="522514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0" grpId="0" bldLvl="0" animBg="1"/>
      <p:bldP spid="11" grpId="0" bldLvl="0" animBg="1"/>
      <p:bldP spid="12" grpId="0"/>
      <p:bldP spid="13" grpId="0"/>
      <p:bldP spid="5" grpId="0" bldLvl="0" animBg="1"/>
      <p:bldP spid="16" grpId="0" bldLvl="0" animBg="1"/>
      <p:bldP spid="16" grpId="1" bldLvl="0" animBg="1"/>
      <p:bldP spid="17" grpId="0" bldLvl="0" animBg="1"/>
      <p:bldP spid="17" grpId="1" bldLvl="0" animBg="1"/>
      <p:bldP spid="20" grpId="0" bldLvl="0" animBg="1"/>
      <p:bldP spid="20" grpId="1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的注意事项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1350" y="1556087"/>
            <a:ext cx="4128403" cy="20300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07" y="3083591"/>
            <a:ext cx="2835781" cy="29676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96388" y="2194338"/>
            <a:ext cx="33783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微软雅黑" panose="020B0503020204020204" charset="-122"/>
              <a:buChar char="•"/>
            </a:pPr>
            <a:r>
              <a:rPr lang="en-US" altLang="zh-CN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循环中定义的变量</a:t>
            </a:r>
            <a:r>
              <a:rPr lang="en-US" altLang="zh-CN" sz="135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是局部变量，只能在循环里用。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2600" y="9207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for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循环中的局部变量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的注意事项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1350" y="1556087"/>
            <a:ext cx="4128403" cy="1814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i&lt;&lt;endl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5296388" y="2194338"/>
            <a:ext cx="3378310" cy="299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微软雅黑" panose="020B0503020204020204" charset="-122"/>
              <a:buChar char="•"/>
            </a:pPr>
            <a:r>
              <a:rPr sz="13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省略条件实现无限循环</a:t>
            </a:r>
            <a:r>
              <a:rPr lang="zh-CN" altLang="en-US" sz="13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2600" y="9207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for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循环中的无限循环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的注意事项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1350" y="1556087"/>
            <a:ext cx="4128403" cy="20300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1,</a:t>
            </a:r>
            <a:r>
              <a:rPr lang="en-US" altLang="zh-C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j=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i&lt;j 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++,j--)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i&lt;&lt;’ ’&lt;&lt;j&lt;&lt;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b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0;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2600" y="920750"/>
            <a:ext cx="4902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多个循环变量控制循环语句</a:t>
            </a:r>
          </a:p>
        </p:txBody>
      </p:sp>
      <p:pic>
        <p:nvPicPr>
          <p:cNvPr id="176811427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1556385"/>
            <a:ext cx="1160145" cy="2030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常见的循环模式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903095"/>
            <a:ext cx="19170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递增循环</a:t>
            </a:r>
          </a:p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递减循环</a:t>
            </a:r>
          </a:p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次数循环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常见的循环模式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135380"/>
            <a:ext cx="19170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递增循环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0090" y="1903095"/>
            <a:ext cx="3851910" cy="1814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i&lt;=100;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i&lt;&lt;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0;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61000" y="2465070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从一个初始值开始，每次循环递增一个固定值。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常见的循环模式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135380"/>
            <a:ext cx="19170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递减循环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0090" y="1903095"/>
            <a:ext cx="3851910" cy="18148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i&gt;=1;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--)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i&lt;&lt;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0;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13400" y="2401570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从一个初始值开始，每次循环递减一个固定值。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常见的循环模式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135380"/>
            <a:ext cx="19170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次数循环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0090" y="1903095"/>
            <a:ext cx="3851910" cy="22453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&lt;iostream&gt;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n;</a:t>
            </a:r>
            <a:b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cin&gt;&gt;n;</a:t>
            </a:r>
          </a:p>
          <a:p>
            <a:pPr lvl="1"/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i&lt;=n; 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i++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lvl="2"/>
            <a:r>
              <a:rPr lang="en-US" altLang="zh-CN" sz="1400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i&lt;&lt;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0;</a:t>
            </a:r>
            <a:endParaRPr lang="en-US" altLang="zh-CN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75300" y="2656840"/>
            <a:ext cx="3048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已知循环次数，通过设置循环终止条件来控制循环的执行。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43" y="2138092"/>
            <a:ext cx="6582334" cy="8337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2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/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擂台法求最值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擂台法引入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398" r="8285" b="10199"/>
          <a:stretch>
            <a:fillRect/>
          </a:stretch>
        </p:blipFill>
        <p:spPr>
          <a:xfrm>
            <a:off x="2825750" y="1687195"/>
            <a:ext cx="4226560" cy="2487930"/>
          </a:xfrm>
          <a:prstGeom prst="rect">
            <a:avLst/>
          </a:prstGeom>
        </p:spPr>
      </p:pic>
      <p:pic>
        <p:nvPicPr>
          <p:cNvPr id="4" name="图片 3" descr="龙博士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530" y="1305560"/>
            <a:ext cx="1202055" cy="1594485"/>
          </a:xfrm>
          <a:prstGeom prst="rect">
            <a:avLst/>
          </a:prstGeom>
        </p:spPr>
      </p:pic>
      <p:pic>
        <p:nvPicPr>
          <p:cNvPr id="6" name="图片 5" descr="斯斯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990" y="2638425"/>
            <a:ext cx="1000760" cy="1465580"/>
          </a:xfrm>
          <a:prstGeom prst="rect">
            <a:avLst/>
          </a:prstGeom>
        </p:spPr>
      </p:pic>
      <p:pic>
        <p:nvPicPr>
          <p:cNvPr id="7" name="图片 6" descr="小白-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915" y="2607310"/>
            <a:ext cx="1158875" cy="1263650"/>
          </a:xfrm>
          <a:prstGeom prst="rect">
            <a:avLst/>
          </a:prstGeom>
        </p:spPr>
      </p:pic>
      <p:pic>
        <p:nvPicPr>
          <p:cNvPr id="8" name="图片 7" descr="Dr_Robin-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355" y="2638425"/>
            <a:ext cx="846455" cy="1536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16500" y="1060450"/>
            <a:ext cx="44704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97530" y="2393315"/>
            <a:ext cx="3784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666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54555" y="2393315"/>
            <a:ext cx="424815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24915" y="2393315"/>
            <a:ext cx="60071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10000+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7875" y="1091565"/>
            <a:ext cx="9118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战斗力：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擂台法引入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398" r="8285" b="10199"/>
          <a:stretch>
            <a:fillRect/>
          </a:stretch>
        </p:blipFill>
        <p:spPr>
          <a:xfrm>
            <a:off x="2825750" y="1687195"/>
            <a:ext cx="4226560" cy="2487930"/>
          </a:xfrm>
          <a:prstGeom prst="rect">
            <a:avLst/>
          </a:prstGeom>
        </p:spPr>
      </p:pic>
      <p:pic>
        <p:nvPicPr>
          <p:cNvPr id="4" name="图片 3" descr="龙博士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530" y="1305560"/>
            <a:ext cx="1202055" cy="1594485"/>
          </a:xfrm>
          <a:prstGeom prst="rect">
            <a:avLst/>
          </a:prstGeom>
        </p:spPr>
      </p:pic>
      <p:pic>
        <p:nvPicPr>
          <p:cNvPr id="6" name="图片 5" descr="斯斯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990" y="2638425"/>
            <a:ext cx="1000760" cy="1465580"/>
          </a:xfrm>
          <a:prstGeom prst="rect">
            <a:avLst/>
          </a:prstGeom>
        </p:spPr>
      </p:pic>
      <p:pic>
        <p:nvPicPr>
          <p:cNvPr id="7" name="图片 6" descr="小白-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915" y="2607310"/>
            <a:ext cx="1158875" cy="1263650"/>
          </a:xfrm>
          <a:prstGeom prst="rect">
            <a:avLst/>
          </a:prstGeom>
        </p:spPr>
      </p:pic>
      <p:pic>
        <p:nvPicPr>
          <p:cNvPr id="8" name="图片 7" descr="Dr_Robin-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355" y="2638425"/>
            <a:ext cx="846455" cy="1536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16500" y="1060450"/>
            <a:ext cx="44704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097530" y="2393315"/>
            <a:ext cx="3784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666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54555" y="2393315"/>
            <a:ext cx="424815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24915" y="2393315"/>
            <a:ext cx="60071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10000+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7875" y="1091565"/>
            <a:ext cx="9118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战斗力：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1667 0.0138272 L 0.00847222 0.0302469 L 0.0123611 0.0439506 L 0.0161806 0.0590123 L 0.0238889 0.07 L 0.0323611 0.072716 L 0.0401389 0.072716 L 0.0486111 0.0645679 L 0.0563194 0.0562963 L 0.0640278 0.0453086 L 0.0694444 0.0316049 L 0.0740278 0.0179012 L 0.0748611 0.00419753 L 0.0771528 -0.00950617 L 0.0794444 -0.0274074 L 0.0802083 -0.0411111 L 0.0825694 -0.0561728 L 0.0840972 -0.0698765 L 0.085625 -0.0835802 L 0.08875 -0.0972839 L 0.0902778 -0.111111 L 0.0918056 -0.124815 L 0.0918056 -0.138519 L 0.0918056 -0.152222 L 0.0918056 -0.165926 L 0.0940972 -0.17963 L 0.0972222 -0.193333 L 0.101042 -0.207037 L 0.10875 -0.208395 L 0.116528 -0.202963 L 0.124236 -0.193333 L 0.129583 -0.17963 L 0.134236 -0.164568 L 0.138125 -0.150864 L 0.140417 -0.13716 L 0.142708 -0.121975 L 0.145833 -0.108272 L 0.148889 -0.0945679 L 0.153542 -0.0795062 L 0.16125 -0.0658025 L 0.169722 -0.0575309 L 0.178194 -0.0493827 L 0.185972 -0.0438272 L 0.193681 -0.0383951 L 0.202153 -0.0341975 L 0.210625 -0.0287654 L 0.218333 -0.0260494 L 0.227639 -0.0204938 L 0.235347 -0.0150617 L 0.243056 -0.00950617 L 0.250764 -0.0054321 L 0.258472 0.00283951 L 0.266181 0.0109877 L 0.273889 0.0179012 L 0.281597 0.0275309 L 0.290903 0.0425926 L 0.298611 0.0535803 L 0.306319 0.0645679 L 0.315556 0.0782716 L 0.323264 0.0879012 L 0.332569 0.0987654 L 0.341042 0.107037 L 0.350278 0.111111 L 0.357986 0.115309 L 0.367292 0.116667 L 0.375 0.118025 L 0.383472 0.118025 L 0.391944 0.118025 L 0.399653 0.118025 L 0.408194 0.118025 L 0.415903 0.113951 L 0.423611 0.102963 L 0.429028 0.0879012 L 0.432083 0.0740741 L 0.433611 0.0603704 L 0.436736 0.0453086 L 0.438264 0.0302469 L 0.439792 0.0138272 L 0.441319 0 L 0.442083 -0.0137037 L 0.442083 -0.0301235 L 0.440556 -0.0451852 L 0.4375 -0.0602469 L 0.434375 -0.0754321 L 0.429792 -0.0918519 L 0.425903 -0.105556 L 0.422847 -0.120617 L 0.418194 -0.134321 L 0.413542 -0.148148 L 0.407361 -0.161852 L 0.399653 -0.174198 L 0.391181 -0.185185 L 0.383472 -0.196049 L 0.375 -0.212593 L 0.368819 -0.229012 L 0.363403 -0.242716 L 0.357222 -0.25642 L 0.352639 -0.270123 L 0.349514 -0.283951 " pathEditMode="relative" ptsTypes="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1667 0.0138272 L 0.00847222 0.0302469 L 0.0123611 0.0439506 L 0.0161806 0.0590123 L 0.0238889 0.07 L 0.0323611 0.072716 L 0.0401389 0.072716 L 0.0486111 0.0645679 L 0.0563194 0.0562963 L 0.0640278 0.0453086 L 0.0694444 0.0316049 L 0.0740278 0.0179012 L 0.0748611 0.00419753 L 0.0771528 -0.00950617 L 0.0794444 -0.0274074 L 0.0802083 -0.0411111 L 0.0825694 -0.0561728 L 0.0840972 -0.0698765 L 0.085625 -0.0835802 L 0.08875 -0.0972839 L 0.0902778 -0.111111 L 0.0918056 -0.124815 L 0.0918056 -0.138519 L 0.0918056 -0.152222 L 0.0918056 -0.165926 L 0.0940972 -0.17963 L 0.0972222 -0.193333 L 0.101042 -0.207037 L 0.10875 -0.208395 L 0.116528 -0.202963 L 0.124236 -0.193333 L 0.129583 -0.17963 L 0.134236 -0.164568 L 0.138125 -0.150864 L 0.140417 -0.13716 L 0.142708 -0.121975 L 0.145833 -0.108272 L 0.148889 -0.0945679 L 0.153542 -0.0795062 L 0.16125 -0.0658025 L 0.169722 -0.0575309 L 0.178194 -0.0493827 L 0.185972 -0.0438272 L 0.193681 -0.0383951 L 0.202153 -0.0341975 L 0.210625 -0.0287654 L 0.218333 -0.0260494 L 0.227639 -0.0204938 L 0.235347 -0.0150617 L 0.243056 -0.00950617 L 0.250764 -0.0054321 L 0.258472 0.00283951 L 0.266181 0.0109877 L 0.273889 0.0179012 L 0.281597 0.0275309 L 0.290903 0.0425926 L 0.298611 0.0535803 L 0.306319 0.0645679 L 0.315556 0.0782716 L 0.323264 0.0879012 L 0.332569 0.0987654 L 0.341042 0.107037 L 0.350278 0.111111 L 0.357986 0.115309 L 0.367292 0.116667 L 0.375 0.118025 L 0.383472 0.118025 L 0.391944 0.118025 L 0.399653 0.118025 L 0.408194 0.118025 L 0.415903 0.113951 L 0.423611 0.102963 L 0.429028 0.0879012 L 0.432083 0.0740741 L 0.433611 0.0603704 L 0.436736 0.0453086 L 0.438264 0.0302469 L 0.439792 0.0138272 L 0.441319 0 L 0.442083 -0.0137037 L 0.442083 -0.0301235 L 0.440556 -0.0451852 L 0.4375 -0.0602469 L 0.434375 -0.0754321 L 0.429792 -0.0918519 L 0.425903 -0.105556 L 0.422847 -0.120617 L 0.418194 -0.134321 L 0.413542 -0.148148 L 0.407361 -0.161852 L 0.399653 -0.174198 L 0.391181 -0.185185 L 0.383472 -0.196049 L 0.375 -0.212593 L 0.368819 -0.229012 L 0.363403 -0.242716 L 0.357222 -0.25642 L 0.352639 -0.270123 L 0.349514 -0.283951 " pathEditMode="relative" ptsTypes="">
                                      <p:cBhvr>
                                        <p:cTn id="8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38272 L 0.00152778 0.0275309 L 0.00152778 0.0439506 L 0.00305556 0.0590123 L 0.00381944 0.072716 L 0.00618056 0.0864198 L 0.00847222 0.101605 L 0.0107639 0.115309 L 0.0161806 0.129012 L 0.0246528 0.14 L 0.0324306 0.145432 L 0.0401389 0.14963 L 0.0486111 0.150988 L 0.0563194 0.150988 L 0.0647917 0.150988 L 0.0725 0.14679 L 0.0802083 0.134444 L 0.0879861 0.123457 L 0.0956944 0.108395 L 0.104931 0.0919753 L 0.111111 0.0782716 L 0.118819 0.0659259 L 0.125 0.0522222 L 0.131944 0.0385185 L 0.139653 0.0246914 L 0.145833 0.0082716 L 0.150486 -0.0054321 L 0.155069 -0.0191358 L 0.158194 -0.0328395 L 0.16125 -0.0465432 L 0.165903 -0.0602469 L 0.171319 -0.0740741 L 0.175903 -0.0877778 L 0.180556 -0.101481 L 0.185208 -0.115185 L 0.189028 -0.128889 L 0.192153 -0.142593 L 0.195972 -0.156296 L 0.199861 -0.17 L 0.204444 -0.183704 L 0.209097 -0.197531 L 0.212986 -0.211235 L 0.215278 -0.224938 L 0.217569 -0.238642 L 0.222222 -0.252346 L 0.229931 -0.248272 L 0.237639 -0.237284 L 0.239931 -0.222222 L 0.239931 -0.208395 L 0.241528 -0.194691 L 0.241528 -0.180988 L 0.240764 -0.167284 L 0.239167 -0.15358 L 0.238403 -0.139877 L 0.238403 -0.126173 L 0.241528 -0.112469 L 0.25 -0.0987654 L 0.258472 -0.0945679 L 0.266181 -0.0904938 L 0.273889 -0.0864198 L 0.281597 -0.0835802 L 0.290139 -0.0808642 L 0.299375 -0.0795062 L 0.307083 -0.0767901 L 0.315556 -0.0740741 L 0.323264 -0.0712346 L 0.331806 -0.0712346 L 0.340278 -0.0698765 L 0.347986 -0.0671605 L 0.357222 -0.0658025 L 0.365764 -0.0630864 L 0.374236 -0.0630864 L 0.381944 -0.0617284 L 0.389653 -0.0575309 L 0.397361 -0.0493827 L 0.405069 -0.0438272 L 0.412778 -0.037037 L 0.422083 -0.0274074 L 0.429792 -0.0150617 L 0.439028 0.00283951 L 0.444444 0.0165432 L 0.451389 0.0302469 L 0.459097 0.0425926 L 0.469097 0.0562963 L 0.477639 0.0659259 L 0.486875 0.072716 L 0.496111 0.072716 L 0.506944 0.0755556 L 0.515417 0.0755556 L 0.523125 0.0755556 L 0.533958 0.0755556 L 0.542431 0.0755556 L 0.550139 0.0740741 L 0.558611 0.071358 L 0.568681 0.0645679 L 0.577917 0.0576543 L 0.585625 0.0522222 L 0.594931 0.035679 L 0.597222 0.0219753 L 0.597986 0.00691358 L 0.600278 -0.00679012 L 0.601042 -0.0204938 L 0.601875 -0.0341975 L 0.601875 -0.0479012 L 0.599514 -0.0658025 L 0.597222 -0.0795062 L 0.596458 -0.0972839 L 0.594097 -0.112469 L 0.592569 -0.126173 L 0.591806 -0.141235 L 0.591042 -0.156296 L 0.590278 -0.17 L 0.589514 -0.183704 L 0.587153 -0.198889 L 0.586389 -0.213951 L 0.583333 -0.229012 L 0.581042 -0.246914 L 0.577153 -0.260617 L 0.5725 -0.275679 L 0.568681 -0.289383 L 0.5625 -0.303086 L 0.554792 -0.314074 L 0.550903 -0.327778 " pathEditMode="relative" ptsTypes="">
                                      <p:cBhvr>
                                        <p:cTn id="1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63889 0.0109877 L 0.000763889 0.0248149 L 0.00229167 0.0385186 L 0.00229167 0.0549383 L 0.00381945 0.07 L 0.00458333 0.0837037 L 0.00694445 0.0974074 L 0.00923611 0.112593 L 0.0115278 0.126297 L 0.0169445 0.14 L 0.0254167 0.150988 L 0.0331945 0.15642 L 0.0409028 0.160618 L 0.049375 0.161976 L 0.0570833 0.161976 L 0.0655556 0.161976 L 0.0732639 0.157778 L 0.0809722 0.145432 L 0.08875 0.134445 L 0.0964583 0.119383 L 0.105695 0.102963 L 0.111875 0.0892593 L 0.119583 0.0769136 L 0.125764 0.0632099 L 0.132708 0.0495062 L 0.140417 0.0356791 L 0.146597 0.0192593 L 0.15125 0.00555555 L 0.155833 -0.00814814 L 0.158958 -0.0218518 L 0.162014 -0.0355555 L 0.166667 -0.0492592 L 0.172083 -0.0630864 L 0.176667 -0.0767901 L 0.18132 -0.0904933 L 0.185972 -0.104197 L 0.189792 -0.117901 L 0.192917 -0.131605 L 0.196736 -0.145308 L 0.200625 -0.159012 L 0.205208 -0.172716 L 0.209861 -0.186543 L 0.21375 -0.200247 L 0.216042 -0.21395 L 0.218333 -0.227654 L 0.222986 -0.241358 L 0.230695 -0.237284 L 0.238403 -0.226296 L 0.240695 -0.211234 L 0.240695 -0.197407 L 0.242292 -0.183703 L 0.242292 -0.17 L 0.241528 -0.156296 L 0.239931 -0.142592 L 0.239167 -0.128889 L 0.239167 -0.115185 L 0.242292 -0.101481 L 0.250764 -0.0877777 L 0.259236 -0.0835802 L 0.266945 -0.0795061 L 0.274653 -0.0754321 L 0.282361 -0.0725926 L 0.290903 -0.0698766 L 0.300139 -0.0685185 L 0.307847 -0.0658024 L 0.31632 -0.0630864 L 0.324028 -0.0602469 L 0.33257 -0.0602469 L 0.341042 -0.0588888 L 0.34875 -0.0561728 L 0.357986 -0.0548148 L 0.366528 -0.0520987 L 0.375 -0.0520987 L 0.382708 -0.0507407 L 0.390417 -0.0465432 L 0.398125 -0.038395 L 0.405833 -0.0328395 L 0.413542 -0.0260493 L 0.422847 -0.0164197 L 0.430556 -0.00407405 L 0.439792 0.0138272 L 0.445208 0.0275309 L 0.452153 0.0412346 L 0.459861 0.0535803 L 0.469861 0.067284 L 0.478403 0.0769136 L 0.487639 0.0837037 L 0.496875 0.0837037 L 0.507708 0.0865433 L 0.516181 0.0865433 L 0.523889 0.0865433 L 0.534722 0.0865433 L 0.543195 0.0865433 L 0.550903 0.0850618 L 0.559375 0.0823456 L 0.569445 0.0755556 L 0.578681 0.068642 L 0.586389 0.0632099 L 0.595695 0.0466666 L 0.597986 0.032963 L 0.59875 0.0179012 L 0.601042 0.00419753 L 0.601806 -0.00950615 L 0.602639 -0.0232098 L 0.602639 -0.0369136 L 0.600278 -0.0548148 L 0.597986 -0.0685185 L 0.597222 -0.0862962 L 0.594861 -0.101481 L 0.593333 -0.115185 L 0.59257 -0.130247 L 0.591806 -0.145308 L 0.591042 -0.159012 L 0.590278 -0.172716 L 0.587917 -0.187901 L 0.587153 -0.202963 L 0.584097 -0.218024 L 0.581806 -0.235926 L 0.577917 -0.249629 L 0.573264 -0.264691 L 0.569445 -0.278395 L 0.563264 -0.292098 L 0.555556 -0.303086 L 0.551667 -0.31679 " pathEditMode="relative" rAng="0" ptsTypes="">
                                      <p:cBhvr>
                                        <p:cTn id="14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00" y="-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50617 L 0.000763889 0.0301235 L 0.00229167 0.0438272 L 0.00305556 0.0588889 L 0.00305556 0.0740741 L 0.00388889 0.0945679 L 0.00388889 0.109753 L 0.00541667 0.130247 L 0.00618056 0.148148 L 0.00618056 0.16321 L 0.00694444 0.17963 L 0.00694444 0.194691 L 0.0115972 0.208519 L 0.0169444 0.222222 L 0.0254861 0.231728 L 0.0339583 0.235926 L 0.0424306 0.235926 L 0.0509028 0.235926 L 0.0594444 0.235926 L 0.0733333 0.229012 L 0.0825694 0.224938 L 0.0918056 0.220864 L 0.100278 0.218025 L 0.111111 0.212593 L 0.120347 0.207037 L 0.128056 0.201605 L 0.137361 0.193333 L 0.145069 0.187901 L 0.152778 0.176914 L 0.160486 0.167284 L 0.168958 0.15358 L 0.176667 0.139877 L 0.184444 0.128889 L 0.192917 0.117901 L 0.202917 0.106914 L 0.212986 0.0918519 L 0.219931 0.0781481 L 0.228403 0.0658025 L 0.233819 0.0520988 L 0.238403 0.0383951 L 0.242292 0.0233333 L 0.248472 0.00814815 L 0.253889 -0.00691358 L 0.259236 -0.0233333 L 0.264653 -0.037037 L 0.270069 -0.0507407 L 0.274722 -0.067284 L 0.279306 -0.0809877 L 0.285486 -0.0960494 L 0.292431 -0.109753 L 0.297083 -0.123457 L 0.3025 -0.13716 L 0.303264 -0.150988 L 0.303264 -0.164691 L 0.304792 -0.178395 L 0.307083 -0.192099 L 0.308611 -0.205802 " pathEditMode="relative" ptsTypes="">
                                      <p:cBhvr>
                                        <p:cTn id="1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50617 L 0.000763889 0.0301235 L 0.00229167 0.0438272 L 0.00305556 0.0588889 L 0.00305556 0.0740741 L 0.00388889 0.0945679 L 0.00388889 0.109753 L 0.00541667 0.130247 L 0.00618056 0.148148 L 0.00618056 0.16321 L 0.00694444 0.17963 L 0.00694444 0.194691 L 0.0115972 0.208519 L 0.0169444 0.222222 L 0.0254861 0.231728 L 0.0339583 0.235926 L 0.0424306 0.235926 L 0.0509028 0.235926 L 0.0594444 0.235926 L 0.0733333 0.229012 L 0.0825694 0.224938 L 0.0918056 0.220864 L 0.100278 0.218025 L 0.111111 0.212593 L 0.120347 0.207037 L 0.128056 0.201605 L 0.137361 0.193333 L 0.145069 0.187901 L 0.152778 0.176914 L 0.160486 0.167284 L 0.168958 0.15358 L 0.176667 0.139877 L 0.184444 0.128889 L 0.192917 0.117901 L 0.202917 0.106914 L 0.212986 0.0918519 L 0.219931 0.0781481 L 0.228403 0.0658025 L 0.233819 0.0520988 L 0.238403 0.0383951 L 0.242292 0.0233333 L 0.248472 0.00814815 L 0.253889 -0.00691358 L 0.259236 -0.0233333 L 0.264653 -0.037037 L 0.270069 -0.0507407 L 0.274722 -0.067284 L 0.279306 -0.0809877 L 0.285486 -0.0960494 L 0.292431 -0.109753 L 0.297083 -0.123457 L 0.3025 -0.13716 L 0.303264 -0.150988 L 0.303264 -0.164691 L 0.304792 -0.178395 L 0.307083 -0.192099 L 0.308611 -0.205802 " pathEditMode="relative" ptsTypes="">
                                      <p:cBhvr>
                                        <p:cTn id="20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37037 L 0.00236111 0.0287654 L 0.00465278 0.0424691 L 0.00541667 0.0576543 L 0.00694444 0.072716 L 0.00854167 0.0877778 L 0.00854167 0.101481 L 0.0108333 0.115185 L 0.0177778 0.130247 L 0.0254861 0.139877 L 0.0347222 0.149506 L 0.0424306 0.159136 L 0.0502083 0.168765 L 0.0586806 0.181111 L 0.0640972 0.194815 L 0.0694444 0.208519 L 0.0733333 0.224938 L 0.0763889 0.238642 L 0.0795139 0.253704 L 0.0833333 0.268889 L 0.0879861 0.286667 L 0.091875 0.30037 L 0.0988194 0.315432 L 0.105764 0.330617 L 0.113472 0.345679 L 0.120417 0.359383 L 0.128889 0.371728 L 0.136597 0.38 L 0.145833 0.385432 L 0.153542 0.389506 L 0.161319 0.390988 L 0.169792 0.392346 L 0.1775 0.395062 L 0.185972 0.395062 L 0.195208 0.395062 L 0.206042 0.395062 L 0.217639 0.395062 L 0.227639 0.395062 L 0.235347 0.395062 L 0.245417 0.393704 L 0.254653 0.388148 L 0.263889 0.381358 L 0.271597 0.374444 L 0.278542 0.360741 L 0.286319 0.347037 L 0.291667 0.329259 L 0.296319 0.314074 L 0.298611 0.30037 L 0.300972 0.283951 L 0.303264 0.266049 L 0.306319 0.248272 L 0.307917 0.234568 L 0.310208 0.218148 L 0.310972 0.200247 L 0.313264 0.183827 L 0.314097 0.168765 L 0.316389 0.150864 L 0.317153 0.134444 L 0.317153 0.120741 L 0.317153 0.102839 L 0.317917 0.0877778 L 0.319444 0.0740741 L 0.319444 0.0603704 L 0.319444 0.0453086 L 0.319444 0.0301235 L 0.319444 0.0150617 L 0.319444 0.00135802 L 0.319444 -0.0123457 L 0.319444 -0.0260494 L 0.319444 -0.0397531 L 0.318681 -0.0534568 L 0.318681 -0.067284 L 0.320208 -0.0809877 " pathEditMode="relative" ptsTypes="">
                                      <p:cBhvr>
                                        <p:cTn id="24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37037 L 0.00236111 0.0287654 L 0.00465278 0.0424691 L 0.00541667 0.0576543 L 0.00694444 0.072716 L 0.00854167 0.0877778 L 0.00854167 0.101481 L 0.0108333 0.115185 L 0.0177778 0.130247 L 0.0254861 0.139877 L 0.0347222 0.149506 L 0.0424306 0.159136 L 0.0502083 0.168765 L 0.0586806 0.181111 L 0.0640972 0.194815 L 0.0694444 0.208519 L 0.0733333 0.224938 L 0.0763889 0.238642 L 0.0795139 0.253704 L 0.0833333 0.268889 L 0.0879861 0.286667 L 0.091875 0.30037 L 0.0988194 0.315432 L 0.105764 0.330617 L 0.113472 0.345679 L 0.120417 0.359383 L 0.128889 0.371728 L 0.136597 0.38 L 0.145833 0.385432 L 0.153542 0.389506 L 0.161319 0.390988 L 0.169792 0.392346 L 0.1775 0.395062 L 0.185972 0.395062 L 0.195208 0.395062 L 0.206042 0.395062 L 0.217639 0.395062 L 0.227639 0.395062 L 0.235347 0.395062 L 0.245417 0.393704 L 0.254653 0.388148 L 0.263889 0.381358 L 0.271597 0.374444 L 0.278542 0.360741 L 0.286319 0.347037 L 0.291667 0.329259 L 0.296319 0.314074 L 0.298611 0.30037 L 0.300972 0.283951 L 0.303264 0.266049 L 0.306319 0.248272 L 0.307917 0.234568 L 0.310208 0.218148 L 0.310972 0.200247 L 0.313264 0.183827 L 0.314097 0.168765 L 0.316389 0.150864 L 0.317153 0.134444 L 0.317153 0.120741 L 0.317153 0.102839 L 0.317917 0.0877778 L 0.319444 0.0740741 L 0.319444 0.0603704 L 0.319444 0.0453086 L 0.319444 0.0301235 L 0.319444 0.0150617 L 0.319444 0.00135802 L 0.319444 -0.0123457 L 0.319444 -0.0260494 L 0.319444 -0.0397531 L 0.318681 -0.0534568 L 0.318681 -0.067284 L 0.320208 -0.0809877 " pathEditMode="relative" ptsTypes="">
                                      <p:cBhvr>
                                        <p:cTn id="26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擂台法引入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7398" r="8285" b="10199"/>
          <a:stretch>
            <a:fillRect/>
          </a:stretch>
        </p:blipFill>
        <p:spPr>
          <a:xfrm>
            <a:off x="2825750" y="1687195"/>
            <a:ext cx="4226560" cy="2487930"/>
          </a:xfrm>
          <a:prstGeom prst="rect">
            <a:avLst/>
          </a:prstGeom>
        </p:spPr>
      </p:pic>
      <p:pic>
        <p:nvPicPr>
          <p:cNvPr id="4" name="图片 3" descr="龙博士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055" y="1114425"/>
            <a:ext cx="800100" cy="1061085"/>
          </a:xfrm>
          <a:prstGeom prst="rect">
            <a:avLst/>
          </a:prstGeom>
        </p:spPr>
      </p:pic>
      <p:pic>
        <p:nvPicPr>
          <p:cNvPr id="6" name="图片 5" descr="斯斯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310" y="1198880"/>
            <a:ext cx="666750" cy="976630"/>
          </a:xfrm>
          <a:prstGeom prst="rect">
            <a:avLst/>
          </a:prstGeom>
        </p:spPr>
      </p:pic>
      <p:pic>
        <p:nvPicPr>
          <p:cNvPr id="7" name="图片 6" descr="小白-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790" y="1403985"/>
            <a:ext cx="771525" cy="841375"/>
          </a:xfrm>
          <a:prstGeom prst="rect">
            <a:avLst/>
          </a:prstGeom>
        </p:spPr>
      </p:pic>
      <p:pic>
        <p:nvPicPr>
          <p:cNvPr id="8" name="图片 7" descr="Dr_Robin-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0445" y="1403985"/>
            <a:ext cx="846455" cy="1536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926705" y="900430"/>
            <a:ext cx="44704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68415" y="1183005"/>
            <a:ext cx="3784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666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172960" y="1031875"/>
            <a:ext cx="424815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93005" y="1158875"/>
            <a:ext cx="60071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10000+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7875" y="1091565"/>
            <a:ext cx="911860" cy="213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战斗力：</a:t>
            </a:r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擂台法总结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6339" y="1879891"/>
            <a:ext cx="8233042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latinLnBrk="1">
              <a:lnSpc>
                <a:spcPct val="20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擂台法求最值‌的基本原理是：依次读入数据，每次将新读入的数据与当前的最大值或最小值进行比较，如果新数据更大或更小，则更新最大值或最小值。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擂台法总结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1884" y="1077886"/>
            <a:ext cx="823304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latinLnBrk="1">
              <a:lnSpc>
                <a:spcPct val="20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具体步骤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45135" y="1932940"/>
            <a:ext cx="8289925" cy="1543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）初始化一个变量来记录当前的最大值或最小值即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设擂主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。（注意，最大值初始化要足够小，最小值初始化要足够大）</a:t>
            </a:r>
          </a:p>
          <a:p>
            <a:pPr marL="0" indent="0" algn="l" defTabSz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）依次读入数据，并与当前的最大值或最小值进行比较。</a:t>
            </a:r>
          </a:p>
          <a:p>
            <a:pPr marL="0" indent="0" algn="l" defTabSz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）如果新数据比当前的最大值或最小值更大或更小，则更新最大值或最小值。</a:t>
            </a:r>
          </a:p>
          <a:p>
            <a:pPr marL="0" indent="0" algn="l" defTabSz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）重复步骤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，直到所有数据都处理完毕。</a:t>
            </a:r>
          </a:p>
          <a:p>
            <a:pPr marL="0" indent="0" algn="l" defTabSz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）输出最终的最大值或最小值。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00028" y="368275"/>
            <a:ext cx="846297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擂台法代码参考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32710" y="956310"/>
            <a:ext cx="3877945" cy="32302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#include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&lt;bits/stdc++.h&gt;</a:t>
            </a:r>
            <a:endParaRPr lang="en-US" altLang="zh-CN" sz="12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using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namespace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std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;</a:t>
            </a:r>
          </a:p>
          <a:p>
            <a:endParaRPr lang="en-US" altLang="zh-CN" sz="12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main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()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{</a:t>
            </a:r>
            <a:endParaRPr lang="en-US" altLang="zh-CN" sz="1200" b="0" dirty="0">
              <a:solidFill>
                <a:srgbClr val="098658"/>
              </a:solidFill>
              <a:effectLst/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n,num,maxn=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INT_MIN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,minn=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INT_MAX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cin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&gt;&gt;n;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for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i=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;i&lt;=n;i++)    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{</a:t>
            </a:r>
            <a:b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&gt;&gt;num;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zh-CN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if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num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&gt;maxn){maxn = num;}</a:t>
            </a:r>
            <a:b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num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&lt;minn){minn = num;}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 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   }</a:t>
            </a:r>
            <a:b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cout&lt;&lt;maxn&lt;&lt;’ ’&lt;&lt;minn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  <a:sym typeface="+mn-ea"/>
              </a:rPr>
              <a:t>;</a:t>
            </a:r>
            <a:endParaRPr lang="en-US" altLang="zh-CN" sz="12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/>
            </a:r>
            <a:b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 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return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43" y="2138092"/>
            <a:ext cx="6582334" cy="8337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3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/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for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循环的应用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最大值最小值问题</a:t>
            </a:r>
            <a:endParaRPr lang="zh-CN" altLang="en-US" sz="2400" b="1" dirty="0">
              <a:solidFill>
                <a:srgbClr val="003C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3207" y="1526240"/>
            <a:ext cx="5217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P1128 </a:t>
            </a:r>
            <a:r>
              <a:rPr lang="en-US" altLang="zh-CN" dirty="0"/>
              <a:t>【</a:t>
            </a:r>
            <a:r>
              <a:rPr lang="zh-CN" altLang="en-US" dirty="0"/>
              <a:t>入门</a:t>
            </a:r>
            <a:r>
              <a:rPr lang="en-US" altLang="zh-CN" dirty="0"/>
              <a:t>】</a:t>
            </a:r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en-US" dirty="0"/>
              <a:t>个数的最大值和最小值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T1112  </a:t>
            </a:r>
            <a:r>
              <a:rPr lang="zh-CN" altLang="en-US" dirty="0" smtClean="0"/>
              <a:t>最大</a:t>
            </a:r>
            <a:r>
              <a:rPr lang="zh-CN" altLang="en-US" dirty="0"/>
              <a:t>值和最小值的差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LQ1032  </a:t>
            </a:r>
            <a:r>
              <a:rPr lang="zh-CN" altLang="en-US" dirty="0" smtClean="0"/>
              <a:t>求</a:t>
            </a:r>
            <a:r>
              <a:rPr lang="zh-CN" altLang="en-US" dirty="0"/>
              <a:t>最大值、最小值和平均值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799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条件判断</a:t>
            </a:r>
            <a:endParaRPr lang="zh-CN" altLang="en-US" sz="2400" b="1" dirty="0">
              <a:solidFill>
                <a:srgbClr val="003C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519" y="1234096"/>
            <a:ext cx="823304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200000"/>
              </a:lnSpc>
            </a:pPr>
            <a:r>
              <a:rPr lang="en-US" altLang="zh-CN" i="0" dirty="0" smtClean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P4085	</a:t>
            </a:r>
            <a:r>
              <a:rPr lang="zh-CN" altLang="en-US" dirty="0" smtClean="0"/>
              <a:t>陶陶</a:t>
            </a:r>
            <a:r>
              <a:rPr lang="zh-CN" altLang="en-US" dirty="0"/>
              <a:t>摘苹果</a:t>
            </a:r>
            <a:r>
              <a:rPr lang="en-US" altLang="zh-CN" i="0" dirty="0" smtClean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br>
              <a:rPr lang="en-US" altLang="zh-CN" i="0" dirty="0" smtClean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i="0" dirty="0" smtClean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atinLnBrk="1">
              <a:lnSpc>
                <a:spcPct val="200000"/>
              </a:lnSpc>
            </a:pPr>
            <a:r>
              <a:rPr lang="en-US" altLang="zh-CN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T1111	</a:t>
            </a:r>
            <a:r>
              <a:rPr lang="zh-CN" altLang="en-US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不高兴的津津</a:t>
            </a:r>
            <a:r>
              <a:rPr lang="en-US" altLang="zh-CN" sz="1400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br>
              <a:rPr lang="en-US" altLang="zh-CN" sz="1400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br>
              <a:rPr lang="en-US" altLang="zh-CN" sz="1400" dirty="0" smtClean="0">
                <a:solidFill>
                  <a:srgbClr val="2222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dirty="0" smtClean="0"/>
              <a:t>P1424 </a:t>
            </a:r>
            <a:r>
              <a:rPr lang="en-US" altLang="zh-CN" dirty="0"/>
              <a:t>【</a:t>
            </a:r>
            <a:r>
              <a:rPr lang="zh-CN" altLang="en-US" dirty="0"/>
              <a:t>入门</a:t>
            </a:r>
            <a:r>
              <a:rPr lang="en-US" altLang="zh-CN" dirty="0"/>
              <a:t>】</a:t>
            </a:r>
            <a:r>
              <a:rPr lang="zh-CN" altLang="en-US" dirty="0"/>
              <a:t>求满足条件的数的和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不高兴的津津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8625" y="1177290"/>
            <a:ext cx="596519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输入格式</a:t>
            </a: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输入文件包含7行数据，分别对应周一至周日的日程安排。每行有两个小于10的非负整数，中间用空格隔开，表示津津在学校上课的时间以及妈妈额外安排的上课时间。</a:t>
            </a: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输出一个数字：</a:t>
            </a: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如果津津一周都不会不高兴，则输出 0。</a:t>
            </a: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如果津津有不高兴的一天或几天，则输出最不高兴的是周几（用 1, 2, 3, 4, 5, 6, 7 分别代表周一至周日）。如果有两天或两天以上不高兴的程度相同，则输出最早的一天。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84620" y="1177290"/>
            <a:ext cx="241363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b="1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样例输入</a:t>
            </a:r>
            <a:endParaRPr lang="zh-CN" altLang="en-US" sz="1400" b="1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5 3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6 2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7 2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5 3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5 4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0 4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0 6</a:t>
            </a:r>
            <a:endParaRPr lang="zh-CN" altLang="en-US" sz="1400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b="1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样例输出</a:t>
            </a:r>
            <a:endParaRPr lang="zh-CN" altLang="en-US" sz="1400" b="1" i="0" dirty="0">
              <a:solidFill>
                <a:srgbClr val="222226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 latinLnBrk="1">
              <a:lnSpc>
                <a:spcPct val="150000"/>
              </a:lnSpc>
              <a:buFont typeface="+mj-lt"/>
              <a:buNone/>
            </a:pPr>
            <a:r>
              <a:rPr lang="zh-CN" altLang="en-US" sz="140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00028" y="368275"/>
            <a:ext cx="846297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2519" y="1234096"/>
            <a:ext cx="8233042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latinLnBrk="1">
              <a:lnSpc>
                <a:spcPct val="200000"/>
              </a:lnSpc>
              <a:buFont typeface="+mj-lt"/>
              <a:buNone/>
            </a:pPr>
            <a:r>
              <a:rPr lang="zh-CN" altLang="en-US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题目大意</a:t>
            </a:r>
            <a:r>
              <a:rPr lang="en-US" altLang="zh-CN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b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需要我们判断在一周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天内有没有哪天的校内上课和校外上课时间之和是超过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小时的，如果没有，输出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，如果有，输出最不高兴的那天。</a:t>
            </a:r>
            <a:b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思路</a:t>
            </a:r>
            <a:r>
              <a:rPr lang="en-US" altLang="zh-CN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</a:t>
            </a:r>
            <a:r>
              <a:rPr lang="zh-CN" altLang="en-US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想法</a:t>
            </a:r>
            <a:r>
              <a:rPr lang="en-US" altLang="zh-CN" sz="1400" b="1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b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找最不高兴的那天，可以使用擂台法，但是本题还需要加入一个找最值在某天的一个下标变量，更新最值时，同时更新该下标变量即可。又因为如果一周都没有不高兴需要输出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，那可以在开始时将下标变量设为</a:t>
            </a:r>
            <a:r>
              <a:rPr lang="en-US" altLang="zh-CN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400" i="0" dirty="0">
                <a:solidFill>
                  <a:srgbClr val="222226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00028" y="368275"/>
            <a:ext cx="846297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45" y="935990"/>
            <a:ext cx="6496050" cy="4094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519674" y="368275"/>
            <a:ext cx="8215251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3C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</a:t>
            </a:r>
            <a:endParaRPr lang="zh-CN" altLang="en-US" sz="2400" b="1" dirty="0">
              <a:solidFill>
                <a:srgbClr val="003C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2012" y="1492624"/>
            <a:ext cx="358784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C1-1-8-02 </a:t>
            </a:r>
            <a:r>
              <a:rPr lang="zh-CN" altLang="en-US" dirty="0" smtClean="0"/>
              <a:t>求阶乘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T1069 </a:t>
            </a:r>
            <a:r>
              <a:rPr lang="zh-CN" altLang="en-US" dirty="0" smtClean="0"/>
              <a:t>乘方计算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P4012 </a:t>
            </a:r>
            <a:r>
              <a:rPr lang="zh-CN" altLang="en-US" dirty="0" smtClean="0"/>
              <a:t>求分数序列和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P4083 </a:t>
            </a: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48.1】 </a:t>
            </a:r>
            <a:r>
              <a:rPr lang="zh-CN" altLang="en-US" dirty="0"/>
              <a:t>斐波那契数列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2686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5710" y="798609"/>
            <a:ext cx="8552580" cy="318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题目描述</a:t>
            </a:r>
            <a:endParaRPr lang="en-US" altLang="zh-CN" sz="16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阶乘（factorial）是所有小于及等于该数的正整数的积，0的阶乘为1。自然数n的阶乘写作n!。1808年，基斯顿·卡曼引进这个表示法。举例来说，5的阶乘（记作5!）等于1×2×3×4×5=120。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一行，一个整数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num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的阶乘结果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数据范围</a:t>
            </a:r>
            <a:r>
              <a:rPr lang="zh-CN" altLang="en-US" sz="1600" dirty="0">
                <a:solidFill>
                  <a:srgbClr val="309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600" dirty="0">
              <a:solidFill>
                <a:srgbClr val="309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0&lt;= num &lt;= 20</a:t>
            </a:r>
            <a:endParaRPr lang="en-US" altLang="zh-CN" sz="1400" baseline="3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61025" y="3031180"/>
            <a:ext cx="245317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输入样例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</a:p>
          <a:p>
            <a:endParaRPr lang="zh-CN" altLang="en-US" sz="14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输出样例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75081" y="3031180"/>
            <a:ext cx="2453005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输入样例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  <a:p>
            <a:r>
              <a:rPr lang="en-US" altLang="zh-CN" sz="14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</a:p>
          <a:p>
            <a:endParaRPr lang="zh-CN" altLang="en-US" sz="14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输出样例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3628800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8971" y="3031180"/>
            <a:ext cx="2453005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输入样例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  <a:p>
            <a:r>
              <a:rPr lang="en-US" altLang="zh-CN" sz="14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</a:p>
          <a:p>
            <a:endParaRPr lang="zh-CN" altLang="en-US" sz="14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输出样例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2432902008176640000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EA501A"/>
                </a:solidFill>
                <a:cs typeface="微软雅黑" panose="020B0503020204020204" charset="-122"/>
              </a:rPr>
              <a:t> </a:t>
            </a:r>
            <a:r>
              <a:rPr lang="zh-CN" altLang="en-US" sz="2400" b="1" spc="0" dirty="0">
                <a:solidFill>
                  <a:srgbClr val="003CA6"/>
                </a:solidFill>
                <a:cs typeface="微软雅黑" panose="020B0503020204020204" charset="-122"/>
              </a:rPr>
              <a:t>代码参考</a:t>
            </a:r>
            <a:endParaRPr lang="en-US" altLang="zh-CN" sz="2400" b="1" spc="0" dirty="0">
              <a:solidFill>
                <a:srgbClr val="003CA6"/>
              </a:solidFill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0" y="1252220"/>
            <a:ext cx="694372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519675" y="368275"/>
            <a:ext cx="6445378" cy="501073"/>
          </a:xfrm>
          <a:prstGeom prst="rect">
            <a:avLst/>
          </a:prstGeom>
        </p:spPr>
        <p:txBody>
          <a:bodyPr lIns="68578" tIns="34289" rIns="68578" bIns="34289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CA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5710" y="798609"/>
            <a:ext cx="8552580" cy="383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题目描述</a:t>
            </a:r>
            <a:endParaRPr lang="en-US" altLang="zh-CN" sz="16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乘方是指一个数（称为底数）自乘若干次（称为指数）的运算。设a是一个实数，n是一个正整数，则a的n次方表示为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a*a*a*a...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（乘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2</a:t>
            </a:r>
            <a:r>
              <a:rPr lang="en-US" altLang="zh-CN" sz="1400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  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= 2*2*2 = 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特殊地，任何非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次方等于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一行，两个整数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, y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次方。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一行，一个整数，表示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y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次方的结果。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数据范围</a:t>
            </a:r>
            <a:r>
              <a:rPr lang="zh-CN" altLang="en-US" sz="1600" dirty="0">
                <a:solidFill>
                  <a:srgbClr val="309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600" dirty="0">
              <a:solidFill>
                <a:srgbClr val="309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1&lt;= x&lt;=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sz="14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, 0&lt;= y &lt;= 10</a:t>
            </a:r>
            <a:endParaRPr lang="en-US" altLang="zh-CN" sz="1400" baseline="3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34120" y="2051375"/>
            <a:ext cx="245317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输入样例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2 3</a:t>
            </a:r>
          </a:p>
          <a:p>
            <a:endParaRPr lang="zh-CN" altLang="en-US" sz="14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输出样例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134120" y="3424880"/>
            <a:ext cx="245317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输入样例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  <a:p>
            <a:r>
              <a:rPr lang="en-US" altLang="zh-CN" sz="14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3 3</a:t>
            </a:r>
          </a:p>
          <a:p>
            <a:endParaRPr lang="zh-CN" altLang="en-US" sz="14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输出样例</a:t>
            </a:r>
            <a:r>
              <a:rPr lang="en-US" altLang="zh-CN" sz="1400" b="1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EA501A"/>
                </a:solidFill>
                <a:cs typeface="微软雅黑" panose="020B0503020204020204" charset="-122"/>
              </a:rPr>
              <a:t> </a:t>
            </a:r>
            <a:r>
              <a:rPr lang="zh-CN" altLang="en-US" sz="2400" b="1" spc="0" dirty="0">
                <a:solidFill>
                  <a:srgbClr val="003CA6"/>
                </a:solidFill>
                <a:cs typeface="微软雅黑" panose="020B0503020204020204" charset="-122"/>
              </a:rPr>
              <a:t>代码参考</a:t>
            </a:r>
            <a:endParaRPr lang="en-US" altLang="zh-CN" sz="2400" b="1" spc="0" dirty="0">
              <a:solidFill>
                <a:srgbClr val="003CA6"/>
              </a:solidFill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947420"/>
            <a:ext cx="6267450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0443" y="2138092"/>
            <a:ext cx="6582334" cy="8337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4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/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软雅黑" panose="020B0503020204020204" charset="-122"/>
              </a:rPr>
              <a:t>拓展练习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9230" y="243205"/>
            <a:ext cx="8566150" cy="677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EA501A"/>
                </a:solidFill>
                <a:cs typeface="微软雅黑" panose="020B0503020204020204" charset="-122"/>
              </a:rPr>
              <a:t> </a:t>
            </a:r>
            <a:r>
              <a:rPr lang="zh-CN" altLang="en-US" sz="2400" b="1" spc="0" dirty="0">
                <a:solidFill>
                  <a:srgbClr val="003CA6"/>
                </a:solidFill>
                <a:cs typeface="微软雅黑" panose="020B0503020204020204" charset="-122"/>
              </a:rPr>
              <a:t>拓展练习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88465" y="2249170"/>
            <a:ext cx="5475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linkClick r:id="rId4" action="ppaction://hlinkfile"/>
              </a:rPr>
              <a:t>https://www.luogu.com.cn/training/674879</a:t>
            </a:r>
          </a:p>
          <a:p>
            <a:endParaRPr lang="zh-CN" altLang="en-US" b="1" dirty="0">
              <a:hlinkClick r:id="rId4" action="ppaction://hlinkfil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TRACKING_SLIDES" val="1"/>
  <p:tag name="GENSWF_OUTPUT_FILE_NAME" val="06"/>
  <p:tag name="KSO_WPP_MARK_KEY" val="49d6ec15-bf1a-445a-b1b4-4d8ed3edb928"/>
  <p:tag name="COMMONDATA" val="eyJoZGlkIjoiNWQ0MDQyZGIyMjY2NDYzZjgyZmEzNjg2ZTcxODU5N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42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微软雅黑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1408</Words>
  <Application>Microsoft Office PowerPoint</Application>
  <PresentationFormat>全屏显示(16:9)</PresentationFormat>
  <Paragraphs>309</Paragraphs>
  <Slides>41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5" baseType="lpstr">
      <vt:lpstr>微软雅黑</vt:lpstr>
      <vt:lpstr>Arial</vt:lpstr>
      <vt:lpstr>Consolas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书签式三项并列关系图表</dc:title>
  <dc:creator>杜鹏亮</dc:creator>
  <cp:lastModifiedBy>MicroSoft</cp:lastModifiedBy>
  <cp:revision>184</cp:revision>
  <dcterms:created xsi:type="dcterms:W3CDTF">2024-01-11T03:28:00Z</dcterms:created>
  <dcterms:modified xsi:type="dcterms:W3CDTF">2025-04-18T15:23:59Z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C9072486CA7845CBBAA551F817D963AC_11</vt:lpwstr>
  </property>
  <property fmtid="{D5CDD505-2E9C-101B-9397-08002B2CF9AE}" pid="3" name="KSOProductBuildVer">
    <vt:lpwstr>2052-12.1.0.17827</vt:lpwstr>
  </property>
</Properties>
</file>