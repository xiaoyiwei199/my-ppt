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6.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7.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8.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9.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10.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notesSlides/notesSlide11.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12.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notesSlides/notesSlide13.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14.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18.xml" ContentType="application/vnd.openxmlformats-officedocument.presentationml.notesSlide+xml"/>
  <Override PartName="/ppt/tags/tag145.xml" ContentType="application/vnd.openxmlformats-officedocument.presentationml.tags+xml"/>
  <Override PartName="/ppt/notesSlides/notesSlide19.xml" ContentType="application/vnd.openxmlformats-officedocument.presentationml.notesSlide+xml"/>
  <Override PartName="/ppt/tags/tag146.xml" ContentType="application/vnd.openxmlformats-officedocument.presentationml.tags+xml"/>
  <Override PartName="/ppt/notesSlides/notesSlide20.xml" ContentType="application/vnd.openxmlformats-officedocument.presentationml.notesSlide+xml"/>
  <Override PartName="/ppt/tags/tag147.xml" ContentType="application/vnd.openxmlformats-officedocument.presentationml.tags+xml"/>
  <Override PartName="/ppt/notesSlides/notesSlide21.xml" ContentType="application/vnd.openxmlformats-officedocument.presentationml.notesSlide+xml"/>
  <Override PartName="/ppt/tags/tag148.xml" ContentType="application/vnd.openxmlformats-officedocument.presentationml.tags+xml"/>
  <Override PartName="/ppt/notesSlides/notesSlide22.xml" ContentType="application/vnd.openxmlformats-officedocument.presentationml.notesSlide+xml"/>
  <Override PartName="/ppt/tags/tag149.xml" ContentType="application/vnd.openxmlformats-officedocument.presentationml.tags+xml"/>
  <Override PartName="/ppt/notesSlides/notesSlide23.xml" ContentType="application/vnd.openxmlformats-officedocument.presentationml.notesSlide+xml"/>
  <Override PartName="/ppt/tags/tag150.xml" ContentType="application/vnd.openxmlformats-officedocument.presentationml.tags+xml"/>
  <Override PartName="/ppt/notesSlides/notesSlide24.xml" ContentType="application/vnd.openxmlformats-officedocument.presentationml.notesSlide+xml"/>
  <Override PartName="/ppt/tags/tag151.xml" ContentType="application/vnd.openxmlformats-officedocument.presentationml.tags+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640.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408" r:id="rId2"/>
    <p:sldId id="416" r:id="rId3"/>
    <p:sldId id="420" r:id="rId4"/>
    <p:sldId id="489" r:id="rId5"/>
    <p:sldId id="444" r:id="rId6"/>
    <p:sldId id="551" r:id="rId7"/>
    <p:sldId id="613" r:id="rId8"/>
    <p:sldId id="641" r:id="rId9"/>
    <p:sldId id="642" r:id="rId10"/>
    <p:sldId id="643" r:id="rId11"/>
    <p:sldId id="645" r:id="rId12"/>
    <p:sldId id="640" r:id="rId13"/>
    <p:sldId id="614" r:id="rId14"/>
    <p:sldId id="672" r:id="rId15"/>
    <p:sldId id="673" r:id="rId16"/>
    <p:sldId id="582" r:id="rId17"/>
    <p:sldId id="566" r:id="rId18"/>
    <p:sldId id="674" r:id="rId19"/>
    <p:sldId id="675" r:id="rId20"/>
    <p:sldId id="677" r:id="rId21"/>
    <p:sldId id="704" r:id="rId22"/>
    <p:sldId id="678" r:id="rId23"/>
    <p:sldId id="676" r:id="rId24"/>
    <p:sldId id="685" r:id="rId25"/>
    <p:sldId id="680" r:id="rId26"/>
    <p:sldId id="681" r:id="rId27"/>
    <p:sldId id="686" r:id="rId28"/>
    <p:sldId id="683" r:id="rId29"/>
    <p:sldId id="423" r:id="rId30"/>
    <p:sldId id="705" r:id="rId31"/>
    <p:sldId id="435" r:id="rId32"/>
    <p:sldId id="706" r:id="rId33"/>
    <p:sldId id="412" r:id="rId34"/>
  </p:sldIdLst>
  <p:sldSz cx="9144000" cy="5143500" type="screen16x9"/>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65" userDrawn="1">
          <p15:clr>
            <a:srgbClr val="A4A3A4"/>
          </p15:clr>
        </p15:guide>
        <p15:guide id="2" pos="2726" userDrawn="1">
          <p15:clr>
            <a:srgbClr val="A4A3A4"/>
          </p15:clr>
        </p15:guide>
        <p15:guide id="3" orient="horz" pos="142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ao Yang" initials="XY"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BF5"/>
    <a:srgbClr val="FB9E13"/>
    <a:srgbClr val="CFD5EA"/>
    <a:srgbClr val="F1D4F1"/>
    <a:srgbClr val="FFC4E4"/>
    <a:srgbClr val="D35230"/>
    <a:srgbClr val="FF8B8B"/>
    <a:srgbClr val="6AD04E"/>
    <a:srgbClr val="BCEAFF"/>
    <a:srgbClr val="6897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CAF9ED-07DC-4A11-8D7F-57B35C25682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88" autoAdjust="0"/>
    <p:restoredTop sz="84323"/>
  </p:normalViewPr>
  <p:slideViewPr>
    <p:cSldViewPr snapToGrid="0" showGuides="1">
      <p:cViewPr varScale="1">
        <p:scale>
          <a:sx n="96" d="100"/>
          <a:sy n="96" d="100"/>
        </p:scale>
        <p:origin x="1123" y="72"/>
      </p:cViewPr>
      <p:guideLst>
        <p:guide orient="horz" pos="565"/>
        <p:guide pos="2726"/>
        <p:guide orient="horz" pos="1421"/>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12C8C0-A3D3-487B-AECC-CB6663EAE28D}"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49D3E0-124D-4DFF-AE99-4EA4CC201DB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https://www.acwing.com/problem/content/167/</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https://www.acwing.com/problem/content/167/</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https://www.acwing.com/problem/content/167/</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https://www.acwing.com/problem/content/167/</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https://www.acwing.com/problem/content/167/</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https://www.acwing.com/problem/content/167/</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https://www.acwing.com/problem/content/167/</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https://www.acwing.com/problem/content/167/</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j&gt;=vi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https://www.acwing.com/problem/content/167/</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17</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18</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19</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20</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21</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22</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23</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https://www.luogu.com.cn/problem/P1434</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25</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26</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https://www.luogu.com.cn/problem/P1434</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28</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30</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3849D3E0-124D-4DFF-AE99-4EA4CC201DB4}" type="slidenum">
              <a:rPr lang="zh-CN" altLang="en-US" smtClean="0"/>
              <a:t>32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28650" y="4767264"/>
            <a:ext cx="2057400" cy="273844"/>
          </a:xfrm>
          <a:prstGeom prst="rect">
            <a:avLst/>
          </a:prstGeom>
        </p:spPr>
        <p:txBody>
          <a:bodyPr/>
          <a:lstStyle/>
          <a:p>
            <a:fld id="{4C4388EF-52D1-4258-9BE5-BCD010C7D4DE}" type="datetimeFigureOut">
              <a:rPr lang="zh-CN" altLang="en-US" smtClean="0"/>
              <a:t>2025/4/18</a:t>
            </a:fld>
            <a:endParaRPr lang="zh-CN" altLang="en-US"/>
          </a:p>
        </p:txBody>
      </p:sp>
      <p:sp>
        <p:nvSpPr>
          <p:cNvPr id="4" name="页脚占位符 3"/>
          <p:cNvSpPr>
            <a:spLocks noGrp="1"/>
          </p:cNvSpPr>
          <p:nvPr>
            <p:ph type="ftr" sz="quarter" idx="11"/>
          </p:nvPr>
        </p:nvSpPr>
        <p:spPr>
          <a:xfrm>
            <a:off x="3028950" y="4767264"/>
            <a:ext cx="3086100" cy="273844"/>
          </a:xfrm>
          <a:prstGeom prst="rect">
            <a:avLst/>
          </a:prstGeom>
        </p:spPr>
        <p:txBody>
          <a:bodyPr/>
          <a:lstStyle/>
          <a:p>
            <a:endParaRPr lang="zh-CN" altLang="en-US" dirty="0"/>
          </a:p>
        </p:txBody>
      </p:sp>
      <p:sp>
        <p:nvSpPr>
          <p:cNvPr id="5" name="幻灯片编号占位符 4"/>
          <p:cNvSpPr>
            <a:spLocks noGrp="1"/>
          </p:cNvSpPr>
          <p:nvPr>
            <p:ph type="sldNum" sz="quarter" idx="12"/>
          </p:nvPr>
        </p:nvSpPr>
        <p:spPr>
          <a:xfrm>
            <a:off x="6457950" y="4767264"/>
            <a:ext cx="2057400" cy="273844"/>
          </a:xfrm>
          <a:prstGeom prst="rect">
            <a:avLst/>
          </a:prstGeom>
        </p:spPr>
        <p:txBody>
          <a:bodyPr/>
          <a:lstStyle/>
          <a:p>
            <a:fld id="{3D3EE65E-57D2-4566-898C-4F2076833F8D}" type="slidenum">
              <a:rPr lang="zh-CN" altLang="en-US" smtClean="0"/>
              <a:t>‹#›</a:t>
            </a:fld>
            <a:endParaRPr lang="zh-CN" altLang="en-US"/>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76" y="-1"/>
            <a:ext cx="9138047" cy="516030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5841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77" y="947"/>
            <a:ext cx="9138046" cy="515841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144001" cy="51435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9144000" cy="5163671"/>
          </a:xfrm>
          <a:prstGeom prst="rect">
            <a:avLst/>
          </a:prstGeom>
        </p:spPr>
      </p:pic>
      <p:sp>
        <p:nvSpPr>
          <p:cNvPr id="7" name="标题 1"/>
          <p:cNvSpPr txBox="1"/>
          <p:nvPr userDrawn="1"/>
        </p:nvSpPr>
        <p:spPr>
          <a:xfrm>
            <a:off x="558052" y="2064136"/>
            <a:ext cx="7886700" cy="1754830"/>
          </a:xfrm>
          <a:prstGeom prst="rect">
            <a:avLst/>
          </a:prstGeom>
        </p:spPr>
        <p:txBody>
          <a:bodyPr>
            <a:normAutofit/>
          </a:bodyPr>
          <a:lstStyle>
            <a:lvl1pPr algn="l" defTabSz="914400" rtl="0" eaLnBrk="1" latinLnBrk="0" hangingPunct="1">
              <a:lnSpc>
                <a:spcPct val="90000"/>
              </a:lnSpc>
              <a:spcBef>
                <a:spcPct val="0"/>
              </a:spcBef>
              <a:buNone/>
              <a:defRPr sz="4000" b="1" i="0" kern="1200">
                <a:solidFill>
                  <a:schemeClr val="bg1"/>
                </a:solidFill>
                <a:latin typeface="微软雅黑" panose="020B0503020204020204" charset="-122"/>
                <a:ea typeface="微软雅黑" panose="020B0503020204020204" charset="-122"/>
                <a:cs typeface="微软雅黑" panose="020B0503020204020204" charset="-122"/>
              </a:defRPr>
            </a:lvl1pPr>
          </a:lstStyle>
          <a:p>
            <a:pPr algn="ctr">
              <a:lnSpc>
                <a:spcPct val="150000"/>
              </a:lnSpc>
            </a:pPr>
            <a:r>
              <a:rPr kumimoji="1" lang="en-US" altLang="zh-CN" dirty="0">
                <a:latin typeface="+mj-lt"/>
              </a:rPr>
              <a:t>THANK YOU</a:t>
            </a:r>
            <a:endParaRPr kumimoji="1" lang="en-US" altLang="zh-CN" sz="2400" b="0" dirty="0">
              <a:latin typeface="+mj-l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B6FCFE5-9BAE-434A-B7E0-C053F9E20057}" type="datetimeFigureOut">
              <a:rPr kumimoji="1" lang="zh-CN" altLang="en-US" smtClean="0"/>
              <a:t>2025/4/18</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9AD75E1B-EC61-4B40-BD8F-EFE8DCE77428}"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B6FCFE5-9BAE-434A-B7E0-C053F9E20057}" type="datetimeFigureOut">
              <a:rPr kumimoji="1" lang="zh-CN" altLang="en-US" smtClean="0"/>
              <a:t>2025/4/18</a:t>
            </a:fld>
            <a:endParaRPr kumimoji="1"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D75E1B-EC61-4B40-BD8F-EFE8DCE7742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3.svg"/><Relationship Id="rId3" Type="http://schemas.openxmlformats.org/officeDocument/2006/relationships/tags" Target="../tags/tag9.xml"/><Relationship Id="rId7" Type="http://schemas.openxmlformats.org/officeDocument/2006/relationships/image" Target="../media/image7.svg"/><Relationship Id="rId12" Type="http://schemas.openxmlformats.org/officeDocument/2006/relationships/image" Target="../media/image9.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notesSlide" Target="../notesSlides/notesSlide4.xml"/><Relationship Id="rId10" Type="http://schemas.openxmlformats.org/officeDocument/2006/relationships/image" Target="../media/image8.png"/><Relationship Id="rId4" Type="http://schemas.openxmlformats.org/officeDocument/2006/relationships/slideLayout" Target="../slideLayouts/slideLayout3.xml"/><Relationship Id="rId9" Type="http://schemas.openxmlformats.org/officeDocument/2006/relationships/image" Target="../media/image9.sv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3.svg"/><Relationship Id="rId3" Type="http://schemas.openxmlformats.org/officeDocument/2006/relationships/tags" Target="../tags/tag12.xml"/><Relationship Id="rId7" Type="http://schemas.openxmlformats.org/officeDocument/2006/relationships/notesSlide" Target="../notesSlides/notesSlide5.xml"/><Relationship Id="rId12" Type="http://schemas.openxmlformats.org/officeDocument/2006/relationships/image" Target="../media/image9.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Layout" Target="../slideLayouts/slideLayout3.xml"/><Relationship Id="rId11" Type="http://schemas.openxmlformats.org/officeDocument/2006/relationships/image" Target="../media/image11.svg"/><Relationship Id="rId5" Type="http://schemas.openxmlformats.org/officeDocument/2006/relationships/tags" Target="../tags/tag14.xml"/><Relationship Id="rId15" Type="http://schemas.openxmlformats.org/officeDocument/2006/relationships/image" Target="../media/image9.svg"/><Relationship Id="rId10" Type="http://schemas.openxmlformats.org/officeDocument/2006/relationships/image" Target="../media/image8.png"/><Relationship Id="rId4" Type="http://schemas.openxmlformats.org/officeDocument/2006/relationships/tags" Target="../tags/tag13.xml"/><Relationship Id="rId9" Type="http://schemas.openxmlformats.org/officeDocument/2006/relationships/image" Target="../media/image7.svg"/><Relationship Id="rId1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6.xml"/><Relationship Id="rId13" Type="http://schemas.openxmlformats.org/officeDocument/2006/relationships/image" Target="../media/image9.png"/><Relationship Id="rId3" Type="http://schemas.openxmlformats.org/officeDocument/2006/relationships/tags" Target="../tags/tag17.xml"/><Relationship Id="rId7" Type="http://schemas.openxmlformats.org/officeDocument/2006/relationships/slideLayout" Target="../slideLayouts/slideLayout3.xml"/><Relationship Id="rId12" Type="http://schemas.openxmlformats.org/officeDocument/2006/relationships/image" Target="../media/image11.svg"/><Relationship Id="rId2" Type="http://schemas.openxmlformats.org/officeDocument/2006/relationships/tags" Target="../tags/tag16.xml"/><Relationship Id="rId16" Type="http://schemas.openxmlformats.org/officeDocument/2006/relationships/image" Target="../media/image9.svg"/><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8.png"/><Relationship Id="rId5" Type="http://schemas.openxmlformats.org/officeDocument/2006/relationships/tags" Target="../tags/tag19.xml"/><Relationship Id="rId15" Type="http://schemas.openxmlformats.org/officeDocument/2006/relationships/image" Target="../media/image7.png"/><Relationship Id="rId10" Type="http://schemas.openxmlformats.org/officeDocument/2006/relationships/image" Target="../media/image7.svg"/><Relationship Id="rId4" Type="http://schemas.openxmlformats.org/officeDocument/2006/relationships/tags" Target="../tags/tag18.xml"/><Relationship Id="rId9" Type="http://schemas.openxmlformats.org/officeDocument/2006/relationships/image" Target="../media/image6.png"/><Relationship Id="rId14" Type="http://schemas.openxmlformats.org/officeDocument/2006/relationships/image" Target="../media/image13.sv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3.xml"/><Relationship Id="rId7" Type="http://schemas.openxmlformats.org/officeDocument/2006/relationships/notesSlide" Target="../notesSlides/notesSlide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Layout" Target="../slideLayouts/slideLayout3.xml"/><Relationship Id="rId11" Type="http://schemas.openxmlformats.org/officeDocument/2006/relationships/image" Target="../media/image7.png"/><Relationship Id="rId5" Type="http://schemas.openxmlformats.org/officeDocument/2006/relationships/tags" Target="../tags/tag25.xml"/><Relationship Id="rId10" Type="http://schemas.openxmlformats.org/officeDocument/2006/relationships/image" Target="../media/image9.png"/><Relationship Id="rId4" Type="http://schemas.openxmlformats.org/officeDocument/2006/relationships/tags" Target="../tags/tag24.xml"/><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8.xml"/><Relationship Id="rId7" Type="http://schemas.openxmlformats.org/officeDocument/2006/relationships/notesSlide" Target="../notesSlides/notesSlide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Layout" Target="../slideLayouts/slideLayout3.xml"/><Relationship Id="rId5" Type="http://schemas.openxmlformats.org/officeDocument/2006/relationships/tags" Target="../tags/tag30.xml"/><Relationship Id="rId10" Type="http://schemas.openxmlformats.org/officeDocument/2006/relationships/image" Target="../media/image9.png"/><Relationship Id="rId4" Type="http://schemas.openxmlformats.org/officeDocument/2006/relationships/tags" Target="../tags/tag29.xml"/><Relationship Id="rId9" Type="http://schemas.openxmlformats.org/officeDocument/2006/relationships/image" Target="../media/image6.png"/></Relationships>
</file>

<file path=ppt/slides/_rels/slide13.xml.rels><?xml version="1.0" encoding="UTF-8" standalone="yes"?>
<Relationships xmlns="http://schemas.openxmlformats.org/package/2006/relationships"><Relationship Id="rId13" Type="http://schemas.openxmlformats.org/officeDocument/2006/relationships/tags" Target="../tags/tag43.xml"/><Relationship Id="rId18" Type="http://schemas.openxmlformats.org/officeDocument/2006/relationships/tags" Target="../tags/tag48.xml"/><Relationship Id="rId26" Type="http://schemas.openxmlformats.org/officeDocument/2006/relationships/tags" Target="../tags/tag56.xml"/><Relationship Id="rId39" Type="http://schemas.openxmlformats.org/officeDocument/2006/relationships/image" Target="../media/image6.png"/><Relationship Id="rId21" Type="http://schemas.openxmlformats.org/officeDocument/2006/relationships/tags" Target="../tags/tag51.xml"/><Relationship Id="rId34" Type="http://schemas.openxmlformats.org/officeDocument/2006/relationships/notesSlide" Target="../notesSlides/notesSlide9.xml"/><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tags" Target="../tags/tag47.xml"/><Relationship Id="rId25" Type="http://schemas.openxmlformats.org/officeDocument/2006/relationships/tags" Target="../tags/tag55.xml"/><Relationship Id="rId33" Type="http://schemas.openxmlformats.org/officeDocument/2006/relationships/slideLayout" Target="../slideLayouts/slideLayout3.xml"/><Relationship Id="rId38" Type="http://schemas.openxmlformats.org/officeDocument/2006/relationships/image" Target="../media/image8.png"/><Relationship Id="rId2" Type="http://schemas.openxmlformats.org/officeDocument/2006/relationships/tags" Target="../tags/tag32.xml"/><Relationship Id="rId16" Type="http://schemas.openxmlformats.org/officeDocument/2006/relationships/tags" Target="../tags/tag46.xml"/><Relationship Id="rId20" Type="http://schemas.openxmlformats.org/officeDocument/2006/relationships/tags" Target="../tags/tag50.xml"/><Relationship Id="rId29" Type="http://schemas.openxmlformats.org/officeDocument/2006/relationships/tags" Target="../tags/tag59.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24" Type="http://schemas.openxmlformats.org/officeDocument/2006/relationships/tags" Target="../tags/tag54.xml"/><Relationship Id="rId32" Type="http://schemas.openxmlformats.org/officeDocument/2006/relationships/tags" Target="../tags/tag62.xml"/><Relationship Id="rId37" Type="http://schemas.openxmlformats.org/officeDocument/2006/relationships/image" Target="../media/image7.png"/><Relationship Id="rId5" Type="http://schemas.openxmlformats.org/officeDocument/2006/relationships/tags" Target="../tags/tag35.xml"/><Relationship Id="rId15" Type="http://schemas.openxmlformats.org/officeDocument/2006/relationships/tags" Target="../tags/tag45.xml"/><Relationship Id="rId23" Type="http://schemas.openxmlformats.org/officeDocument/2006/relationships/tags" Target="../tags/tag53.xml"/><Relationship Id="rId28" Type="http://schemas.openxmlformats.org/officeDocument/2006/relationships/tags" Target="../tags/tag58.xml"/><Relationship Id="rId36" Type="http://schemas.openxmlformats.org/officeDocument/2006/relationships/image" Target="../media/image15.svg"/><Relationship Id="rId10" Type="http://schemas.openxmlformats.org/officeDocument/2006/relationships/tags" Target="../tags/tag40.xml"/><Relationship Id="rId19" Type="http://schemas.openxmlformats.org/officeDocument/2006/relationships/tags" Target="../tags/tag49.xml"/><Relationship Id="rId31" Type="http://schemas.openxmlformats.org/officeDocument/2006/relationships/tags" Target="../tags/tag61.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 Id="rId22" Type="http://schemas.openxmlformats.org/officeDocument/2006/relationships/tags" Target="../tags/tag52.xml"/><Relationship Id="rId27" Type="http://schemas.openxmlformats.org/officeDocument/2006/relationships/tags" Target="../tags/tag57.xml"/><Relationship Id="rId30" Type="http://schemas.openxmlformats.org/officeDocument/2006/relationships/tags" Target="../tags/tag60.xml"/><Relationship Id="rId35" Type="http://schemas.openxmlformats.org/officeDocument/2006/relationships/image" Target="../media/image10.png"/><Relationship Id="rId8" Type="http://schemas.openxmlformats.org/officeDocument/2006/relationships/tags" Target="../tags/tag38.xml"/><Relationship Id="rId3" Type="http://schemas.openxmlformats.org/officeDocument/2006/relationships/tags" Target="../tags/tag3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6.png"/><Relationship Id="rId5" Type="http://schemas.openxmlformats.org/officeDocument/2006/relationships/tags" Target="../tags/tag640.xml"/><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6.xml"/><Relationship Id="rId1" Type="http://schemas.openxmlformats.org/officeDocument/2006/relationships/tags" Target="../tags/tag65.xml"/><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3" Type="http://schemas.openxmlformats.org/officeDocument/2006/relationships/tags" Target="../tags/tag79.xml"/><Relationship Id="rId18" Type="http://schemas.openxmlformats.org/officeDocument/2006/relationships/tags" Target="../tags/tag84.xml"/><Relationship Id="rId26" Type="http://schemas.openxmlformats.org/officeDocument/2006/relationships/tags" Target="../tags/tag92.xml"/><Relationship Id="rId39" Type="http://schemas.openxmlformats.org/officeDocument/2006/relationships/tags" Target="../tags/tag105.xml"/><Relationship Id="rId21" Type="http://schemas.openxmlformats.org/officeDocument/2006/relationships/tags" Target="../tags/tag87.xml"/><Relationship Id="rId34" Type="http://schemas.openxmlformats.org/officeDocument/2006/relationships/tags" Target="../tags/tag100.xml"/><Relationship Id="rId42" Type="http://schemas.openxmlformats.org/officeDocument/2006/relationships/notesSlide" Target="../notesSlides/notesSlide12.xml"/><Relationship Id="rId47" Type="http://schemas.openxmlformats.org/officeDocument/2006/relationships/image" Target="../media/image6.png"/><Relationship Id="rId7" Type="http://schemas.openxmlformats.org/officeDocument/2006/relationships/tags" Target="../tags/tag73.xml"/><Relationship Id="rId2" Type="http://schemas.openxmlformats.org/officeDocument/2006/relationships/tags" Target="../tags/tag68.xml"/><Relationship Id="rId16" Type="http://schemas.openxmlformats.org/officeDocument/2006/relationships/tags" Target="../tags/tag82.xml"/><Relationship Id="rId29" Type="http://schemas.openxmlformats.org/officeDocument/2006/relationships/tags" Target="../tags/tag95.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24" Type="http://schemas.openxmlformats.org/officeDocument/2006/relationships/tags" Target="../tags/tag90.xml"/><Relationship Id="rId32" Type="http://schemas.openxmlformats.org/officeDocument/2006/relationships/tags" Target="../tags/tag98.xml"/><Relationship Id="rId37" Type="http://schemas.openxmlformats.org/officeDocument/2006/relationships/tags" Target="../tags/tag103.xml"/><Relationship Id="rId40" Type="http://schemas.openxmlformats.org/officeDocument/2006/relationships/tags" Target="../tags/tag106.xml"/><Relationship Id="rId45" Type="http://schemas.openxmlformats.org/officeDocument/2006/relationships/image" Target="../media/image7.png"/><Relationship Id="rId5" Type="http://schemas.openxmlformats.org/officeDocument/2006/relationships/tags" Target="../tags/tag71.xml"/><Relationship Id="rId15" Type="http://schemas.openxmlformats.org/officeDocument/2006/relationships/tags" Target="../tags/tag81.xml"/><Relationship Id="rId23" Type="http://schemas.openxmlformats.org/officeDocument/2006/relationships/tags" Target="../tags/tag89.xml"/><Relationship Id="rId28" Type="http://schemas.openxmlformats.org/officeDocument/2006/relationships/tags" Target="../tags/tag94.xml"/><Relationship Id="rId36" Type="http://schemas.openxmlformats.org/officeDocument/2006/relationships/tags" Target="../tags/tag102.xml"/><Relationship Id="rId10" Type="http://schemas.openxmlformats.org/officeDocument/2006/relationships/tags" Target="../tags/tag76.xml"/><Relationship Id="rId19" Type="http://schemas.openxmlformats.org/officeDocument/2006/relationships/tags" Target="../tags/tag85.xml"/><Relationship Id="rId31" Type="http://schemas.openxmlformats.org/officeDocument/2006/relationships/tags" Target="../tags/tag97.xml"/><Relationship Id="rId44" Type="http://schemas.openxmlformats.org/officeDocument/2006/relationships/image" Target="../media/image15.svg"/><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tags" Target="../tags/tag80.xml"/><Relationship Id="rId22" Type="http://schemas.openxmlformats.org/officeDocument/2006/relationships/tags" Target="../tags/tag88.xml"/><Relationship Id="rId27" Type="http://schemas.openxmlformats.org/officeDocument/2006/relationships/tags" Target="../tags/tag93.xml"/><Relationship Id="rId30" Type="http://schemas.openxmlformats.org/officeDocument/2006/relationships/tags" Target="../tags/tag96.xml"/><Relationship Id="rId35" Type="http://schemas.openxmlformats.org/officeDocument/2006/relationships/tags" Target="../tags/tag101.xml"/><Relationship Id="rId43" Type="http://schemas.openxmlformats.org/officeDocument/2006/relationships/image" Target="../media/image10.png"/><Relationship Id="rId8" Type="http://schemas.openxmlformats.org/officeDocument/2006/relationships/tags" Target="../tags/tag74.xml"/><Relationship Id="rId3" Type="http://schemas.openxmlformats.org/officeDocument/2006/relationships/tags" Target="../tags/tag69.xml"/><Relationship Id="rId12" Type="http://schemas.openxmlformats.org/officeDocument/2006/relationships/tags" Target="../tags/tag78.xml"/><Relationship Id="rId17" Type="http://schemas.openxmlformats.org/officeDocument/2006/relationships/tags" Target="../tags/tag83.xml"/><Relationship Id="rId25" Type="http://schemas.openxmlformats.org/officeDocument/2006/relationships/tags" Target="../tags/tag91.xml"/><Relationship Id="rId33" Type="http://schemas.openxmlformats.org/officeDocument/2006/relationships/tags" Target="../tags/tag99.xml"/><Relationship Id="rId38" Type="http://schemas.openxmlformats.org/officeDocument/2006/relationships/tags" Target="../tags/tag104.xml"/><Relationship Id="rId46" Type="http://schemas.openxmlformats.org/officeDocument/2006/relationships/image" Target="../media/image8.png"/><Relationship Id="rId20" Type="http://schemas.openxmlformats.org/officeDocument/2006/relationships/tags" Target="../tags/tag86.xml"/><Relationship Id="rId4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109.xml"/><Relationship Id="rId7" Type="http://schemas.openxmlformats.org/officeDocument/2006/relationships/slideLayout" Target="../slideLayouts/slideLayout3.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s>
</file>

<file path=ppt/slides/_rels/slide19.xml.rels><?xml version="1.0" encoding="UTF-8" standalone="yes"?>
<Relationships xmlns="http://schemas.openxmlformats.org/package/2006/relationships"><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 Id="rId5" Type="http://schemas.openxmlformats.org/officeDocument/2006/relationships/notesSlide" Target="../notesSlides/notesSlide14.xml"/><Relationship Id="rId4"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tags" Target="../tags/tag128.xml"/><Relationship Id="rId18" Type="http://schemas.openxmlformats.org/officeDocument/2006/relationships/tags" Target="../tags/tag133.xml"/><Relationship Id="rId26" Type="http://schemas.openxmlformats.org/officeDocument/2006/relationships/tags" Target="../tags/tag141.xml"/><Relationship Id="rId3" Type="http://schemas.openxmlformats.org/officeDocument/2006/relationships/tags" Target="../tags/tag118.xml"/><Relationship Id="rId21" Type="http://schemas.openxmlformats.org/officeDocument/2006/relationships/tags" Target="../tags/tag136.xml"/><Relationship Id="rId7" Type="http://schemas.openxmlformats.org/officeDocument/2006/relationships/tags" Target="../tags/tag122.xml"/><Relationship Id="rId12" Type="http://schemas.openxmlformats.org/officeDocument/2006/relationships/tags" Target="../tags/tag127.xml"/><Relationship Id="rId17" Type="http://schemas.openxmlformats.org/officeDocument/2006/relationships/tags" Target="../tags/tag132.xml"/><Relationship Id="rId25" Type="http://schemas.openxmlformats.org/officeDocument/2006/relationships/tags" Target="../tags/tag140.xml"/><Relationship Id="rId2" Type="http://schemas.openxmlformats.org/officeDocument/2006/relationships/tags" Target="../tags/tag117.xml"/><Relationship Id="rId16" Type="http://schemas.openxmlformats.org/officeDocument/2006/relationships/tags" Target="../tags/tag131.xml"/><Relationship Id="rId20" Type="http://schemas.openxmlformats.org/officeDocument/2006/relationships/tags" Target="../tags/tag135.xml"/><Relationship Id="rId29" Type="http://schemas.openxmlformats.org/officeDocument/2006/relationships/image" Target="../media/image8.png"/><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24" Type="http://schemas.openxmlformats.org/officeDocument/2006/relationships/tags" Target="../tags/tag139.xml"/><Relationship Id="rId5" Type="http://schemas.openxmlformats.org/officeDocument/2006/relationships/tags" Target="../tags/tag120.xml"/><Relationship Id="rId15" Type="http://schemas.openxmlformats.org/officeDocument/2006/relationships/tags" Target="../tags/tag130.xml"/><Relationship Id="rId23" Type="http://schemas.openxmlformats.org/officeDocument/2006/relationships/tags" Target="../tags/tag138.xml"/><Relationship Id="rId28" Type="http://schemas.openxmlformats.org/officeDocument/2006/relationships/notesSlide" Target="../notesSlides/notesSlide15.xml"/><Relationship Id="rId10" Type="http://schemas.openxmlformats.org/officeDocument/2006/relationships/tags" Target="../tags/tag125.xml"/><Relationship Id="rId19" Type="http://schemas.openxmlformats.org/officeDocument/2006/relationships/tags" Target="../tags/tag134.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tags" Target="../tags/tag129.xml"/><Relationship Id="rId22" Type="http://schemas.openxmlformats.org/officeDocument/2006/relationships/tags" Target="../tags/tag137.xml"/><Relationship Id="rId27" Type="http://schemas.openxmlformats.org/officeDocument/2006/relationships/slideLayout" Target="../slideLayouts/slideLayout3.xml"/><Relationship Id="rId30"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5" Type="http://schemas.openxmlformats.org/officeDocument/2006/relationships/notesSlide" Target="../notesSlides/notesSlide18.xml"/><Relationship Id="rId4"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14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14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14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14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14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tags" Target="../tags/tag15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15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1090892" y="1739723"/>
            <a:ext cx="6883213" cy="2375078"/>
          </a:xfrm>
          <a:prstGeom prst="rect">
            <a:avLst/>
          </a:prstGeom>
        </p:spPr>
        <p:txBody>
          <a:bodyPr>
            <a:normAutofit lnSpcReduction="10000"/>
          </a:bodyPr>
          <a:lstStyle>
            <a:lvl1pPr algn="l" defTabSz="914400" rtl="0" eaLnBrk="1" latinLnBrk="0" hangingPunct="1">
              <a:lnSpc>
                <a:spcPct val="90000"/>
              </a:lnSpc>
              <a:spcBef>
                <a:spcPct val="0"/>
              </a:spcBef>
              <a:buNone/>
              <a:defRPr sz="4000" b="1" i="0" kern="1200">
                <a:solidFill>
                  <a:schemeClr val="bg1"/>
                </a:solidFill>
                <a:latin typeface="微软雅黑" panose="020B0503020204020204" charset="-122"/>
                <a:ea typeface="微软雅黑" panose="020B0503020204020204" charset="-122"/>
                <a:cs typeface="微软雅黑" panose="020B0503020204020204" charset="-122"/>
              </a:defRPr>
            </a:lvl1pPr>
          </a:lstStyle>
          <a:p>
            <a:pPr algn="ctr">
              <a:lnSpc>
                <a:spcPct val="150000"/>
              </a:lnSpc>
            </a:pPr>
            <a:r>
              <a:rPr kumimoji="1" lang="en-US" altLang="zh-CN" spc="225" dirty="0"/>
              <a:t>NOIP</a:t>
            </a:r>
            <a:r>
              <a:rPr kumimoji="1" lang="zh-CN" altLang="en-US" spc="225" dirty="0"/>
              <a:t>代码编程</a:t>
            </a:r>
            <a:endParaRPr kumimoji="1" lang="en-US" altLang="zh-CN" spc="225" dirty="0"/>
          </a:p>
          <a:p>
            <a:pPr algn="ctr">
              <a:lnSpc>
                <a:spcPct val="150000"/>
              </a:lnSpc>
            </a:pPr>
            <a:r>
              <a:rPr kumimoji="1" lang="en-US" altLang="zh-CN" sz="2600" spc="225" dirty="0"/>
              <a:t>NOIP 2-1-2</a:t>
            </a:r>
            <a:endParaRPr kumimoji="1" lang="en-US" altLang="zh-CN" sz="1800" b="0" spc="225" dirty="0"/>
          </a:p>
          <a:p>
            <a:pPr algn="ctr">
              <a:lnSpc>
                <a:spcPct val="150000"/>
              </a:lnSpc>
            </a:pPr>
            <a:endParaRPr kumimoji="1" lang="zh-CN" altLang="en-US" sz="1800" b="0" spc="225" dirty="0">
              <a:sym typeface="+mn-ea"/>
            </a:endParaRPr>
          </a:p>
          <a:p>
            <a:pPr algn="ctr">
              <a:lnSpc>
                <a:spcPct val="150000"/>
              </a:lnSpc>
            </a:pPr>
            <a:r>
              <a:rPr kumimoji="1" lang="zh-CN" sz="1800" b="0" spc="225" dirty="0">
                <a:sym typeface="+mn-ea"/>
              </a:rPr>
              <a:t>动态规划</a:t>
            </a:r>
            <a:r>
              <a:rPr kumimoji="1" lang="en-US" altLang="zh-CN" sz="1800" b="0" spc="225" dirty="0">
                <a:sym typeface="+mn-ea"/>
              </a:rPr>
              <a:t>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2602007" y="1472464"/>
            <a:ext cx="5246549" cy="3005407"/>
          </a:xfrm>
          <a:prstGeom prst="rect">
            <a:avLst/>
          </a:prstGeom>
        </p:spPr>
        <p:txBody>
          <a:bodyPr>
            <a:normAutofit/>
          </a:bodyPr>
          <a:lstStyle>
            <a:lvl1pPr algn="l" defTabSz="914400" rtl="0" eaLnBrk="1" latinLnBrk="0" hangingPunct="1">
              <a:lnSpc>
                <a:spcPct val="90000"/>
              </a:lnSpc>
              <a:spcBef>
                <a:spcPct val="0"/>
              </a:spcBef>
              <a:buNone/>
              <a:defRPr sz="4000" b="1" i="0" kern="1200">
                <a:solidFill>
                  <a:schemeClr val="bg1"/>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kumimoji="1" lang="en-US" altLang="zh-CN" sz="3600" b="0" dirty="0">
                <a:latin typeface="+mj-lt"/>
              </a:rPr>
              <a:t>1</a:t>
            </a:r>
            <a:r>
              <a:rPr kumimoji="1" lang="en-US" altLang="zh-CN" sz="2400" dirty="0">
                <a:latin typeface="+mj-lt"/>
              </a:rPr>
              <a:t>/</a:t>
            </a:r>
            <a:r>
              <a:rPr kumimoji="1" lang="zh-CN" altLang="en-US" sz="2400" dirty="0">
                <a:latin typeface="+mj-lt"/>
              </a:rPr>
              <a:t>  </a:t>
            </a:r>
            <a:r>
              <a:rPr kumimoji="1" lang="en-US" altLang="zh-CN" sz="2400" dirty="0">
                <a:latin typeface="+mj-lt"/>
              </a:rPr>
              <a:t> </a:t>
            </a:r>
            <a:r>
              <a:rPr kumimoji="1" lang="zh-CN" altLang="en-US" sz="2400" dirty="0"/>
              <a:t>课前回顾</a:t>
            </a:r>
            <a:endParaRPr kumimoji="1" lang="en-US" altLang="zh-CN" sz="2400" dirty="0"/>
          </a:p>
          <a:p>
            <a:pPr>
              <a:lnSpc>
                <a:spcPct val="100000"/>
              </a:lnSpc>
            </a:pPr>
            <a:r>
              <a:rPr kumimoji="1" lang="en-US" altLang="zh-CN" sz="3600" b="0" dirty="0">
                <a:latin typeface="+mj-lt"/>
              </a:rPr>
              <a:t>2</a:t>
            </a:r>
            <a:r>
              <a:rPr kumimoji="1" lang="en-US" altLang="zh-CN" sz="2400" dirty="0">
                <a:latin typeface="+mj-lt"/>
              </a:rPr>
              <a:t>/</a:t>
            </a:r>
            <a:r>
              <a:rPr kumimoji="1" lang="zh-CN" altLang="en-US" sz="2400" dirty="0"/>
              <a:t>  </a:t>
            </a:r>
            <a:r>
              <a:rPr kumimoji="1" lang="en-US" altLang="zh-CN" sz="2400" dirty="0"/>
              <a:t> 01</a:t>
            </a:r>
            <a:r>
              <a:rPr kumimoji="1" lang="zh-CN" altLang="en-US" sz="2400" dirty="0"/>
              <a:t>背包</a:t>
            </a:r>
            <a:endParaRPr kumimoji="1" lang="en-US" altLang="zh-CN" sz="2400" dirty="0"/>
          </a:p>
          <a:p>
            <a:pPr>
              <a:lnSpc>
                <a:spcPct val="100000"/>
              </a:lnSpc>
            </a:pPr>
            <a:r>
              <a:rPr kumimoji="1" lang="en-US" altLang="zh-CN" sz="3600" b="0" dirty="0">
                <a:latin typeface="+mj-lt"/>
              </a:rPr>
              <a:t>3</a:t>
            </a:r>
            <a:r>
              <a:rPr kumimoji="1" lang="en-US" altLang="zh-CN" sz="2400" dirty="0">
                <a:latin typeface="+mj-lt"/>
              </a:rPr>
              <a:t>/</a:t>
            </a:r>
            <a:r>
              <a:rPr kumimoji="1" lang="zh-CN" altLang="en-US" sz="2400" dirty="0"/>
              <a:t>  </a:t>
            </a:r>
            <a:r>
              <a:rPr kumimoji="1" lang="en-US" altLang="zh-CN" sz="2400" dirty="0"/>
              <a:t> 01</a:t>
            </a:r>
            <a:r>
              <a:rPr kumimoji="1" lang="zh-CN" altLang="en-US" sz="2400" dirty="0"/>
              <a:t>背包优化</a:t>
            </a:r>
            <a:endParaRPr kumimoji="1" lang="en-US" altLang="zh-CN" sz="2400" dirty="0"/>
          </a:p>
          <a:p>
            <a:pPr>
              <a:lnSpc>
                <a:spcPct val="100000"/>
              </a:lnSpc>
            </a:pPr>
            <a:r>
              <a:rPr kumimoji="1" lang="en-US" altLang="zh-CN" sz="3600" b="0" dirty="0">
                <a:latin typeface="+mj-lt"/>
              </a:rPr>
              <a:t>4</a:t>
            </a:r>
            <a:r>
              <a:rPr kumimoji="1" lang="en-US" altLang="zh-CN" sz="2400" dirty="0">
                <a:latin typeface="+mj-lt"/>
              </a:rPr>
              <a:t>/</a:t>
            </a:r>
            <a:r>
              <a:rPr kumimoji="1" lang="zh-CN" altLang="en-US" sz="2400" dirty="0"/>
              <a:t>  </a:t>
            </a:r>
            <a:r>
              <a:rPr kumimoji="1" lang="en-US" altLang="zh-CN" sz="2400" dirty="0"/>
              <a:t> </a:t>
            </a:r>
            <a:r>
              <a:rPr kumimoji="1" lang="zh-CN" altLang="en-US" sz="2400" dirty="0">
                <a:sym typeface="+mn-ea"/>
              </a:rPr>
              <a:t>课堂总结</a:t>
            </a:r>
            <a:endParaRPr kumimoji="1" lang="zh-CN" altLang="en-US" sz="2400" dirty="0"/>
          </a:p>
          <a:p>
            <a:pPr algn="l">
              <a:lnSpc>
                <a:spcPct val="100000"/>
              </a:lnSpc>
              <a:buClrTx/>
              <a:buSzTx/>
              <a:buFontTx/>
            </a:pPr>
            <a:r>
              <a:rPr kumimoji="1" lang="en-US" altLang="zh-CN" sz="3600" b="0" dirty="0">
                <a:latin typeface="+mj-lt"/>
                <a:sym typeface="+mn-ea"/>
              </a:rPr>
              <a:t>5</a:t>
            </a:r>
            <a:r>
              <a:rPr kumimoji="1" lang="en-US" altLang="zh-CN" sz="2400" dirty="0">
                <a:latin typeface="+mj-lt"/>
                <a:sym typeface="+mn-ea"/>
              </a:rPr>
              <a:t>/</a:t>
            </a:r>
            <a:r>
              <a:rPr kumimoji="1" lang="en-US" altLang="zh-CN" sz="3600" b="0" dirty="0">
                <a:latin typeface="+mj-lt"/>
                <a:sym typeface="+mn-ea"/>
              </a:rPr>
              <a:t>  </a:t>
            </a:r>
            <a:r>
              <a:rPr kumimoji="1" lang="zh-CN" altLang="en-US" sz="2400" dirty="0">
                <a:sym typeface="+mn-ea"/>
              </a:rPr>
              <a:t>相关练习</a:t>
            </a:r>
            <a:endParaRPr kumimoji="1" lang="en-US" altLang="zh-CN" sz="3600" b="0" dirty="0">
              <a:latin typeface="+mj-lt"/>
            </a:endParaRPr>
          </a:p>
          <a:p>
            <a:pPr>
              <a:lnSpc>
                <a:spcPct val="100000"/>
              </a:lnSpc>
            </a:pPr>
            <a:endParaRPr kumimoji="1" lang="en-US" altLang="zh-CN" sz="2400" b="0" spc="300" dirty="0"/>
          </a:p>
          <a:p>
            <a:pPr>
              <a:lnSpc>
                <a:spcPct val="100000"/>
              </a:lnSpc>
            </a:pPr>
            <a:endParaRPr kumimoji="1" lang="en-US" altLang="zh-CN" sz="2400" b="0" spc="300" dirty="0"/>
          </a:p>
          <a:p>
            <a:pPr>
              <a:lnSpc>
                <a:spcPct val="150000"/>
              </a:lnSpc>
            </a:pPr>
            <a:endParaRPr kumimoji="1" lang="en-US" altLang="zh-CN" sz="2400" b="0" spc="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840443" y="2138092"/>
            <a:ext cx="6582334" cy="833707"/>
          </a:xfrm>
          <a:prstGeom prst="rect">
            <a:avLst/>
          </a:prstGeom>
        </p:spPr>
        <p:txBody>
          <a:bodyPr>
            <a:normAutofit/>
          </a:bodyPr>
          <a:lstStyle>
            <a:lvl1pPr algn="l" defTabSz="914400" rtl="0" eaLnBrk="1" latinLnBrk="0" hangingPunct="1">
              <a:lnSpc>
                <a:spcPct val="90000"/>
              </a:lnSpc>
              <a:spcBef>
                <a:spcPct val="0"/>
              </a:spcBef>
              <a:buNone/>
              <a:defRPr sz="4000" b="1" i="0" kern="1200">
                <a:solidFill>
                  <a:schemeClr val="bg1"/>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kumimoji="1" lang="en-US" altLang="zh-CN" sz="4400" b="0" dirty="0">
                <a:latin typeface="+mj-lt"/>
              </a:rPr>
              <a:t>1</a:t>
            </a:r>
            <a:r>
              <a:rPr kumimoji="1" lang="en-US" altLang="zh-CN" sz="3200" dirty="0">
                <a:latin typeface="+mj-lt"/>
              </a:rPr>
              <a:t>/</a:t>
            </a:r>
            <a:r>
              <a:rPr kumimoji="1" lang="zh-CN" altLang="en-US" sz="3200" dirty="0">
                <a:latin typeface="+mj-lt"/>
              </a:rPr>
              <a:t>  </a:t>
            </a:r>
            <a:r>
              <a:rPr kumimoji="1" lang="en-US" altLang="zh-CN" sz="3200" dirty="0">
                <a:latin typeface="+mj-lt"/>
              </a:rPr>
              <a:t> </a:t>
            </a:r>
            <a:r>
              <a:rPr kumimoji="1" lang="zh-CN" altLang="en-US" sz="3200" dirty="0">
                <a:latin typeface="+mj-lt"/>
              </a:rPr>
              <a:t>课前回顾</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custDataLst>
              <p:tags r:id="rId1"/>
            </p:custDataLst>
          </p:nvPr>
        </p:nvSpPr>
        <p:spPr>
          <a:xfrm>
            <a:off x="189230" y="243205"/>
            <a:ext cx="8566150" cy="677545"/>
          </a:xfrm>
          <a:prstGeom prst="rect">
            <a:avLst/>
          </a:prstGeom>
        </p:spPr>
        <p:txBody>
          <a:bodyPr vert="horz" lIns="68580" tIns="34290" rIns="68580" bIns="34290" rtlCol="0" anchor="ctr">
            <a:normAutofit/>
          </a:bodyPr>
          <a:lstStyle>
            <a:lvl1pPr algn="l" defTabSz="914400" rtl="0" eaLnBrk="1" latinLnBrk="0" hangingPunct="1">
              <a:lnSpc>
                <a:spcPct val="85000"/>
              </a:lnSpc>
              <a:spcBef>
                <a:spcPct val="0"/>
              </a:spcBef>
              <a:buNone/>
              <a:defRPr sz="4000" kern="1200" spc="-50" baseline="0">
                <a:solidFill>
                  <a:schemeClr val="tx1">
                    <a:lumMod val="75000"/>
                    <a:lumOff val="25000"/>
                  </a:schemeClr>
                </a:solidFill>
                <a:latin typeface="微软雅黑" panose="020B0503020204020204" charset="-122"/>
                <a:ea typeface="微软雅黑" panose="020B0503020204020204" charset="-122"/>
                <a:cs typeface="+mj-cs"/>
              </a:defRPr>
            </a:lvl1pPr>
          </a:lstStyle>
          <a:p>
            <a:r>
              <a:rPr lang="en-US" altLang="zh-CN" sz="2400" b="1" spc="0" dirty="0">
                <a:solidFill>
                  <a:srgbClr val="003CA6"/>
                </a:solidFill>
              </a:rPr>
              <a:t>DP</a:t>
            </a:r>
            <a:r>
              <a:rPr lang="zh-CN" altLang="en-US" sz="2400" b="1" spc="0" dirty="0">
                <a:solidFill>
                  <a:srgbClr val="003CA6"/>
                </a:solidFill>
              </a:rPr>
              <a:t>入门</a:t>
            </a:r>
          </a:p>
        </p:txBody>
      </p:sp>
      <p:sp>
        <p:nvSpPr>
          <p:cNvPr id="3" name="文本框 2"/>
          <p:cNvSpPr txBox="1"/>
          <p:nvPr>
            <p:custDataLst>
              <p:tags r:id="rId2"/>
            </p:custDataLst>
          </p:nvPr>
        </p:nvSpPr>
        <p:spPr>
          <a:xfrm>
            <a:off x="1143000" y="1429728"/>
            <a:ext cx="6335486" cy="1665905"/>
          </a:xfrm>
          <a:prstGeom prst="rect">
            <a:avLst/>
          </a:prstGeom>
          <a:noFill/>
        </p:spPr>
        <p:txBody>
          <a:bodyPr wrap="square" rtlCol="0">
            <a:spAutoFit/>
          </a:bodyPr>
          <a:lstStyle/>
          <a:p>
            <a:pPr>
              <a:lnSpc>
                <a:spcPct val="200000"/>
              </a:lnSpc>
            </a:pPr>
            <a:r>
              <a:rPr lang="en-US" altLang="zh-CN" dirty="0"/>
              <a:t>DP</a:t>
            </a:r>
            <a:r>
              <a:rPr lang="zh-CN" altLang="en-US" dirty="0"/>
              <a:t>三连：</a:t>
            </a:r>
            <a:endParaRPr lang="en-US" altLang="zh-CN" dirty="0"/>
          </a:p>
          <a:p>
            <a:pPr>
              <a:lnSpc>
                <a:spcPct val="200000"/>
              </a:lnSpc>
            </a:pPr>
            <a:r>
              <a:rPr lang="en-US" altLang="zh-CN" dirty="0"/>
              <a:t>	</a:t>
            </a:r>
            <a:r>
              <a:rPr lang="zh-CN" altLang="en-US" dirty="0"/>
              <a:t>状态：</a:t>
            </a:r>
            <a:r>
              <a:rPr lang="en-US" altLang="zh-CN" dirty="0"/>
              <a:t>		</a:t>
            </a:r>
            <a:r>
              <a:rPr lang="zh-CN" altLang="en-US" dirty="0"/>
              <a:t>①我是谁？</a:t>
            </a:r>
            <a:endParaRPr lang="en-US" altLang="zh-CN" dirty="0"/>
          </a:p>
          <a:p>
            <a:pPr>
              <a:lnSpc>
                <a:spcPct val="200000"/>
              </a:lnSpc>
            </a:pPr>
            <a:r>
              <a:rPr lang="en-US" altLang="zh-CN" dirty="0"/>
              <a:t>	</a:t>
            </a:r>
            <a:r>
              <a:rPr lang="zh-CN" altLang="en-US" dirty="0"/>
              <a:t>转移方程：</a:t>
            </a:r>
            <a:r>
              <a:rPr lang="en-US" altLang="zh-CN" dirty="0"/>
              <a:t>	</a:t>
            </a:r>
            <a:r>
              <a:rPr lang="zh-CN" altLang="en-US" dirty="0"/>
              <a:t>②我从哪来？</a:t>
            </a:r>
            <a:r>
              <a:rPr lang="en-US" altLang="zh-CN" dirty="0"/>
              <a:t>/ </a:t>
            </a:r>
            <a:r>
              <a:rPr lang="zh-CN" altLang="en-US" dirty="0"/>
              <a:t>③我要到哪去？</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840443" y="2138092"/>
            <a:ext cx="6582334" cy="833707"/>
          </a:xfrm>
          <a:prstGeom prst="rect">
            <a:avLst/>
          </a:prstGeom>
        </p:spPr>
        <p:txBody>
          <a:bodyPr>
            <a:normAutofit/>
          </a:bodyPr>
          <a:lstStyle>
            <a:lvl1pPr algn="l" defTabSz="914400" rtl="0" eaLnBrk="1" latinLnBrk="0" hangingPunct="1">
              <a:lnSpc>
                <a:spcPct val="90000"/>
              </a:lnSpc>
              <a:spcBef>
                <a:spcPct val="0"/>
              </a:spcBef>
              <a:buNone/>
              <a:defRPr sz="4000" b="1" i="0" kern="1200">
                <a:solidFill>
                  <a:schemeClr val="bg1"/>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kumimoji="1" lang="en-US" altLang="zh-CN" sz="4400" b="0" dirty="0">
                <a:latin typeface="+mj-lt"/>
              </a:rPr>
              <a:t>2</a:t>
            </a:r>
            <a:r>
              <a:rPr kumimoji="1" lang="en-US" altLang="zh-CN" sz="3200" dirty="0">
                <a:latin typeface="+mj-lt"/>
              </a:rPr>
              <a:t>/</a:t>
            </a:r>
            <a:r>
              <a:rPr kumimoji="1" lang="zh-CN" altLang="en-US" sz="3200" dirty="0">
                <a:latin typeface="+mj-lt"/>
              </a:rPr>
              <a:t>  </a:t>
            </a:r>
            <a:r>
              <a:rPr kumimoji="1" lang="en-US" altLang="zh-CN" sz="3200" dirty="0">
                <a:latin typeface="+mj-lt"/>
              </a:rPr>
              <a:t> 01</a:t>
            </a:r>
            <a:r>
              <a:rPr kumimoji="1" lang="zh-CN" altLang="en-US" sz="3200" dirty="0">
                <a:latin typeface="+mj-lt"/>
              </a:rPr>
              <a:t>背包</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custDataLst>
              <p:tags r:id="rId1"/>
            </p:custDataLst>
          </p:nvPr>
        </p:nvSpPr>
        <p:spPr>
          <a:xfrm>
            <a:off x="519675" y="368275"/>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sym typeface="+mn-ea"/>
              </a:rPr>
              <a:t>背包问题模型</a:t>
            </a:r>
            <a:endParaRPr lang="zh-CN" altLang="en-US" sz="2400" b="1" dirty="0">
              <a:solidFill>
                <a:srgbClr val="003CA6"/>
              </a:solidFill>
              <a:latin typeface="微软雅黑" panose="020B0503020204020204" charset="-122"/>
              <a:ea typeface="微软雅黑" panose="020B0503020204020204" charset="-122"/>
            </a:endParaRPr>
          </a:p>
        </p:txBody>
      </p:sp>
      <p:sp>
        <p:nvSpPr>
          <p:cNvPr id="3" name="文本框 2"/>
          <p:cNvSpPr txBox="1"/>
          <p:nvPr/>
        </p:nvSpPr>
        <p:spPr>
          <a:xfrm>
            <a:off x="354330" y="911860"/>
            <a:ext cx="7472045" cy="3415030"/>
          </a:xfrm>
          <a:prstGeom prst="rect">
            <a:avLst/>
          </a:prstGeom>
          <a:noFill/>
        </p:spPr>
        <p:txBody>
          <a:bodyPr wrap="square" rtlCol="0" anchor="t">
            <a:spAutoFit/>
          </a:bodyPr>
          <a:lstStyle/>
          <a:p>
            <a:pPr marL="0" indent="457200" algn="l" fontAlgn="auto">
              <a:lnSpc>
                <a:spcPct val="150000"/>
              </a:lnSpc>
              <a:spcBef>
                <a:spcPts val="0"/>
              </a:spcBef>
              <a:buNone/>
            </a:pP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明天学校就组织春游了，你和妈妈一起去超市采购你喜欢吃的零食饮料，你很喜欢吃薯片也喜欢喝可乐还有许多别的零食都是最爱，妈妈规定你每种零食只能买一样，而且超市推车的容量有限，假设我们给定推车的容量，也给出你喜欢每样零食的程度，也给出每样零食所占的体积，问该怎么选这些零食能让推车中的零食总喜爱度最高呢？</a:t>
            </a:r>
          </a:p>
          <a:p>
            <a:pPr marL="0" indent="457200" algn="l" fontAlgn="auto">
              <a:lnSpc>
                <a:spcPct val="150000"/>
              </a:lnSpc>
              <a:spcBef>
                <a:spcPts val="0"/>
              </a:spcBef>
              <a:buNone/>
            </a:pPr>
            <a:endPar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indent="0" algn="l" fontAlgn="auto">
              <a:lnSpc>
                <a:spcPct val="150000"/>
              </a:lnSpc>
              <a:spcBef>
                <a:spcPts val="0"/>
              </a:spcBef>
              <a:buNone/>
            </a:pP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比如推车的容量是</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70</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，有</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种零食</a:t>
            </a:r>
          </a:p>
          <a:p>
            <a:pPr marL="0" indent="0" algn="l" fontAlgn="auto">
              <a:lnSpc>
                <a:spcPct val="150000"/>
              </a:lnSpc>
              <a:spcBef>
                <a:spcPts val="0"/>
              </a:spcBef>
              <a:buNone/>
            </a:pP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第一种零食喜爱程度是</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100 </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体积为</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71</a:t>
            </a:r>
          </a:p>
          <a:p>
            <a:pPr marL="0" indent="0" algn="l" fontAlgn="auto">
              <a:lnSpc>
                <a:spcPct val="150000"/>
              </a:lnSpc>
              <a:spcBef>
                <a:spcPts val="0"/>
              </a:spcBef>
              <a:buNone/>
            </a:pP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第二种零食喜爱程度是</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     </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体积是</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69</a:t>
            </a:r>
          </a:p>
          <a:p>
            <a:pPr marL="0" indent="0" algn="l" fontAlgn="auto">
              <a:lnSpc>
                <a:spcPct val="150000"/>
              </a:lnSpc>
              <a:spcBef>
                <a:spcPts val="0"/>
              </a:spcBef>
              <a:buNone/>
            </a:pP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第三种零食喜爱程度是</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     </a:t>
            </a: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体积是</a:t>
            </a:r>
            <a:r>
              <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a:t>
            </a:r>
          </a:p>
          <a:p>
            <a:pPr marL="0" indent="0" algn="l" fontAlgn="auto">
              <a:lnSpc>
                <a:spcPct val="150000"/>
              </a:lnSpc>
              <a:spcBef>
                <a:spcPts val="0"/>
              </a:spcBef>
              <a:buNone/>
            </a:pPr>
            <a:endParaRPr lang="en-US"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indent="0" algn="l" fontAlgn="auto">
              <a:lnSpc>
                <a:spcPct val="150000"/>
              </a:lnSpc>
              <a:spcBef>
                <a:spcPts val="0"/>
              </a:spcBef>
              <a:buNone/>
            </a:pPr>
            <a:r>
              <a:rPr lang="zh-CN" altLang="en-US"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我们一眼就能看出应该买第二个零食和第三个零食（因为第一个根本装不下），但是如果有更多种类的零食可供选择还能一眼看出来吗？</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custDataLst>
              <p:tags r:id="rId1"/>
            </p:custDataLst>
          </p:nvPr>
        </p:nvSpPr>
        <p:spPr>
          <a:xfrm>
            <a:off x="519675" y="368275"/>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sym typeface="+mn-ea"/>
              </a:rPr>
              <a:t>背包问题模型</a:t>
            </a:r>
            <a:endParaRPr lang="zh-CN" altLang="en-US" sz="2400" b="1" dirty="0">
              <a:solidFill>
                <a:srgbClr val="003CA6"/>
              </a:solidFill>
              <a:latin typeface="微软雅黑" panose="020B0503020204020204" charset="-122"/>
              <a:ea typeface="微软雅黑" panose="020B0503020204020204" charset="-122"/>
            </a:endParaRPr>
          </a:p>
        </p:txBody>
      </p:sp>
      <p:sp>
        <p:nvSpPr>
          <p:cNvPr id="3" name="文本框 2"/>
          <p:cNvSpPr txBox="1"/>
          <p:nvPr/>
        </p:nvSpPr>
        <p:spPr>
          <a:xfrm>
            <a:off x="986155" y="1532890"/>
            <a:ext cx="2960370" cy="1938020"/>
          </a:xfrm>
          <a:prstGeom prst="rect">
            <a:avLst/>
          </a:prstGeom>
          <a:noFill/>
          <a:ln>
            <a:solidFill>
              <a:schemeClr val="tx1"/>
            </a:solidFill>
          </a:ln>
        </p:spPr>
        <p:txBody>
          <a:bodyPr wrap="square" rtlCol="0" anchor="t">
            <a:spAutoFit/>
          </a:bodyPr>
          <a:lstStyle/>
          <a:p>
            <a:pPr marL="0" indent="0" algn="l" fontAlgn="auto">
              <a:lnSpc>
                <a:spcPct val="150000"/>
              </a:lnSpc>
              <a:spcBef>
                <a:spcPts val="0"/>
              </a:spcBef>
              <a:buNone/>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推车容量为</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10</a:t>
            </a:r>
          </a:p>
          <a:p>
            <a:pPr marL="0" indent="0" algn="l" fontAlgn="auto">
              <a:lnSpc>
                <a:spcPct val="150000"/>
              </a:lnSpc>
              <a:spcBef>
                <a:spcPts val="0"/>
              </a:spcBef>
              <a:buNone/>
            </a:pP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种零食的体积和喜爱值分别为</a:t>
            </a:r>
          </a:p>
          <a:p>
            <a:pPr marL="228600" indent="-228600" algn="l" fontAlgn="auto">
              <a:lnSpc>
                <a:spcPct val="150000"/>
              </a:lnSpc>
              <a:spcBef>
                <a:spcPts val="0"/>
              </a:spcBef>
              <a:buFont typeface="+mj-ea"/>
              <a:buAutoNum type="circleNumDbPlain"/>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薯片</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8</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10</a:t>
            </a:r>
          </a:p>
          <a:p>
            <a:pPr marL="228600" indent="-228600" algn="l" fontAlgn="auto">
              <a:lnSpc>
                <a:spcPct val="150000"/>
              </a:lnSpc>
              <a:spcBef>
                <a:spcPts val="0"/>
              </a:spcBef>
              <a:buFont typeface="+mj-ea"/>
              <a:buAutoNum type="circleNumDbPlain"/>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可乐</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4</a:t>
            </a:r>
            <a:r>
              <a:rPr lang="zh-CN" altLang="en-US" sz="1600" dirty="0" smtClean="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5</a:t>
            </a:r>
            <a:endPar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28600" indent="-228600" algn="l" fontAlgn="auto">
              <a:lnSpc>
                <a:spcPct val="150000"/>
              </a:lnSpc>
              <a:spcBef>
                <a:spcPts val="0"/>
              </a:spcBef>
              <a:buFont typeface="+mj-ea"/>
              <a:buAutoNum type="circleNumDbPlain"/>
            </a:pP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饼干</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6</a:t>
            </a:r>
            <a:r>
              <a:rPr lang="zh-CN" altLang="en-US"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6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6</a:t>
            </a:r>
          </a:p>
        </p:txBody>
      </p:sp>
      <p:sp>
        <p:nvSpPr>
          <p:cNvPr id="4" name="文本框 3"/>
          <p:cNvSpPr txBox="1"/>
          <p:nvPr>
            <p:custDataLst>
              <p:tags r:id="rId2"/>
            </p:custDataLst>
          </p:nvPr>
        </p:nvSpPr>
        <p:spPr>
          <a:xfrm>
            <a:off x="4267200" y="1783715"/>
            <a:ext cx="3634740" cy="922020"/>
          </a:xfrm>
          <a:prstGeom prst="rect">
            <a:avLst/>
          </a:prstGeom>
          <a:noFill/>
        </p:spPr>
        <p:txBody>
          <a:bodyPr wrap="square" rtlCol="0" anchor="t">
            <a:spAutoFit/>
          </a:bodyPr>
          <a:lstStyle/>
          <a:p>
            <a:pPr marL="0" indent="0" algn="l" fontAlgn="auto">
              <a:lnSpc>
                <a:spcPct val="150000"/>
              </a:lnSpc>
              <a:spcBef>
                <a:spcPts val="0"/>
              </a:spcBef>
              <a:buNone/>
            </a:pPr>
            <a:r>
              <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在动态规划入门中我们已经学习过，</a:t>
            </a:r>
          </a:p>
          <a:p>
            <a:pPr marL="0" indent="0" algn="l" fontAlgn="auto">
              <a:lnSpc>
                <a:spcPct val="150000"/>
              </a:lnSpc>
              <a:spcBef>
                <a:spcPts val="0"/>
              </a:spcBef>
              <a:buNone/>
            </a:pPr>
            <a:r>
              <a:rPr 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这样的情况用贪心求解是无法保证得到正确答案的。</a:t>
            </a:r>
          </a:p>
          <a:p>
            <a:pPr marL="0" indent="0" algn="l" fontAlgn="auto">
              <a:lnSpc>
                <a:spcPct val="150000"/>
              </a:lnSpc>
              <a:spcBef>
                <a:spcPts val="0"/>
              </a:spcBef>
              <a:buNone/>
            </a:pPr>
            <a:r>
              <a:rPr lang="zh-CN" altLang="zh-CN" sz="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那么应该怎样去思考呢？</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3b32313539313534303bc7fac6e6b1fdb8c9"/>
          <p:cNvPicPr>
            <a:picLocks noChangeAspect="1"/>
          </p:cNvPicPr>
          <p:nvPr/>
        </p:nvPicPr>
        <p:blipFill>
          <a:blip r:embed="rId6">
            <a:extLst>
              <a:ext uri="{96DAC541-7B7A-43D3-8B79-37D633B846F1}">
                <asvg:svgBlip xmlns:asvg="http://schemas.microsoft.com/office/drawing/2016/SVG/main" xmlns="" r:embed="rId7"/>
              </a:ext>
            </a:extLst>
          </a:blip>
          <a:stretch>
            <a:fillRect/>
          </a:stretch>
        </p:blipFill>
        <p:spPr>
          <a:xfrm>
            <a:off x="1823720" y="1082675"/>
            <a:ext cx="463550" cy="463550"/>
          </a:xfrm>
          <a:prstGeom prst="rect">
            <a:avLst/>
          </a:prstGeom>
        </p:spPr>
      </p:pic>
      <p:sp>
        <p:nvSpPr>
          <p:cNvPr id="19" name="标题 1"/>
          <p:cNvSpPr txBox="1"/>
          <p:nvPr>
            <p:custDataLst>
              <p:tags r:id="rId1"/>
            </p:custDataLst>
          </p:nvPr>
        </p:nvSpPr>
        <p:spPr>
          <a:xfrm>
            <a:off x="519675" y="368275"/>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sym typeface="+mn-ea"/>
              </a:rPr>
              <a:t>背包问题模型</a:t>
            </a:r>
            <a:endParaRPr lang="zh-CN" altLang="en-US" sz="2400" b="1" dirty="0">
              <a:solidFill>
                <a:srgbClr val="003CA6"/>
              </a:solidFill>
              <a:latin typeface="微软雅黑" panose="020B0503020204020204" charset="-122"/>
              <a:ea typeface="微软雅黑" panose="020B0503020204020204" charset="-122"/>
            </a:endParaRPr>
          </a:p>
        </p:txBody>
      </p:sp>
      <p:pic>
        <p:nvPicPr>
          <p:cNvPr id="6" name="图片 5" descr="3b32313534343735383bcaedc6ac"/>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rot="18540000">
            <a:off x="6342380" y="904875"/>
            <a:ext cx="817880" cy="817880"/>
          </a:xfrm>
          <a:prstGeom prst="rect">
            <a:avLst/>
          </a:prstGeom>
        </p:spPr>
      </p:pic>
      <p:pic>
        <p:nvPicPr>
          <p:cNvPr id="7" name="图片 6" descr="3b32313539313533373bbfc9c0d6"/>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rot="20160000">
            <a:off x="3929380" y="977900"/>
            <a:ext cx="672465" cy="672465"/>
          </a:xfrm>
          <a:prstGeom prst="rect">
            <a:avLst/>
          </a:prstGeom>
        </p:spPr>
      </p:pic>
      <p:pic>
        <p:nvPicPr>
          <p:cNvPr id="9" name="图片 8" descr="3b32313538313337393bcdc6b3b5"/>
          <p:cNvPicPr>
            <a:picLocks noChangeAspect="1"/>
          </p:cNvPicPr>
          <p:nvPr>
            <p:custDataLst>
              <p:tags r:id="rId2"/>
            </p:custDataLst>
          </p:nvPr>
        </p:nvPicPr>
        <p:blipFill>
          <a:blip r:embed="rId12">
            <a:extLst>
              <a:ext uri="{96DAC541-7B7A-43D3-8B79-37D633B846F1}">
                <asvg:svgBlip xmlns:asvg="http://schemas.microsoft.com/office/drawing/2016/SVG/main" xmlns="" r:embed="rId13"/>
              </a:ext>
            </a:extLst>
          </a:blip>
          <a:stretch>
            <a:fillRect/>
          </a:stretch>
        </p:blipFill>
        <p:spPr>
          <a:xfrm>
            <a:off x="7489190" y="1860550"/>
            <a:ext cx="1381760" cy="1381760"/>
          </a:xfrm>
          <a:prstGeom prst="rect">
            <a:avLst/>
          </a:prstGeom>
        </p:spPr>
      </p:pic>
      <p:sp>
        <p:nvSpPr>
          <p:cNvPr id="3" name="文本框 2"/>
          <p:cNvSpPr txBox="1"/>
          <p:nvPr/>
        </p:nvSpPr>
        <p:spPr>
          <a:xfrm>
            <a:off x="7489190" y="1203960"/>
            <a:ext cx="1095375" cy="368300"/>
          </a:xfrm>
          <a:prstGeom prst="rect">
            <a:avLst/>
          </a:prstGeom>
          <a:noFill/>
        </p:spPr>
        <p:txBody>
          <a:bodyPr wrap="square" rtlCol="0">
            <a:spAutoFit/>
          </a:bodyPr>
          <a:lstStyle/>
          <a:p>
            <a:r>
              <a:rPr lang="zh-CN" altLang="en-US"/>
              <a:t>要不要？</a:t>
            </a:r>
          </a:p>
        </p:txBody>
      </p:sp>
      <p:sp>
        <p:nvSpPr>
          <p:cNvPr id="2" name="文本框 1"/>
          <p:cNvSpPr txBox="1"/>
          <p:nvPr>
            <p:custDataLst>
              <p:tags r:id="rId3"/>
            </p:custDataLst>
          </p:nvPr>
        </p:nvSpPr>
        <p:spPr>
          <a:xfrm>
            <a:off x="237490" y="3553460"/>
            <a:ext cx="2049780" cy="1303020"/>
          </a:xfrm>
          <a:prstGeom prst="rect">
            <a:avLst/>
          </a:prstGeom>
          <a:noFill/>
          <a:ln>
            <a:solidFill>
              <a:schemeClr val="tx1"/>
            </a:solidFill>
          </a:ln>
        </p:spPr>
        <p:txBody>
          <a:bodyPr wrap="square" rtlCol="0" anchor="t">
            <a:noAutofit/>
          </a:bodyPr>
          <a:lstStyle/>
          <a:p>
            <a:pPr marL="0" indent="0" algn="l" fontAlgn="auto">
              <a:lnSpc>
                <a:spcPct val="150000"/>
              </a:lnSpc>
              <a:spcBef>
                <a:spcPts val="0"/>
              </a:spcBef>
              <a:buNone/>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推车容量为</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10</a:t>
            </a:r>
          </a:p>
          <a:p>
            <a:pPr marL="0" indent="0" algn="l" fontAlgn="auto">
              <a:lnSpc>
                <a:spcPct val="150000"/>
              </a:lnSpc>
              <a:spcBef>
                <a:spcPts val="0"/>
              </a:spcBef>
              <a:buNone/>
            </a:pP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种零食的体积和喜爱值分别为</a:t>
            </a: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薯片</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8</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10</a:t>
            </a: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可乐</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4</a:t>
            </a:r>
            <a:r>
              <a:rPr lang="zh-CN" altLang="en-US" sz="1000" dirty="0" smtClean="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5</a:t>
            </a:r>
            <a:endPar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饼干</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6</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 0 L -0.146875 0 " pathEditMode="relative" ptsTypes="">
                                      <p:cBhvr>
                                        <p:cTn id="6" dur="1000" fill="hold"/>
                                        <p:tgtEl>
                                          <p:spTgt spid="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3b32313539313534303bc7fac6e6b1fdb8c9"/>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1823720" y="1082675"/>
            <a:ext cx="463550" cy="463550"/>
          </a:xfrm>
          <a:prstGeom prst="rect">
            <a:avLst/>
          </a:prstGeom>
        </p:spPr>
      </p:pic>
      <p:sp>
        <p:nvSpPr>
          <p:cNvPr id="19" name="标题 1"/>
          <p:cNvSpPr txBox="1"/>
          <p:nvPr>
            <p:custDataLst>
              <p:tags r:id="rId1"/>
            </p:custDataLst>
          </p:nvPr>
        </p:nvSpPr>
        <p:spPr>
          <a:xfrm>
            <a:off x="519675" y="368275"/>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sym typeface="+mn-ea"/>
              </a:rPr>
              <a:t>背包问题模型</a:t>
            </a:r>
            <a:endParaRPr lang="zh-CN" altLang="en-US" sz="2400" b="1" dirty="0">
              <a:solidFill>
                <a:srgbClr val="003CA6"/>
              </a:solidFill>
              <a:latin typeface="微软雅黑" panose="020B0503020204020204" charset="-122"/>
              <a:ea typeface="微软雅黑" panose="020B0503020204020204" charset="-122"/>
            </a:endParaRPr>
          </a:p>
        </p:txBody>
      </p:sp>
      <p:pic>
        <p:nvPicPr>
          <p:cNvPr id="7" name="图片 6" descr="3b32313539313533373bbfc9c0d6"/>
          <p:cNvPicPr>
            <a:picLocks noChangeAspect="1"/>
          </p:cNvPicPr>
          <p:nvPr/>
        </p:nvPicPr>
        <p:blipFill>
          <a:blip r:embed="rId10">
            <a:extLst>
              <a:ext uri="{96DAC541-7B7A-43D3-8B79-37D633B846F1}">
                <asvg:svgBlip xmlns:asvg="http://schemas.microsoft.com/office/drawing/2016/SVG/main" xmlns="" r:embed="rId11"/>
              </a:ext>
            </a:extLst>
          </a:blip>
          <a:stretch>
            <a:fillRect/>
          </a:stretch>
        </p:blipFill>
        <p:spPr>
          <a:xfrm rot="20160000">
            <a:off x="3929380" y="977900"/>
            <a:ext cx="672465" cy="672465"/>
          </a:xfrm>
          <a:prstGeom prst="rect">
            <a:avLst/>
          </a:prstGeom>
        </p:spPr>
      </p:pic>
      <p:pic>
        <p:nvPicPr>
          <p:cNvPr id="2" name="图片 1" descr="3b32313538313337393bcdc6b3b5"/>
          <p:cNvPicPr>
            <a:picLocks noChangeAspect="1"/>
          </p:cNvPicPr>
          <p:nvPr>
            <p:custDataLst>
              <p:tags r:id="rId2"/>
            </p:custDataLst>
          </p:nvPr>
        </p:nvPicPr>
        <p:blipFill>
          <a:blip r:embed="rId12">
            <a:extLst>
              <a:ext uri="{96DAC541-7B7A-43D3-8B79-37D633B846F1}">
                <asvg:svgBlip xmlns:asvg="http://schemas.microsoft.com/office/drawing/2016/SVG/main" xmlns="" r:embed="rId13"/>
              </a:ext>
            </a:extLst>
          </a:blip>
          <a:stretch>
            <a:fillRect/>
          </a:stretch>
        </p:blipFill>
        <p:spPr>
          <a:xfrm>
            <a:off x="6176010" y="2983230"/>
            <a:ext cx="1381760" cy="1381760"/>
          </a:xfrm>
          <a:prstGeom prst="rect">
            <a:avLst/>
          </a:prstGeom>
        </p:spPr>
      </p:pic>
      <p:grpSp>
        <p:nvGrpSpPr>
          <p:cNvPr id="10" name="组合 9"/>
          <p:cNvGrpSpPr/>
          <p:nvPr/>
        </p:nvGrpSpPr>
        <p:grpSpPr>
          <a:xfrm>
            <a:off x="6176010" y="1860550"/>
            <a:ext cx="1381760" cy="1381760"/>
            <a:chOff x="9726" y="2930"/>
            <a:chExt cx="2176" cy="2176"/>
          </a:xfrm>
        </p:grpSpPr>
        <p:grpSp>
          <p:nvGrpSpPr>
            <p:cNvPr id="5" name="组合 4"/>
            <p:cNvGrpSpPr/>
            <p:nvPr/>
          </p:nvGrpSpPr>
          <p:grpSpPr>
            <a:xfrm>
              <a:off x="9928" y="2930"/>
              <a:ext cx="1761" cy="1313"/>
              <a:chOff x="9928" y="2930"/>
              <a:chExt cx="1761" cy="1313"/>
            </a:xfrm>
          </p:grpSpPr>
          <p:pic>
            <p:nvPicPr>
              <p:cNvPr id="6" name="图片 5" descr="3b32313534343735383bcaedc6ac"/>
              <p:cNvPicPr>
                <a:picLocks noChangeAspect="1"/>
              </p:cNvPicPr>
              <p:nvPr/>
            </p:nvPicPr>
            <p:blipFill>
              <a:blip r:embed="rId14">
                <a:extLst>
                  <a:ext uri="{96DAC541-7B7A-43D3-8B79-37D633B846F1}">
                    <asvg:svgBlip xmlns:asvg="http://schemas.microsoft.com/office/drawing/2016/SVG/main" xmlns="" r:embed="rId15"/>
                  </a:ext>
                </a:extLst>
              </a:blip>
              <a:stretch>
                <a:fillRect/>
              </a:stretch>
            </p:blipFill>
            <p:spPr>
              <a:xfrm rot="18540000">
                <a:off x="9928" y="2955"/>
                <a:ext cx="1288" cy="1288"/>
              </a:xfrm>
              <a:prstGeom prst="rect">
                <a:avLst/>
              </a:prstGeom>
            </p:spPr>
          </p:pic>
          <p:sp>
            <p:nvSpPr>
              <p:cNvPr id="4" name="文本框 3"/>
              <p:cNvSpPr txBox="1"/>
              <p:nvPr/>
            </p:nvSpPr>
            <p:spPr>
              <a:xfrm>
                <a:off x="10909" y="2930"/>
                <a:ext cx="781" cy="580"/>
              </a:xfrm>
              <a:prstGeom prst="rect">
                <a:avLst/>
              </a:prstGeom>
              <a:noFill/>
            </p:spPr>
            <p:txBody>
              <a:bodyPr wrap="square" rtlCol="0">
                <a:spAutoFit/>
              </a:bodyPr>
              <a:lstStyle/>
              <a:p>
                <a:r>
                  <a:rPr lang="en-US" altLang="zh-CN"/>
                  <a:t>10</a:t>
                </a:r>
              </a:p>
            </p:txBody>
          </p:sp>
        </p:grpSp>
        <p:pic>
          <p:nvPicPr>
            <p:cNvPr id="9" name="图片 8" descr="3b32313538313337393bcdc6b3b5"/>
            <p:cNvPicPr>
              <a:picLocks noChangeAspect="1"/>
            </p:cNvPicPr>
            <p:nvPr>
              <p:custDataLst>
                <p:tags r:id="rId5"/>
              </p:custDataLst>
            </p:nvPr>
          </p:nvPicPr>
          <p:blipFill>
            <a:blip r:embed="rId12">
              <a:extLst>
                <a:ext uri="{96DAC541-7B7A-43D3-8B79-37D633B846F1}">
                  <asvg:svgBlip xmlns:asvg="http://schemas.microsoft.com/office/drawing/2016/SVG/main" xmlns="" r:embed="rId13"/>
                </a:ext>
              </a:extLst>
            </a:blip>
            <a:stretch>
              <a:fillRect/>
            </a:stretch>
          </p:blipFill>
          <p:spPr>
            <a:xfrm>
              <a:off x="9726" y="2930"/>
              <a:ext cx="2176" cy="2176"/>
            </a:xfrm>
            <a:prstGeom prst="rect">
              <a:avLst/>
            </a:prstGeom>
          </p:spPr>
        </p:pic>
      </p:grpSp>
      <p:sp>
        <p:nvSpPr>
          <p:cNvPr id="11" name="文本框 10"/>
          <p:cNvSpPr txBox="1"/>
          <p:nvPr>
            <p:custDataLst>
              <p:tags r:id="rId3"/>
            </p:custDataLst>
          </p:nvPr>
        </p:nvSpPr>
        <p:spPr>
          <a:xfrm>
            <a:off x="4709795" y="1203960"/>
            <a:ext cx="1095375" cy="368300"/>
          </a:xfrm>
          <a:prstGeom prst="rect">
            <a:avLst/>
          </a:prstGeom>
          <a:noFill/>
        </p:spPr>
        <p:txBody>
          <a:bodyPr wrap="square" rtlCol="0">
            <a:spAutoFit/>
          </a:bodyPr>
          <a:lstStyle/>
          <a:p>
            <a:r>
              <a:rPr lang="zh-CN" altLang="en-US"/>
              <a:t>要不要？</a:t>
            </a:r>
          </a:p>
        </p:txBody>
      </p:sp>
      <p:sp>
        <p:nvSpPr>
          <p:cNvPr id="3" name="文本框 2"/>
          <p:cNvSpPr txBox="1"/>
          <p:nvPr>
            <p:custDataLst>
              <p:tags r:id="rId4"/>
            </p:custDataLst>
          </p:nvPr>
        </p:nvSpPr>
        <p:spPr>
          <a:xfrm>
            <a:off x="237490" y="3553460"/>
            <a:ext cx="2049780" cy="1303020"/>
          </a:xfrm>
          <a:prstGeom prst="rect">
            <a:avLst/>
          </a:prstGeom>
          <a:noFill/>
          <a:ln>
            <a:solidFill>
              <a:schemeClr val="tx1"/>
            </a:solidFill>
          </a:ln>
        </p:spPr>
        <p:txBody>
          <a:bodyPr wrap="square" rtlCol="0" anchor="t">
            <a:noAutofit/>
          </a:bodyPr>
          <a:lstStyle/>
          <a:p>
            <a:pPr marL="0" indent="0" algn="l" fontAlgn="auto">
              <a:lnSpc>
                <a:spcPct val="150000"/>
              </a:lnSpc>
              <a:spcBef>
                <a:spcPts val="0"/>
              </a:spcBef>
              <a:buNone/>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推车容量为</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10</a:t>
            </a:r>
          </a:p>
          <a:p>
            <a:pPr marL="0" indent="0" algn="l" fontAlgn="auto">
              <a:lnSpc>
                <a:spcPct val="150000"/>
              </a:lnSpc>
              <a:spcBef>
                <a:spcPts val="0"/>
              </a:spcBef>
              <a:buNone/>
            </a:pP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种零食的体积和喜爱值分别为</a:t>
            </a: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薯片</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8</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10</a:t>
            </a: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可乐</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4</a:t>
            </a:r>
            <a:r>
              <a:rPr lang="zh-CN" altLang="en-US" sz="1000" dirty="0" smtClean="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5</a:t>
            </a:r>
            <a:endPar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饼干</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6</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 0 L -0.269792 0 " pathEditMode="relative" ptsTypes="">
                                      <p:cBhvr>
                                        <p:cTn id="6" dur="1000" fill="hold"/>
                                        <p:tgtEl>
                                          <p:spTgt spid="2"/>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269792 0 " pathEditMode="relative" ptsTypes="">
                                      <p:cBhvr>
                                        <p:cTn id="8" dur="1000" fill="hold"/>
                                        <p:tgtEl>
                                          <p:spTgt spid="10"/>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3b32313539313534303bc7fac6e6b1fdb8c9"/>
          <p:cNvPicPr>
            <a:picLocks noChangeAspect="1"/>
          </p:cNvPicPr>
          <p:nvPr/>
        </p:nvPicPr>
        <p:blipFill>
          <a:blip r:embed="rId9">
            <a:extLst>
              <a:ext uri="{96DAC541-7B7A-43D3-8B79-37D633B846F1}">
                <asvg:svgBlip xmlns:asvg="http://schemas.microsoft.com/office/drawing/2016/SVG/main" xmlns="" r:embed="rId10"/>
              </a:ext>
            </a:extLst>
          </a:blip>
          <a:stretch>
            <a:fillRect/>
          </a:stretch>
        </p:blipFill>
        <p:spPr>
          <a:xfrm>
            <a:off x="1823720" y="1082675"/>
            <a:ext cx="463550" cy="463550"/>
          </a:xfrm>
          <a:prstGeom prst="rect">
            <a:avLst/>
          </a:prstGeom>
        </p:spPr>
      </p:pic>
      <p:sp>
        <p:nvSpPr>
          <p:cNvPr id="19" name="标题 1"/>
          <p:cNvSpPr txBox="1"/>
          <p:nvPr>
            <p:custDataLst>
              <p:tags r:id="rId1"/>
            </p:custDataLst>
          </p:nvPr>
        </p:nvSpPr>
        <p:spPr>
          <a:xfrm>
            <a:off x="519675" y="368275"/>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sym typeface="+mn-ea"/>
              </a:rPr>
              <a:t>背包问题模型</a:t>
            </a:r>
            <a:endParaRPr lang="zh-CN" altLang="en-US" sz="2400" b="1" dirty="0">
              <a:solidFill>
                <a:srgbClr val="003CA6"/>
              </a:solidFill>
              <a:latin typeface="微软雅黑" panose="020B0503020204020204" charset="-122"/>
              <a:ea typeface="微软雅黑" panose="020B0503020204020204" charset="-122"/>
            </a:endParaRPr>
          </a:p>
        </p:txBody>
      </p:sp>
      <p:pic>
        <p:nvPicPr>
          <p:cNvPr id="7" name="图片 6" descr="3b32313539313533373bbfc9c0d6"/>
          <p:cNvPicPr>
            <a:picLocks noChangeAspect="1"/>
          </p:cNvPicPr>
          <p:nvPr/>
        </p:nvPicPr>
        <p:blipFill>
          <a:blip r:embed="rId11">
            <a:extLst>
              <a:ext uri="{96DAC541-7B7A-43D3-8B79-37D633B846F1}">
                <asvg:svgBlip xmlns:asvg="http://schemas.microsoft.com/office/drawing/2016/SVG/main" xmlns="" r:embed="rId12"/>
              </a:ext>
            </a:extLst>
          </a:blip>
          <a:stretch>
            <a:fillRect/>
          </a:stretch>
        </p:blipFill>
        <p:spPr>
          <a:xfrm rot="20160000">
            <a:off x="3159760" y="3164205"/>
            <a:ext cx="672465" cy="672465"/>
          </a:xfrm>
          <a:prstGeom prst="rect">
            <a:avLst/>
          </a:prstGeom>
        </p:spPr>
      </p:pic>
      <p:pic>
        <p:nvPicPr>
          <p:cNvPr id="2" name="图片 1" descr="3b32313538313337393bcdc6b3b5"/>
          <p:cNvPicPr>
            <a:picLocks noChangeAspect="1"/>
          </p:cNvPicPr>
          <p:nvPr>
            <p:custDataLst>
              <p:tags r:id="rId2"/>
            </p:custDataLst>
          </p:nvPr>
        </p:nvPicPr>
        <p:blipFill>
          <a:blip r:embed="rId13">
            <a:extLst>
              <a:ext uri="{96DAC541-7B7A-43D3-8B79-37D633B846F1}">
                <asvg:svgBlip xmlns:asvg="http://schemas.microsoft.com/office/drawing/2016/SVG/main" xmlns="" r:embed="rId14"/>
              </a:ext>
            </a:extLst>
          </a:blip>
          <a:stretch>
            <a:fillRect/>
          </a:stretch>
        </p:blipFill>
        <p:spPr>
          <a:xfrm>
            <a:off x="3051810" y="2983230"/>
            <a:ext cx="1381760" cy="1381760"/>
          </a:xfrm>
          <a:prstGeom prst="rect">
            <a:avLst/>
          </a:prstGeom>
        </p:spPr>
      </p:pic>
      <p:grpSp>
        <p:nvGrpSpPr>
          <p:cNvPr id="3" name="组合 2"/>
          <p:cNvGrpSpPr/>
          <p:nvPr/>
        </p:nvGrpSpPr>
        <p:grpSpPr>
          <a:xfrm>
            <a:off x="3728085" y="1860550"/>
            <a:ext cx="1381760" cy="1381760"/>
            <a:chOff x="5871" y="2930"/>
            <a:chExt cx="2176" cy="2176"/>
          </a:xfrm>
        </p:grpSpPr>
        <p:grpSp>
          <p:nvGrpSpPr>
            <p:cNvPr id="5" name="组合 4"/>
            <p:cNvGrpSpPr/>
            <p:nvPr/>
          </p:nvGrpSpPr>
          <p:grpSpPr>
            <a:xfrm>
              <a:off x="6073" y="2930"/>
              <a:ext cx="1761" cy="1313"/>
              <a:chOff x="9928" y="2930"/>
              <a:chExt cx="1761" cy="1313"/>
            </a:xfrm>
          </p:grpSpPr>
          <p:pic>
            <p:nvPicPr>
              <p:cNvPr id="6" name="图片 5" descr="3b32313534343735383bcaedc6ac"/>
              <p:cNvPicPr>
                <a:picLocks noChangeAspect="1"/>
              </p:cNvPicPr>
              <p:nvPr/>
            </p:nvPicPr>
            <p:blipFill>
              <a:blip r:embed="rId15">
                <a:extLst>
                  <a:ext uri="{96DAC541-7B7A-43D3-8B79-37D633B846F1}">
                    <asvg:svgBlip xmlns:asvg="http://schemas.microsoft.com/office/drawing/2016/SVG/main" xmlns="" r:embed="rId16"/>
                  </a:ext>
                </a:extLst>
              </a:blip>
              <a:stretch>
                <a:fillRect/>
              </a:stretch>
            </p:blipFill>
            <p:spPr>
              <a:xfrm rot="18540000">
                <a:off x="9928" y="2955"/>
                <a:ext cx="1288" cy="1288"/>
              </a:xfrm>
              <a:prstGeom prst="rect">
                <a:avLst/>
              </a:prstGeom>
            </p:spPr>
          </p:pic>
          <p:sp>
            <p:nvSpPr>
              <p:cNvPr id="4" name="文本框 3"/>
              <p:cNvSpPr txBox="1"/>
              <p:nvPr/>
            </p:nvSpPr>
            <p:spPr>
              <a:xfrm>
                <a:off x="10909" y="2930"/>
                <a:ext cx="781" cy="580"/>
              </a:xfrm>
              <a:prstGeom prst="rect">
                <a:avLst/>
              </a:prstGeom>
              <a:noFill/>
            </p:spPr>
            <p:txBody>
              <a:bodyPr wrap="square" rtlCol="0">
                <a:spAutoFit/>
              </a:bodyPr>
              <a:lstStyle/>
              <a:p>
                <a:r>
                  <a:rPr lang="en-US" altLang="zh-CN"/>
                  <a:t>10</a:t>
                </a:r>
              </a:p>
            </p:txBody>
          </p:sp>
        </p:grpSp>
        <p:pic>
          <p:nvPicPr>
            <p:cNvPr id="9" name="图片 8" descr="3b32313538313337393bcdc6b3b5"/>
            <p:cNvPicPr>
              <a:picLocks noChangeAspect="1"/>
            </p:cNvPicPr>
            <p:nvPr>
              <p:custDataLst>
                <p:tags r:id="rId6"/>
              </p:custDataLst>
            </p:nvPr>
          </p:nvPicPr>
          <p:blipFill>
            <a:blip r:embed="rId13">
              <a:extLst>
                <a:ext uri="{96DAC541-7B7A-43D3-8B79-37D633B846F1}">
                  <asvg:svgBlip xmlns:asvg="http://schemas.microsoft.com/office/drawing/2016/SVG/main" xmlns="" r:embed="rId14"/>
                </a:ext>
              </a:extLst>
            </a:blip>
            <a:stretch>
              <a:fillRect/>
            </a:stretch>
          </p:blipFill>
          <p:spPr>
            <a:xfrm>
              <a:off x="5871" y="2930"/>
              <a:ext cx="2176" cy="2176"/>
            </a:xfrm>
            <a:prstGeom prst="rect">
              <a:avLst/>
            </a:prstGeom>
          </p:spPr>
        </p:pic>
      </p:grpSp>
      <p:sp>
        <p:nvSpPr>
          <p:cNvPr id="11" name="文本框 10"/>
          <p:cNvSpPr txBox="1"/>
          <p:nvPr>
            <p:custDataLst>
              <p:tags r:id="rId3"/>
            </p:custDataLst>
          </p:nvPr>
        </p:nvSpPr>
        <p:spPr>
          <a:xfrm>
            <a:off x="5028565" y="2228850"/>
            <a:ext cx="1095375" cy="368300"/>
          </a:xfrm>
          <a:prstGeom prst="rect">
            <a:avLst/>
          </a:prstGeom>
          <a:noFill/>
        </p:spPr>
        <p:txBody>
          <a:bodyPr wrap="square" rtlCol="0">
            <a:spAutoFit/>
          </a:bodyPr>
          <a:lstStyle/>
          <a:p>
            <a:r>
              <a:rPr lang="zh-CN" altLang="en-US"/>
              <a:t>要不起</a:t>
            </a:r>
          </a:p>
        </p:txBody>
      </p:sp>
      <p:pic>
        <p:nvPicPr>
          <p:cNvPr id="12" name="图片 11" descr="3b32313538313337393bcdc6b3b5"/>
          <p:cNvPicPr>
            <a:picLocks noChangeAspect="1"/>
          </p:cNvPicPr>
          <p:nvPr/>
        </p:nvPicPr>
        <p:blipFill>
          <a:blip r:embed="rId13">
            <a:extLst>
              <a:ext uri="{96DAC541-7B7A-43D3-8B79-37D633B846F1}">
                <asvg:svgBlip xmlns:asvg="http://schemas.microsoft.com/office/drawing/2016/SVG/main" xmlns="" r:embed="rId14"/>
              </a:ext>
            </a:extLst>
          </a:blip>
          <a:stretch>
            <a:fillRect/>
          </a:stretch>
        </p:blipFill>
        <p:spPr>
          <a:xfrm>
            <a:off x="4433570" y="2983230"/>
            <a:ext cx="1381760" cy="1381760"/>
          </a:xfrm>
          <a:prstGeom prst="rect">
            <a:avLst/>
          </a:prstGeom>
        </p:spPr>
      </p:pic>
      <p:sp>
        <p:nvSpPr>
          <p:cNvPr id="13" name="文本框 12"/>
          <p:cNvSpPr txBox="1"/>
          <p:nvPr/>
        </p:nvSpPr>
        <p:spPr>
          <a:xfrm>
            <a:off x="3658235" y="2983230"/>
            <a:ext cx="310515" cy="368300"/>
          </a:xfrm>
          <a:prstGeom prst="rect">
            <a:avLst/>
          </a:prstGeom>
          <a:noFill/>
        </p:spPr>
        <p:txBody>
          <a:bodyPr wrap="square" rtlCol="0">
            <a:spAutoFit/>
          </a:bodyPr>
          <a:lstStyle/>
          <a:p>
            <a:r>
              <a:rPr lang="en-US" altLang="zh-CN" dirty="0"/>
              <a:t>5</a:t>
            </a:r>
            <a:endParaRPr lang="en-US" altLang="zh-CN" dirty="0"/>
          </a:p>
        </p:txBody>
      </p:sp>
      <p:sp>
        <p:nvSpPr>
          <p:cNvPr id="14" name="文本框 13"/>
          <p:cNvSpPr txBox="1"/>
          <p:nvPr>
            <p:custDataLst>
              <p:tags r:id="rId4"/>
            </p:custDataLst>
          </p:nvPr>
        </p:nvSpPr>
        <p:spPr>
          <a:xfrm>
            <a:off x="3532505" y="4091305"/>
            <a:ext cx="310515" cy="368300"/>
          </a:xfrm>
          <a:prstGeom prst="rect">
            <a:avLst/>
          </a:prstGeom>
          <a:noFill/>
        </p:spPr>
        <p:txBody>
          <a:bodyPr wrap="square" rtlCol="0">
            <a:spAutoFit/>
          </a:bodyPr>
          <a:lstStyle/>
          <a:p>
            <a:r>
              <a:rPr lang="zh-CN" altLang="en-US"/>
              <a:t>要</a:t>
            </a:r>
          </a:p>
        </p:txBody>
      </p:sp>
      <p:sp>
        <p:nvSpPr>
          <p:cNvPr id="15" name="文本框 14"/>
          <p:cNvSpPr txBox="1"/>
          <p:nvPr/>
        </p:nvSpPr>
        <p:spPr>
          <a:xfrm>
            <a:off x="4779010" y="4189730"/>
            <a:ext cx="690880" cy="368300"/>
          </a:xfrm>
          <a:prstGeom prst="rect">
            <a:avLst/>
          </a:prstGeom>
          <a:noFill/>
        </p:spPr>
        <p:txBody>
          <a:bodyPr wrap="square" rtlCol="0">
            <a:spAutoFit/>
          </a:bodyPr>
          <a:lstStyle/>
          <a:p>
            <a:r>
              <a:rPr lang="zh-CN" altLang="en-US"/>
              <a:t>不要</a:t>
            </a:r>
          </a:p>
        </p:txBody>
      </p:sp>
      <p:sp>
        <p:nvSpPr>
          <p:cNvPr id="10" name="文本框 9"/>
          <p:cNvSpPr txBox="1"/>
          <p:nvPr>
            <p:custDataLst>
              <p:tags r:id="rId5"/>
            </p:custDataLst>
          </p:nvPr>
        </p:nvSpPr>
        <p:spPr>
          <a:xfrm>
            <a:off x="237490" y="3553460"/>
            <a:ext cx="2049780" cy="1303020"/>
          </a:xfrm>
          <a:prstGeom prst="rect">
            <a:avLst/>
          </a:prstGeom>
          <a:noFill/>
          <a:ln>
            <a:solidFill>
              <a:schemeClr val="tx1"/>
            </a:solidFill>
          </a:ln>
        </p:spPr>
        <p:txBody>
          <a:bodyPr wrap="square" rtlCol="0" anchor="t">
            <a:noAutofit/>
          </a:bodyPr>
          <a:lstStyle/>
          <a:p>
            <a:pPr marL="0" indent="0" algn="l" fontAlgn="auto">
              <a:lnSpc>
                <a:spcPct val="150000"/>
              </a:lnSpc>
              <a:spcBef>
                <a:spcPts val="0"/>
              </a:spcBef>
              <a:buNone/>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推车容量为</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10</a:t>
            </a:r>
          </a:p>
          <a:p>
            <a:pPr marL="0" indent="0" algn="l" fontAlgn="auto">
              <a:lnSpc>
                <a:spcPct val="150000"/>
              </a:lnSpc>
              <a:spcBef>
                <a:spcPts val="0"/>
              </a:spcBef>
              <a:buNone/>
            </a:pP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种零食的体积和喜爱值分别为</a:t>
            </a: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薯片</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8</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10</a:t>
            </a: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可乐</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4</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6</a:t>
            </a: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饼干</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6</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 0 L -0.21875 0 " pathEditMode="relative" ptsTypes="">
                                      <p:cBhvr>
                                        <p:cTn id="6" dur="1000" fill="hold"/>
                                        <p:tgtEl>
                                          <p:spTgt spid="7"/>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21875 0 " pathEditMode="relative" ptsTypes="">
                                      <p:cBhvr>
                                        <p:cTn id="8" dur="1000" fill="hold"/>
                                        <p:tgtEl>
                                          <p:spTgt spid="2"/>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 0 L -0.21875 0 " pathEditMode="relative" ptsTypes="">
                                      <p:cBhvr>
                                        <p:cTn id="10" dur="1000" fill="hold"/>
                                        <p:tgtEl>
                                          <p:spTgt spid="3"/>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0 0 L -0.21875 0 " pathEditMode="relative" ptsTypes="">
                                      <p:cBhvr>
                                        <p:cTn id="12" dur="1000" fill="hold"/>
                                        <p:tgtEl>
                                          <p:spTgt spid="11"/>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0 0 L -0.21875 0 " pathEditMode="relative" ptsTypes="">
                                      <p:cBhvr>
                                        <p:cTn id="14" dur="1000" fill="hold"/>
                                        <p:tgtEl>
                                          <p:spTgt spid="12"/>
                                        </p:tgtEl>
                                        <p:attrNameLst>
                                          <p:attrName>ppt_x</p:attrName>
                                          <p:attrName>ppt_y</p:attrName>
                                        </p:attrNameLst>
                                      </p:cBhvr>
                                    </p:animMotion>
                                  </p:childTnLst>
                                </p:cTn>
                              </p:par>
                              <p:par>
                                <p:cTn id="15" presetID="0" presetClass="path" presetSubtype="0" accel="50000" decel="50000" fill="hold" grpId="0" nodeType="withEffect">
                                  <p:stCondLst>
                                    <p:cond delay="0"/>
                                  </p:stCondLst>
                                  <p:childTnLst>
                                    <p:animMotion origin="layout" path="M 0 0 L -0.21875 0 " pathEditMode="relative" ptsTypes="">
                                      <p:cBhvr>
                                        <p:cTn id="16" dur="1000" fill="hold"/>
                                        <p:tgtEl>
                                          <p:spTgt spid="13"/>
                                        </p:tgtEl>
                                        <p:attrNameLst>
                                          <p:attrName>ppt_x</p:attrName>
                                          <p:attrName>ppt_y</p:attrName>
                                        </p:attrNameLst>
                                      </p:cBhvr>
                                    </p:animMotion>
                                  </p:childTnLst>
                                </p:cTn>
                              </p:par>
                              <p:par>
                                <p:cTn id="17" presetID="0" presetClass="path" presetSubtype="0" accel="50000" decel="50000" fill="hold" grpId="0" nodeType="withEffect">
                                  <p:stCondLst>
                                    <p:cond delay="0"/>
                                  </p:stCondLst>
                                  <p:childTnLst>
                                    <p:animMotion origin="layout" path="M 0 0 L -0.21875 0 " pathEditMode="relative" ptsTypes="">
                                      <p:cBhvr>
                                        <p:cTn id="18" dur="1000" fill="hold"/>
                                        <p:tgtEl>
                                          <p:spTgt spid="14"/>
                                        </p:tgtEl>
                                        <p:attrNameLst>
                                          <p:attrName>ppt_x</p:attrName>
                                          <p:attrName>ppt_y</p:attrName>
                                        </p:attrNameLst>
                                      </p:cBhvr>
                                    </p:animMotion>
                                  </p:childTnLst>
                                </p:cTn>
                              </p:par>
                              <p:par>
                                <p:cTn id="19" presetID="0" presetClass="path" presetSubtype="0" accel="50000" decel="50000" fill="hold" grpId="1" nodeType="withEffect">
                                  <p:stCondLst>
                                    <p:cond delay="0"/>
                                  </p:stCondLst>
                                  <p:childTnLst>
                                    <p:animMotion origin="layout" path="M 0 0 L -0.21875 0 " pathEditMode="relative" ptsTypes="">
                                      <p:cBhvr>
                                        <p:cTn id="20" dur="1000" fill="hold"/>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5"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3b32313539313534303bc7fac6e6b1fdb8c9"/>
          <p:cNvPicPr>
            <a:picLocks noChangeAspect="1"/>
          </p:cNvPicPr>
          <p:nvPr/>
        </p:nvPicPr>
        <p:blipFill>
          <a:blip r:embed="rId8"/>
          <a:stretch>
            <a:fillRect/>
          </a:stretch>
        </p:blipFill>
        <p:spPr>
          <a:xfrm>
            <a:off x="1633220" y="3351530"/>
            <a:ext cx="463550" cy="463550"/>
          </a:xfrm>
          <a:prstGeom prst="rect">
            <a:avLst/>
          </a:prstGeom>
        </p:spPr>
      </p:pic>
      <p:sp>
        <p:nvSpPr>
          <p:cNvPr id="19" name="标题 1"/>
          <p:cNvSpPr txBox="1"/>
          <p:nvPr>
            <p:custDataLst>
              <p:tags r:id="rId1"/>
            </p:custDataLst>
          </p:nvPr>
        </p:nvSpPr>
        <p:spPr>
          <a:xfrm>
            <a:off x="519675" y="368275"/>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sym typeface="+mn-ea"/>
              </a:rPr>
              <a:t>背包问题模型</a:t>
            </a:r>
            <a:endParaRPr lang="zh-CN" altLang="en-US" sz="2400" b="1" dirty="0">
              <a:solidFill>
                <a:srgbClr val="003CA6"/>
              </a:solidFill>
              <a:latin typeface="微软雅黑" panose="020B0503020204020204" charset="-122"/>
              <a:ea typeface="微软雅黑" panose="020B0503020204020204" charset="-122"/>
            </a:endParaRPr>
          </a:p>
        </p:txBody>
      </p:sp>
      <p:pic>
        <p:nvPicPr>
          <p:cNvPr id="7" name="图片 6" descr="3b32313539313533373bbfc9c0d6"/>
          <p:cNvPicPr>
            <a:picLocks noChangeAspect="1"/>
          </p:cNvPicPr>
          <p:nvPr/>
        </p:nvPicPr>
        <p:blipFill>
          <a:blip r:embed="rId9"/>
          <a:stretch>
            <a:fillRect/>
          </a:stretch>
        </p:blipFill>
        <p:spPr>
          <a:xfrm rot="20160000">
            <a:off x="1173480" y="3164205"/>
            <a:ext cx="672465" cy="672465"/>
          </a:xfrm>
          <a:prstGeom prst="rect">
            <a:avLst/>
          </a:prstGeom>
        </p:spPr>
      </p:pic>
      <p:pic>
        <p:nvPicPr>
          <p:cNvPr id="2" name="图片 1" descr="3b32313538313337393bcdc6b3b5"/>
          <p:cNvPicPr>
            <a:picLocks noChangeAspect="1"/>
          </p:cNvPicPr>
          <p:nvPr>
            <p:custDataLst>
              <p:tags r:id="rId2"/>
            </p:custDataLst>
          </p:nvPr>
        </p:nvPicPr>
        <p:blipFill>
          <a:blip r:embed="rId10"/>
          <a:stretch>
            <a:fillRect/>
          </a:stretch>
        </p:blipFill>
        <p:spPr>
          <a:xfrm>
            <a:off x="1065530" y="2983230"/>
            <a:ext cx="1381760" cy="1381760"/>
          </a:xfrm>
          <a:prstGeom prst="rect">
            <a:avLst/>
          </a:prstGeom>
        </p:spPr>
      </p:pic>
      <p:grpSp>
        <p:nvGrpSpPr>
          <p:cNvPr id="3" name="组合 2"/>
          <p:cNvGrpSpPr/>
          <p:nvPr/>
        </p:nvGrpSpPr>
        <p:grpSpPr>
          <a:xfrm>
            <a:off x="1741805" y="1860550"/>
            <a:ext cx="1381760" cy="1381760"/>
            <a:chOff x="5871" y="2930"/>
            <a:chExt cx="2176" cy="2176"/>
          </a:xfrm>
        </p:grpSpPr>
        <p:grpSp>
          <p:nvGrpSpPr>
            <p:cNvPr id="5" name="组合 4"/>
            <p:cNvGrpSpPr/>
            <p:nvPr/>
          </p:nvGrpSpPr>
          <p:grpSpPr>
            <a:xfrm>
              <a:off x="6073" y="2930"/>
              <a:ext cx="1761" cy="1313"/>
              <a:chOff x="9928" y="2930"/>
              <a:chExt cx="1761" cy="1313"/>
            </a:xfrm>
          </p:grpSpPr>
          <p:pic>
            <p:nvPicPr>
              <p:cNvPr id="6" name="图片 5" descr="3b32313534343735383bcaedc6ac"/>
              <p:cNvPicPr>
                <a:picLocks noChangeAspect="1"/>
              </p:cNvPicPr>
              <p:nvPr/>
            </p:nvPicPr>
            <p:blipFill>
              <a:blip r:embed="rId11"/>
              <a:stretch>
                <a:fillRect/>
              </a:stretch>
            </p:blipFill>
            <p:spPr>
              <a:xfrm rot="18540000">
                <a:off x="9928" y="2955"/>
                <a:ext cx="1288" cy="1288"/>
              </a:xfrm>
              <a:prstGeom prst="rect">
                <a:avLst/>
              </a:prstGeom>
            </p:spPr>
          </p:pic>
          <p:sp>
            <p:nvSpPr>
              <p:cNvPr id="4" name="文本框 3"/>
              <p:cNvSpPr txBox="1"/>
              <p:nvPr/>
            </p:nvSpPr>
            <p:spPr>
              <a:xfrm>
                <a:off x="10909" y="2930"/>
                <a:ext cx="781" cy="580"/>
              </a:xfrm>
              <a:prstGeom prst="rect">
                <a:avLst/>
              </a:prstGeom>
              <a:noFill/>
            </p:spPr>
            <p:txBody>
              <a:bodyPr wrap="square" rtlCol="0">
                <a:spAutoFit/>
              </a:bodyPr>
              <a:lstStyle/>
              <a:p>
                <a:r>
                  <a:rPr lang="en-US" altLang="zh-CN"/>
                  <a:t>10</a:t>
                </a:r>
              </a:p>
            </p:txBody>
          </p:sp>
        </p:grpSp>
        <p:pic>
          <p:nvPicPr>
            <p:cNvPr id="9" name="图片 8" descr="3b32313538313337393bcdc6b3b5"/>
            <p:cNvPicPr>
              <a:picLocks noChangeAspect="1"/>
            </p:cNvPicPr>
            <p:nvPr>
              <p:custDataLst>
                <p:tags r:id="rId5"/>
              </p:custDataLst>
            </p:nvPr>
          </p:nvPicPr>
          <p:blipFill>
            <a:blip r:embed="rId10"/>
            <a:stretch>
              <a:fillRect/>
            </a:stretch>
          </p:blipFill>
          <p:spPr>
            <a:xfrm>
              <a:off x="5871" y="2930"/>
              <a:ext cx="2176" cy="2176"/>
            </a:xfrm>
            <a:prstGeom prst="rect">
              <a:avLst/>
            </a:prstGeom>
          </p:spPr>
        </p:pic>
      </p:grpSp>
      <p:pic>
        <p:nvPicPr>
          <p:cNvPr id="12" name="图片 11" descr="3b32313538313337393bcdc6b3b5"/>
          <p:cNvPicPr>
            <a:picLocks noChangeAspect="1"/>
          </p:cNvPicPr>
          <p:nvPr/>
        </p:nvPicPr>
        <p:blipFill>
          <a:blip r:embed="rId10"/>
          <a:stretch>
            <a:fillRect/>
          </a:stretch>
        </p:blipFill>
        <p:spPr>
          <a:xfrm>
            <a:off x="2447290" y="2983230"/>
            <a:ext cx="1381760" cy="1381760"/>
          </a:xfrm>
          <a:prstGeom prst="rect">
            <a:avLst/>
          </a:prstGeom>
        </p:spPr>
      </p:pic>
      <p:sp>
        <p:nvSpPr>
          <p:cNvPr id="13" name="文本框 12"/>
          <p:cNvSpPr txBox="1"/>
          <p:nvPr/>
        </p:nvSpPr>
        <p:spPr>
          <a:xfrm>
            <a:off x="1671955" y="2983230"/>
            <a:ext cx="467360" cy="368300"/>
          </a:xfrm>
          <a:prstGeom prst="rect">
            <a:avLst/>
          </a:prstGeom>
          <a:noFill/>
        </p:spPr>
        <p:txBody>
          <a:bodyPr wrap="square" rtlCol="0">
            <a:spAutoFit/>
          </a:bodyPr>
          <a:lstStyle/>
          <a:p>
            <a:r>
              <a:rPr lang="en-US" altLang="zh-CN" dirty="0" smtClean="0"/>
              <a:t>11</a:t>
            </a:r>
            <a:endParaRPr lang="en-US" altLang="zh-CN" dirty="0"/>
          </a:p>
        </p:txBody>
      </p:sp>
      <p:sp>
        <p:nvSpPr>
          <p:cNvPr id="14" name="文本框 13"/>
          <p:cNvSpPr txBox="1"/>
          <p:nvPr>
            <p:custDataLst>
              <p:tags r:id="rId3"/>
            </p:custDataLst>
          </p:nvPr>
        </p:nvSpPr>
        <p:spPr>
          <a:xfrm>
            <a:off x="1546225" y="4091305"/>
            <a:ext cx="310515" cy="368300"/>
          </a:xfrm>
          <a:prstGeom prst="rect">
            <a:avLst/>
          </a:prstGeom>
          <a:noFill/>
        </p:spPr>
        <p:txBody>
          <a:bodyPr wrap="square" rtlCol="0">
            <a:spAutoFit/>
          </a:bodyPr>
          <a:lstStyle/>
          <a:p>
            <a:r>
              <a:rPr lang="zh-CN" altLang="en-US"/>
              <a:t>要</a:t>
            </a:r>
          </a:p>
        </p:txBody>
      </p:sp>
      <p:sp>
        <p:nvSpPr>
          <p:cNvPr id="15" name="文本框 14"/>
          <p:cNvSpPr txBox="1"/>
          <p:nvPr/>
        </p:nvSpPr>
        <p:spPr>
          <a:xfrm>
            <a:off x="2792730" y="4189730"/>
            <a:ext cx="690880" cy="368300"/>
          </a:xfrm>
          <a:prstGeom prst="rect">
            <a:avLst/>
          </a:prstGeom>
          <a:noFill/>
        </p:spPr>
        <p:txBody>
          <a:bodyPr wrap="square" rtlCol="0">
            <a:spAutoFit/>
          </a:bodyPr>
          <a:lstStyle/>
          <a:p>
            <a:r>
              <a:rPr lang="zh-CN" altLang="en-US"/>
              <a:t>不要</a:t>
            </a:r>
          </a:p>
        </p:txBody>
      </p:sp>
      <p:sp>
        <p:nvSpPr>
          <p:cNvPr id="10" name="文本框 9"/>
          <p:cNvSpPr txBox="1"/>
          <p:nvPr>
            <p:custDataLst>
              <p:tags r:id="rId4"/>
            </p:custDataLst>
          </p:nvPr>
        </p:nvSpPr>
        <p:spPr>
          <a:xfrm>
            <a:off x="6860540" y="3553460"/>
            <a:ext cx="2049780" cy="1303020"/>
          </a:xfrm>
          <a:prstGeom prst="rect">
            <a:avLst/>
          </a:prstGeom>
          <a:noFill/>
          <a:ln>
            <a:solidFill>
              <a:schemeClr val="tx1"/>
            </a:solidFill>
          </a:ln>
        </p:spPr>
        <p:txBody>
          <a:bodyPr wrap="square" rtlCol="0" anchor="t">
            <a:noAutofit/>
          </a:bodyPr>
          <a:lstStyle/>
          <a:p>
            <a:pPr marL="0" indent="0" algn="l" fontAlgn="auto">
              <a:lnSpc>
                <a:spcPct val="150000"/>
              </a:lnSpc>
              <a:spcBef>
                <a:spcPts val="0"/>
              </a:spcBef>
              <a:buNone/>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推车容量为</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10</a:t>
            </a:r>
          </a:p>
          <a:p>
            <a:pPr marL="0" indent="0" algn="l" fontAlgn="auto">
              <a:lnSpc>
                <a:spcPct val="150000"/>
              </a:lnSpc>
              <a:spcBef>
                <a:spcPts val="0"/>
              </a:spcBef>
              <a:buNone/>
            </a:pP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种零食的体积和喜爱值分别为</a:t>
            </a: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薯片</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8</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10</a:t>
            </a: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可乐</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4</a:t>
            </a:r>
            <a:r>
              <a:rPr lang="zh-CN" altLang="en-US" sz="1000" dirty="0" smtClean="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5</a:t>
            </a:r>
            <a:endPar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28600" indent="-228600" algn="l" fontAlgn="auto">
              <a:lnSpc>
                <a:spcPct val="150000"/>
              </a:lnSpc>
              <a:spcBef>
                <a:spcPts val="0"/>
              </a:spcBef>
              <a:buFont typeface="+mj-ea"/>
              <a:buAutoNum type="circleNumDbPlain"/>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饼干</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6</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2"/>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 0 L 0.340069 -0.259259 " pathEditMode="relative" ptsTypes="">
                                      <p:cBhvr>
                                        <p:cTn id="14" dur="1000" fill="hold"/>
                                        <p:tgtEl>
                                          <p:spTgt spid="8"/>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0 0 L 0.340069 -0.259259 " pathEditMode="relative" ptsTypes="">
                                      <p:cBhvr>
                                        <p:cTn id="16" dur="1000" fill="hold"/>
                                        <p:tgtEl>
                                          <p:spTgt spid="7"/>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 0 L 0.340069 -0.259259 " pathEditMode="relative" ptsTypes="">
                                      <p:cBhvr>
                                        <p:cTn id="18" dur="1000" fill="hold"/>
                                        <p:tgtEl>
                                          <p:spTgt spid="2"/>
                                        </p:tgtEl>
                                        <p:attrNameLst>
                                          <p:attrName>ppt_x</p:attrName>
                                          <p:attrName>ppt_y</p:attrName>
                                        </p:attrNameLst>
                                      </p:cBhvr>
                                    </p:animMotion>
                                  </p:childTnLst>
                                </p:cTn>
                              </p:par>
                              <p:par>
                                <p:cTn id="19" presetID="0" presetClass="path" presetSubtype="0" accel="50000" decel="50000" fill="hold" grpId="0" nodeType="withEffect">
                                  <p:stCondLst>
                                    <p:cond delay="0"/>
                                  </p:stCondLst>
                                  <p:childTnLst>
                                    <p:animMotion origin="layout" path="M 0 0 L 0.340069 -0.259259 " pathEditMode="relative" ptsTypes="">
                                      <p:cBhvr>
                                        <p:cTn id="20" dur="1000" fill="hold"/>
                                        <p:tgtEl>
                                          <p:spTgt spid="13"/>
                                        </p:tgtEl>
                                        <p:attrNameLst>
                                          <p:attrName>ppt_x</p:attrName>
                                          <p:attrName>ppt_y</p:attrName>
                                        </p:attrNameLst>
                                      </p:cBhvr>
                                    </p:animMotion>
                                  </p:childTnLst>
                                </p:cTn>
                              </p:par>
                              <p:par>
                                <p:cTn id="21" presetID="0" presetClass="path" presetSubtype="0" accel="50000" decel="50000" fill="hold" grpId="0" nodeType="withEffect">
                                  <p:stCondLst>
                                    <p:cond delay="0"/>
                                  </p:stCondLst>
                                  <p:childTnLst>
                                    <p:animMotion origin="layout" path="M 0 0 L 0.340069 -0.259259 " pathEditMode="relative" ptsTypes="">
                                      <p:cBhvr>
                                        <p:cTn id="22" dur="1000" fill="hold"/>
                                        <p:tgtEl>
                                          <p:spTgt spid="1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977765" y="2150745"/>
            <a:ext cx="1381760" cy="1381760"/>
            <a:chOff x="5790" y="3543"/>
            <a:chExt cx="2176" cy="2176"/>
          </a:xfrm>
        </p:grpSpPr>
        <p:pic>
          <p:nvPicPr>
            <p:cNvPr id="14" name="图片 13" descr="3b32313539313533373bbfc9c0d6"/>
            <p:cNvPicPr>
              <a:picLocks noChangeAspect="1"/>
            </p:cNvPicPr>
            <p:nvPr>
              <p:custDataLst>
                <p:tags r:id="rId3"/>
              </p:custDataLst>
            </p:nvPr>
          </p:nvPicPr>
          <p:blipFill>
            <a:blip r:embed="rId8"/>
            <a:stretch>
              <a:fillRect/>
            </a:stretch>
          </p:blipFill>
          <p:spPr>
            <a:xfrm rot="20160000">
              <a:off x="5795" y="3824"/>
              <a:ext cx="1059" cy="1059"/>
            </a:xfrm>
            <a:prstGeom prst="rect">
              <a:avLst/>
            </a:prstGeom>
          </p:spPr>
        </p:pic>
        <p:pic>
          <p:nvPicPr>
            <p:cNvPr id="15" name="图片 14" descr="3b32313539313534303bc7fac6e6b1fdb8c9"/>
            <p:cNvPicPr>
              <a:picLocks noChangeAspect="1"/>
            </p:cNvPicPr>
            <p:nvPr>
              <p:custDataLst>
                <p:tags r:id="rId4"/>
              </p:custDataLst>
            </p:nvPr>
          </p:nvPicPr>
          <p:blipFill>
            <a:blip r:embed="rId9"/>
            <a:stretch>
              <a:fillRect/>
            </a:stretch>
          </p:blipFill>
          <p:spPr>
            <a:xfrm>
              <a:off x="6585" y="4162"/>
              <a:ext cx="737" cy="737"/>
            </a:xfrm>
            <a:prstGeom prst="rect">
              <a:avLst/>
            </a:prstGeom>
          </p:spPr>
        </p:pic>
        <p:pic>
          <p:nvPicPr>
            <p:cNvPr id="11" name="图片 10" descr="3b32313538313337393bcdc6b3b5"/>
            <p:cNvPicPr>
              <a:picLocks noChangeAspect="1"/>
            </p:cNvPicPr>
            <p:nvPr>
              <p:custDataLst>
                <p:tags r:id="rId5"/>
              </p:custDataLst>
            </p:nvPr>
          </p:nvPicPr>
          <p:blipFill>
            <a:blip r:embed="rId10"/>
            <a:stretch>
              <a:fillRect/>
            </a:stretch>
          </p:blipFill>
          <p:spPr>
            <a:xfrm>
              <a:off x="5790" y="3543"/>
              <a:ext cx="2176" cy="2176"/>
            </a:xfrm>
            <a:prstGeom prst="rect">
              <a:avLst/>
            </a:prstGeom>
          </p:spPr>
        </p:pic>
      </p:grpSp>
      <p:sp>
        <p:nvSpPr>
          <p:cNvPr id="19" name="标题 1"/>
          <p:cNvSpPr txBox="1"/>
          <p:nvPr>
            <p:custDataLst>
              <p:tags r:id="rId1"/>
            </p:custDataLst>
          </p:nvPr>
        </p:nvSpPr>
        <p:spPr>
          <a:xfrm>
            <a:off x="519675" y="368275"/>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sym typeface="+mn-ea"/>
              </a:rPr>
              <a:t>背包问题模型</a:t>
            </a:r>
            <a:endParaRPr lang="zh-CN" altLang="en-US" sz="2400" b="1" dirty="0">
              <a:solidFill>
                <a:srgbClr val="003CA6"/>
              </a:solidFill>
              <a:latin typeface="微软雅黑" panose="020B0503020204020204" charset="-122"/>
              <a:ea typeface="微软雅黑" panose="020B0503020204020204" charset="-122"/>
            </a:endParaRPr>
          </a:p>
        </p:txBody>
      </p:sp>
      <p:pic>
        <p:nvPicPr>
          <p:cNvPr id="7" name="图片 6" descr="3b32313539313533373bbfc9c0d6"/>
          <p:cNvPicPr>
            <a:picLocks noChangeAspect="1"/>
          </p:cNvPicPr>
          <p:nvPr/>
        </p:nvPicPr>
        <p:blipFill>
          <a:blip r:embed="rId8"/>
          <a:stretch>
            <a:fillRect/>
          </a:stretch>
        </p:blipFill>
        <p:spPr>
          <a:xfrm rot="20160000">
            <a:off x="2163445" y="2317750"/>
            <a:ext cx="672465" cy="672465"/>
          </a:xfrm>
          <a:prstGeom prst="rect">
            <a:avLst/>
          </a:prstGeom>
        </p:spPr>
      </p:pic>
      <p:pic>
        <p:nvPicPr>
          <p:cNvPr id="9" name="图片 8" descr="3b32313538313337393bcdc6b3b5"/>
          <p:cNvPicPr>
            <a:picLocks noChangeAspect="1"/>
          </p:cNvPicPr>
          <p:nvPr>
            <p:custDataLst>
              <p:tags r:id="rId2"/>
            </p:custDataLst>
          </p:nvPr>
        </p:nvPicPr>
        <p:blipFill>
          <a:blip r:embed="rId10"/>
          <a:stretch>
            <a:fillRect/>
          </a:stretch>
        </p:blipFill>
        <p:spPr>
          <a:xfrm>
            <a:off x="1978025" y="2150745"/>
            <a:ext cx="1381760" cy="1381760"/>
          </a:xfrm>
          <a:prstGeom prst="rect">
            <a:avLst/>
          </a:prstGeom>
        </p:spPr>
      </p:pic>
      <p:pic>
        <p:nvPicPr>
          <p:cNvPr id="8" name="图片 7" descr="3b32313539313534303bc7fac6e6b1fdb8c9"/>
          <p:cNvPicPr>
            <a:picLocks noChangeAspect="1"/>
          </p:cNvPicPr>
          <p:nvPr/>
        </p:nvPicPr>
        <p:blipFill>
          <a:blip r:embed="rId9"/>
          <a:stretch>
            <a:fillRect/>
          </a:stretch>
        </p:blipFill>
        <p:spPr>
          <a:xfrm>
            <a:off x="2943860" y="1796415"/>
            <a:ext cx="463550" cy="463550"/>
          </a:xfrm>
          <a:prstGeom prst="rect">
            <a:avLst/>
          </a:prstGeom>
        </p:spPr>
      </p:pic>
      <p:sp>
        <p:nvSpPr>
          <p:cNvPr id="26" name="文本框 25"/>
          <p:cNvSpPr txBox="1"/>
          <p:nvPr/>
        </p:nvSpPr>
        <p:spPr>
          <a:xfrm>
            <a:off x="1663700" y="3738880"/>
            <a:ext cx="2010410" cy="368300"/>
          </a:xfrm>
          <a:prstGeom prst="rect">
            <a:avLst/>
          </a:prstGeom>
          <a:noFill/>
        </p:spPr>
        <p:txBody>
          <a:bodyPr wrap="square" rtlCol="0">
            <a:spAutoFit/>
          </a:bodyPr>
          <a:lstStyle/>
          <a:p>
            <a:r>
              <a:rPr lang="zh-CN" altLang="en-US"/>
              <a:t>状态</a:t>
            </a:r>
            <a:r>
              <a:rPr lang="en-US"/>
              <a:t>?</a:t>
            </a:r>
          </a:p>
        </p:txBody>
      </p:sp>
      <p:sp>
        <p:nvSpPr>
          <p:cNvPr id="27" name="文本框 26"/>
          <p:cNvSpPr txBox="1"/>
          <p:nvPr/>
        </p:nvSpPr>
        <p:spPr>
          <a:xfrm>
            <a:off x="4663440" y="3737610"/>
            <a:ext cx="3281680" cy="368300"/>
          </a:xfrm>
          <a:prstGeom prst="rect">
            <a:avLst/>
          </a:prstGeom>
          <a:noFill/>
        </p:spPr>
        <p:txBody>
          <a:bodyPr wrap="square" rtlCol="0">
            <a:spAutoFit/>
          </a:bodyPr>
          <a:lstStyle/>
          <a:p>
            <a:r>
              <a:rPr lang="zh-CN" altLang="en-US"/>
              <a:t>转移方程</a:t>
            </a:r>
            <a:r>
              <a:rPr lang="en-US" altLang="zh-CN"/>
              <a:t>? </a:t>
            </a:r>
            <a:endParaRPr lang="zh-CN" altLang="en-US"/>
          </a:p>
        </p:txBody>
      </p:sp>
      <p:sp>
        <p:nvSpPr>
          <p:cNvPr id="28" name="文本框 27"/>
          <p:cNvSpPr txBox="1"/>
          <p:nvPr/>
        </p:nvSpPr>
        <p:spPr>
          <a:xfrm>
            <a:off x="1663700" y="3738880"/>
            <a:ext cx="2010410" cy="368300"/>
          </a:xfrm>
          <a:prstGeom prst="rect">
            <a:avLst/>
          </a:prstGeom>
          <a:noFill/>
        </p:spPr>
        <p:txBody>
          <a:bodyPr wrap="square" rtlCol="0">
            <a:spAutoFit/>
          </a:bodyPr>
          <a:lstStyle/>
          <a:p>
            <a:r>
              <a:rPr lang="zh-CN" altLang="en-US"/>
              <a:t>状态：价值</a:t>
            </a:r>
            <a:r>
              <a:rPr lang="en-US" altLang="zh-CN"/>
              <a:t> </a:t>
            </a:r>
            <a:r>
              <a:rPr lang="zh-CN" altLang="en-US"/>
              <a:t>体积</a:t>
            </a:r>
          </a:p>
        </p:txBody>
      </p:sp>
      <p:sp>
        <p:nvSpPr>
          <p:cNvPr id="29" name="文本框 28"/>
          <p:cNvSpPr txBox="1"/>
          <p:nvPr/>
        </p:nvSpPr>
        <p:spPr>
          <a:xfrm>
            <a:off x="4663440" y="3738880"/>
            <a:ext cx="4961890" cy="368300"/>
          </a:xfrm>
          <a:prstGeom prst="rect">
            <a:avLst/>
          </a:prstGeom>
          <a:noFill/>
        </p:spPr>
        <p:txBody>
          <a:bodyPr wrap="square" rtlCol="0">
            <a:spAutoFit/>
          </a:bodyPr>
          <a:lstStyle/>
          <a:p>
            <a:r>
              <a:rPr lang="zh-CN" altLang="en-US"/>
              <a:t>放到装的下的车里，或者不要，哪个划算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27"/>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6" grpId="1"/>
      <p:bldP spid="27" grpId="0"/>
      <p:bldP spid="27" grpId="1"/>
      <p:bldP spid="28" grpId="0"/>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extLst>
              <p:ext uri="{D42A27DB-BD31-4B8C-83A1-F6EECF244321}">
                <p14:modId xmlns:p14="http://schemas.microsoft.com/office/powerpoint/2010/main" val="714092189"/>
              </p:ext>
            </p:extLst>
          </p:nvPr>
        </p:nvGraphicFramePr>
        <p:xfrm>
          <a:off x="769620" y="445135"/>
          <a:ext cx="8046720" cy="4282440"/>
        </p:xfrm>
        <a:graphic>
          <a:graphicData uri="http://schemas.openxmlformats.org/drawingml/2006/table">
            <a:tbl>
              <a:tblPr>
                <a:tableStyleId>{5C22544A-7EE6-4342-B048-85BDC9FD1C3A}</a:tableStyleId>
              </a:tblPr>
              <a:tblGrid>
                <a:gridCol w="670560">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670560">
                  <a:extLst>
                    <a:ext uri="{9D8B030D-6E8A-4147-A177-3AD203B41FA5}">
                      <a16:colId xmlns:a16="http://schemas.microsoft.com/office/drawing/2014/main" val="20002"/>
                    </a:ext>
                  </a:extLst>
                </a:gridCol>
                <a:gridCol w="670560">
                  <a:extLst>
                    <a:ext uri="{9D8B030D-6E8A-4147-A177-3AD203B41FA5}">
                      <a16:colId xmlns:a16="http://schemas.microsoft.com/office/drawing/2014/main" val="20003"/>
                    </a:ext>
                  </a:extLst>
                </a:gridCol>
                <a:gridCol w="670560">
                  <a:extLst>
                    <a:ext uri="{9D8B030D-6E8A-4147-A177-3AD203B41FA5}">
                      <a16:colId xmlns:a16="http://schemas.microsoft.com/office/drawing/2014/main" val="20004"/>
                    </a:ext>
                  </a:extLst>
                </a:gridCol>
                <a:gridCol w="670560">
                  <a:extLst>
                    <a:ext uri="{9D8B030D-6E8A-4147-A177-3AD203B41FA5}">
                      <a16:colId xmlns:a16="http://schemas.microsoft.com/office/drawing/2014/main" val="20005"/>
                    </a:ext>
                  </a:extLst>
                </a:gridCol>
                <a:gridCol w="670560">
                  <a:extLst>
                    <a:ext uri="{9D8B030D-6E8A-4147-A177-3AD203B41FA5}">
                      <a16:colId xmlns:a16="http://schemas.microsoft.com/office/drawing/2014/main" val="20006"/>
                    </a:ext>
                  </a:extLst>
                </a:gridCol>
                <a:gridCol w="670560">
                  <a:extLst>
                    <a:ext uri="{9D8B030D-6E8A-4147-A177-3AD203B41FA5}">
                      <a16:colId xmlns:a16="http://schemas.microsoft.com/office/drawing/2014/main" val="20007"/>
                    </a:ext>
                  </a:extLst>
                </a:gridCol>
                <a:gridCol w="670560">
                  <a:extLst>
                    <a:ext uri="{9D8B030D-6E8A-4147-A177-3AD203B41FA5}">
                      <a16:colId xmlns:a16="http://schemas.microsoft.com/office/drawing/2014/main" val="20008"/>
                    </a:ext>
                  </a:extLst>
                </a:gridCol>
                <a:gridCol w="670560">
                  <a:extLst>
                    <a:ext uri="{9D8B030D-6E8A-4147-A177-3AD203B41FA5}">
                      <a16:colId xmlns:a16="http://schemas.microsoft.com/office/drawing/2014/main" val="20009"/>
                    </a:ext>
                  </a:extLst>
                </a:gridCol>
                <a:gridCol w="670560">
                  <a:extLst>
                    <a:ext uri="{9D8B030D-6E8A-4147-A177-3AD203B41FA5}">
                      <a16:colId xmlns:a16="http://schemas.microsoft.com/office/drawing/2014/main" val="20010"/>
                    </a:ext>
                  </a:extLst>
                </a:gridCol>
                <a:gridCol w="670560">
                  <a:extLst>
                    <a:ext uri="{9D8B030D-6E8A-4147-A177-3AD203B41FA5}">
                      <a16:colId xmlns:a16="http://schemas.microsoft.com/office/drawing/2014/main" val="20011"/>
                    </a:ext>
                  </a:extLst>
                </a:gridCol>
              </a:tblGrid>
              <a:tr h="713740">
                <a:tc>
                  <a:txBody>
                    <a:bodyPr/>
                    <a:lstStyle/>
                    <a:p>
                      <a:pPr algn="ctr">
                        <a:buNone/>
                      </a:pPr>
                      <a:r>
                        <a:rPr lang="en-US" altLang="zh-CN"/>
                        <a:t>DP</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noFill/>
                  </a:tcPr>
                </a:tc>
                <a:tc>
                  <a:txBody>
                    <a:bodyPr/>
                    <a:lstStyle/>
                    <a:p>
                      <a:pPr algn="ctr">
                        <a:buNone/>
                      </a:pPr>
                      <a:r>
                        <a:rPr lang="en-US" altLang="zh-CN"/>
                        <a:t>0</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1</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2</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3</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4</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5</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6</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7</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8</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9</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10</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0"/>
                  </a:ext>
                </a:extLst>
              </a:tr>
              <a:tr h="713740">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solidFill>
                      <a:schemeClr val="accent1">
                        <a:tint val="20000"/>
                      </a:schemeClr>
                    </a:solidFill>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1"/>
                  </a:ext>
                </a:extLst>
              </a:tr>
              <a:tr h="713740">
                <a:tc>
                  <a:txBody>
                    <a:bodyPr/>
                    <a:lstStyle/>
                    <a:p>
                      <a:pPr algn="ctr">
                        <a:buNone/>
                      </a:pPr>
                      <a:endParaRPr lang="en-US" altLang="zh-CN" sz="900"/>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en-US" altLang="zh-C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2"/>
                  </a:ext>
                </a:extLst>
              </a:tr>
              <a:tr h="713740">
                <a:tc>
                  <a:txBody>
                    <a:bodyPr/>
                    <a:lstStyle/>
                    <a:p>
                      <a:pPr algn="ctr">
                        <a:buNone/>
                      </a:pPr>
                      <a:r>
                        <a:rPr lang="zh-CN" altLang="en-US"/>
                        <a:t>①</a:t>
                      </a:r>
                      <a:r>
                        <a:rPr lang="en-US" altLang="zh-CN" sz="900"/>
                        <a:t>8,10</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en-US" altLang="zh-C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marL="71755"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3"/>
                  </a:ext>
                </a:extLst>
              </a:tr>
              <a:tr h="713740">
                <a:tc>
                  <a:txBody>
                    <a:bodyPr/>
                    <a:lstStyle/>
                    <a:p>
                      <a:pPr algn="ctr">
                        <a:buNone/>
                      </a:pPr>
                      <a:r>
                        <a:rPr lang="zh-CN" altLang="en-US" dirty="0"/>
                        <a:t>②</a:t>
                      </a:r>
                      <a:r>
                        <a:rPr lang="en-US" altLang="zh-CN" sz="900" dirty="0" smtClean="0">
                          <a:sym typeface="+mn-ea"/>
                        </a:rPr>
                        <a:t>6,5</a:t>
                      </a:r>
                      <a:endParaRPr lang="zh-CN" altLang="en-US" dirty="0"/>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en-US" altLang="zh-C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4"/>
                  </a:ext>
                </a:extLst>
              </a:tr>
              <a:tr h="713740">
                <a:tc>
                  <a:txBody>
                    <a:bodyPr/>
                    <a:lstStyle/>
                    <a:p>
                      <a:pPr algn="ctr">
                        <a:buNone/>
                      </a:pPr>
                      <a:r>
                        <a:rPr lang="zh-CN" altLang="en-US"/>
                        <a:t>③</a:t>
                      </a:r>
                      <a:r>
                        <a:rPr lang="en-US" altLang="zh-CN" sz="900">
                          <a:sym typeface="+mn-ea"/>
                        </a:rPr>
                        <a:t>4,6</a:t>
                      </a: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en-US" altLang="zh-C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dirty="0"/>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5"/>
                  </a:ext>
                </a:extLst>
              </a:tr>
            </a:tbl>
          </a:graphicData>
        </a:graphic>
      </p:graphicFrame>
      <p:pic>
        <p:nvPicPr>
          <p:cNvPr id="5" name="图片 4" descr="3b32313538393232393bcae9b0fc"/>
          <p:cNvPicPr>
            <a:picLocks noChangeAspect="1"/>
          </p:cNvPicPr>
          <p:nvPr/>
        </p:nvPicPr>
        <p:blipFill>
          <a:blip r:embed="rId35">
            <a:extLst>
              <a:ext uri="{96DAC541-7B7A-43D3-8B79-37D633B846F1}">
                <asvg:svgBlip xmlns:asvg="http://schemas.microsoft.com/office/drawing/2016/SVG/main" xmlns="" r:embed="rId36"/>
              </a:ext>
            </a:extLst>
          </a:blip>
          <a:stretch>
            <a:fillRect/>
          </a:stretch>
        </p:blipFill>
        <p:spPr>
          <a:xfrm>
            <a:off x="2360295" y="1608923"/>
            <a:ext cx="180000" cy="180000"/>
          </a:xfrm>
          <a:prstGeom prst="rect">
            <a:avLst/>
          </a:prstGeom>
        </p:spPr>
      </p:pic>
      <p:pic>
        <p:nvPicPr>
          <p:cNvPr id="6" name="图片 5" descr="3b32313538393232393bcae9b0fc"/>
          <p:cNvPicPr>
            <a:picLocks noChangeAspect="1"/>
          </p:cNvPicPr>
          <p:nvPr>
            <p:custDataLst>
              <p:tags r:id="rId2"/>
            </p:custDataLst>
          </p:nvPr>
        </p:nvPicPr>
        <p:blipFill>
          <a:blip r:embed="rId35">
            <a:extLst>
              <a:ext uri="{96DAC541-7B7A-43D3-8B79-37D633B846F1}">
                <asvg:svgBlip xmlns:asvg="http://schemas.microsoft.com/office/drawing/2016/SVG/main" xmlns="" r:embed="rId36"/>
              </a:ext>
            </a:extLst>
          </a:blip>
          <a:stretch>
            <a:fillRect/>
          </a:stretch>
        </p:blipFill>
        <p:spPr>
          <a:xfrm>
            <a:off x="3001940" y="1572923"/>
            <a:ext cx="215900" cy="216000"/>
          </a:xfrm>
          <a:prstGeom prst="rect">
            <a:avLst/>
          </a:prstGeom>
        </p:spPr>
      </p:pic>
      <p:pic>
        <p:nvPicPr>
          <p:cNvPr id="7" name="图片 6" descr="3b32313538393232393bcae9b0fc"/>
          <p:cNvPicPr>
            <a:picLocks noChangeAspect="1"/>
          </p:cNvPicPr>
          <p:nvPr>
            <p:custDataLst>
              <p:tags r:id="rId3"/>
            </p:custDataLst>
          </p:nvPr>
        </p:nvPicPr>
        <p:blipFill>
          <a:blip r:embed="rId35">
            <a:extLst>
              <a:ext uri="{96DAC541-7B7A-43D3-8B79-37D633B846F1}">
                <asvg:svgBlip xmlns:asvg="http://schemas.microsoft.com/office/drawing/2016/SVG/main" xmlns="" r:embed="rId36"/>
              </a:ext>
            </a:extLst>
          </a:blip>
          <a:stretch>
            <a:fillRect/>
          </a:stretch>
        </p:blipFill>
        <p:spPr>
          <a:xfrm>
            <a:off x="3679485" y="1536923"/>
            <a:ext cx="251460" cy="252000"/>
          </a:xfrm>
          <a:prstGeom prst="rect">
            <a:avLst/>
          </a:prstGeom>
        </p:spPr>
      </p:pic>
      <p:pic>
        <p:nvPicPr>
          <p:cNvPr id="8" name="图片 7" descr="3b32313538393232393bcae9b0fc"/>
          <p:cNvPicPr>
            <a:picLocks noChangeAspect="1"/>
          </p:cNvPicPr>
          <p:nvPr>
            <p:custDataLst>
              <p:tags r:id="rId4"/>
            </p:custDataLst>
          </p:nvPr>
        </p:nvPicPr>
        <p:blipFill>
          <a:blip r:embed="rId35">
            <a:extLst>
              <a:ext uri="{96DAC541-7B7A-43D3-8B79-37D633B846F1}">
                <asvg:svgBlip xmlns:asvg="http://schemas.microsoft.com/office/drawing/2016/SVG/main" xmlns="" r:embed="rId36"/>
              </a:ext>
            </a:extLst>
          </a:blip>
          <a:stretch>
            <a:fillRect/>
          </a:stretch>
        </p:blipFill>
        <p:spPr>
          <a:xfrm>
            <a:off x="4328455" y="1500922"/>
            <a:ext cx="287655" cy="288000"/>
          </a:xfrm>
          <a:prstGeom prst="rect">
            <a:avLst/>
          </a:prstGeom>
        </p:spPr>
      </p:pic>
      <p:pic>
        <p:nvPicPr>
          <p:cNvPr id="9" name="图片 8" descr="3b32313538393232393bcae9b0fc"/>
          <p:cNvPicPr>
            <a:picLocks noChangeAspect="1"/>
          </p:cNvPicPr>
          <p:nvPr>
            <p:custDataLst>
              <p:tags r:id="rId5"/>
            </p:custDataLst>
          </p:nvPr>
        </p:nvPicPr>
        <p:blipFill>
          <a:blip r:embed="rId35">
            <a:extLst>
              <a:ext uri="{96DAC541-7B7A-43D3-8B79-37D633B846F1}">
                <asvg:svgBlip xmlns:asvg="http://schemas.microsoft.com/office/drawing/2016/SVG/main" xmlns="" r:embed="rId36"/>
              </a:ext>
            </a:extLst>
          </a:blip>
          <a:stretch>
            <a:fillRect/>
          </a:stretch>
        </p:blipFill>
        <p:spPr>
          <a:xfrm>
            <a:off x="4979330" y="1464923"/>
            <a:ext cx="323850" cy="324000"/>
          </a:xfrm>
          <a:prstGeom prst="rect">
            <a:avLst/>
          </a:prstGeom>
        </p:spPr>
      </p:pic>
      <p:pic>
        <p:nvPicPr>
          <p:cNvPr id="10" name="图片 9" descr="3b32313538393232393bcae9b0fc"/>
          <p:cNvPicPr>
            <a:picLocks noChangeAspect="1"/>
          </p:cNvPicPr>
          <p:nvPr>
            <p:custDataLst>
              <p:tags r:id="rId6"/>
            </p:custDataLst>
          </p:nvPr>
        </p:nvPicPr>
        <p:blipFill>
          <a:blip r:embed="rId35">
            <a:extLst>
              <a:ext uri="{96DAC541-7B7A-43D3-8B79-37D633B846F1}">
                <asvg:svgBlip xmlns:asvg="http://schemas.microsoft.com/office/drawing/2016/SVG/main" xmlns="" r:embed="rId36"/>
              </a:ext>
            </a:extLst>
          </a:blip>
          <a:stretch>
            <a:fillRect/>
          </a:stretch>
        </p:blipFill>
        <p:spPr>
          <a:xfrm>
            <a:off x="5629570" y="1428923"/>
            <a:ext cx="359410" cy="360000"/>
          </a:xfrm>
          <a:prstGeom prst="rect">
            <a:avLst/>
          </a:prstGeom>
        </p:spPr>
      </p:pic>
      <p:pic>
        <p:nvPicPr>
          <p:cNvPr id="11" name="图片 10" descr="3b32313538393232393bcae9b0fc"/>
          <p:cNvPicPr>
            <a:picLocks noChangeAspect="1"/>
          </p:cNvPicPr>
          <p:nvPr>
            <p:custDataLst>
              <p:tags r:id="rId7"/>
            </p:custDataLst>
          </p:nvPr>
        </p:nvPicPr>
        <p:blipFill>
          <a:blip r:embed="rId35">
            <a:extLst>
              <a:ext uri="{96DAC541-7B7A-43D3-8B79-37D633B846F1}">
                <asvg:svgBlip xmlns:asvg="http://schemas.microsoft.com/office/drawing/2016/SVG/main" xmlns="" r:embed="rId36"/>
              </a:ext>
            </a:extLst>
          </a:blip>
          <a:stretch>
            <a:fillRect/>
          </a:stretch>
        </p:blipFill>
        <p:spPr>
          <a:xfrm>
            <a:off x="6289970" y="1392922"/>
            <a:ext cx="395605" cy="396000"/>
          </a:xfrm>
          <a:prstGeom prst="rect">
            <a:avLst/>
          </a:prstGeom>
        </p:spPr>
      </p:pic>
      <p:pic>
        <p:nvPicPr>
          <p:cNvPr id="12" name="图片 11" descr="3b32313538393232393bcae9b0fc"/>
          <p:cNvPicPr>
            <a:picLocks noChangeAspect="1"/>
          </p:cNvPicPr>
          <p:nvPr>
            <p:custDataLst>
              <p:tags r:id="rId8"/>
            </p:custDataLst>
          </p:nvPr>
        </p:nvPicPr>
        <p:blipFill>
          <a:blip r:embed="rId35">
            <a:extLst>
              <a:ext uri="{96DAC541-7B7A-43D3-8B79-37D633B846F1}">
                <asvg:svgBlip xmlns:asvg="http://schemas.microsoft.com/office/drawing/2016/SVG/main" xmlns="" r:embed="rId36"/>
              </a:ext>
            </a:extLst>
          </a:blip>
          <a:stretch>
            <a:fillRect/>
          </a:stretch>
        </p:blipFill>
        <p:spPr>
          <a:xfrm>
            <a:off x="6942115" y="1356923"/>
            <a:ext cx="431800" cy="432000"/>
          </a:xfrm>
          <a:prstGeom prst="rect">
            <a:avLst/>
          </a:prstGeom>
        </p:spPr>
      </p:pic>
      <p:pic>
        <p:nvPicPr>
          <p:cNvPr id="13" name="图片 12" descr="3b32313538393232393bcae9b0fc"/>
          <p:cNvPicPr>
            <a:picLocks noChangeAspect="1"/>
          </p:cNvPicPr>
          <p:nvPr>
            <p:custDataLst>
              <p:tags r:id="rId9"/>
            </p:custDataLst>
          </p:nvPr>
        </p:nvPicPr>
        <p:blipFill>
          <a:blip r:embed="rId35">
            <a:extLst>
              <a:ext uri="{96DAC541-7B7A-43D3-8B79-37D633B846F1}">
                <asvg:svgBlip xmlns:asvg="http://schemas.microsoft.com/office/drawing/2016/SVG/main" xmlns="" r:embed="rId36"/>
              </a:ext>
            </a:extLst>
          </a:blip>
          <a:stretch>
            <a:fillRect/>
          </a:stretch>
        </p:blipFill>
        <p:spPr>
          <a:xfrm>
            <a:off x="7575845" y="1320922"/>
            <a:ext cx="467995" cy="468000"/>
          </a:xfrm>
          <a:prstGeom prst="rect">
            <a:avLst/>
          </a:prstGeom>
        </p:spPr>
      </p:pic>
      <p:pic>
        <p:nvPicPr>
          <p:cNvPr id="14" name="图片 13" descr="3b32313538393232393bcae9b0fc"/>
          <p:cNvPicPr>
            <a:picLocks noChangeAspect="1"/>
          </p:cNvPicPr>
          <p:nvPr>
            <p:custDataLst>
              <p:tags r:id="rId10"/>
            </p:custDataLst>
          </p:nvPr>
        </p:nvPicPr>
        <p:blipFill>
          <a:blip r:embed="rId35">
            <a:extLst>
              <a:ext uri="{96DAC541-7B7A-43D3-8B79-37D633B846F1}">
                <asvg:svgBlip xmlns:asvg="http://schemas.microsoft.com/office/drawing/2016/SVG/main" xmlns="" r:embed="rId36"/>
              </a:ext>
            </a:extLst>
          </a:blip>
          <a:stretch>
            <a:fillRect/>
          </a:stretch>
        </p:blipFill>
        <p:spPr>
          <a:xfrm>
            <a:off x="8245770" y="1284923"/>
            <a:ext cx="503555" cy="504000"/>
          </a:xfrm>
          <a:prstGeom prst="rect">
            <a:avLst/>
          </a:prstGeom>
        </p:spPr>
      </p:pic>
      <p:sp>
        <p:nvSpPr>
          <p:cNvPr id="16" name="文本框 15"/>
          <p:cNvSpPr txBox="1"/>
          <p:nvPr/>
        </p:nvSpPr>
        <p:spPr>
          <a:xfrm>
            <a:off x="1438275" y="1868170"/>
            <a:ext cx="676275" cy="723265"/>
          </a:xfrm>
          <a:prstGeom prst="rect">
            <a:avLst/>
          </a:prstGeom>
          <a:noFill/>
        </p:spPr>
        <p:txBody>
          <a:bodyPr wrap="square" rtlCol="0" anchor="ctr" anchorCtr="0">
            <a:noAutofit/>
          </a:bodyPr>
          <a:lstStyle/>
          <a:p>
            <a:pPr algn="ctr"/>
            <a:r>
              <a:rPr lang="en-US" altLang="zh-CN"/>
              <a:t>0</a:t>
            </a:r>
          </a:p>
        </p:txBody>
      </p:sp>
      <p:sp>
        <p:nvSpPr>
          <p:cNvPr id="20" name="文本框 19"/>
          <p:cNvSpPr txBox="1"/>
          <p:nvPr/>
        </p:nvSpPr>
        <p:spPr>
          <a:xfrm>
            <a:off x="2109470" y="1868170"/>
            <a:ext cx="676275" cy="723265"/>
          </a:xfrm>
          <a:prstGeom prst="rect">
            <a:avLst/>
          </a:prstGeom>
          <a:noFill/>
        </p:spPr>
        <p:txBody>
          <a:bodyPr wrap="square" rtlCol="0" anchor="ctr" anchorCtr="0">
            <a:noAutofit/>
          </a:bodyPr>
          <a:lstStyle/>
          <a:p>
            <a:pPr algn="ctr"/>
            <a:r>
              <a:rPr lang="en-US" altLang="zh-CN"/>
              <a:t>0</a:t>
            </a:r>
          </a:p>
        </p:txBody>
      </p:sp>
      <p:sp>
        <p:nvSpPr>
          <p:cNvPr id="3" name="文本框 2"/>
          <p:cNvSpPr txBox="1"/>
          <p:nvPr>
            <p:custDataLst>
              <p:tags r:id="rId11"/>
            </p:custDataLst>
          </p:nvPr>
        </p:nvSpPr>
        <p:spPr>
          <a:xfrm>
            <a:off x="2780665" y="1868170"/>
            <a:ext cx="676275" cy="723265"/>
          </a:xfrm>
          <a:prstGeom prst="rect">
            <a:avLst/>
          </a:prstGeom>
          <a:noFill/>
        </p:spPr>
        <p:txBody>
          <a:bodyPr wrap="square" rtlCol="0" anchor="ctr" anchorCtr="0">
            <a:noAutofit/>
          </a:bodyPr>
          <a:lstStyle/>
          <a:p>
            <a:pPr algn="ctr"/>
            <a:r>
              <a:rPr lang="en-US" altLang="zh-CN"/>
              <a:t>0</a:t>
            </a:r>
          </a:p>
        </p:txBody>
      </p:sp>
      <p:sp>
        <p:nvSpPr>
          <p:cNvPr id="4" name="文本框 3"/>
          <p:cNvSpPr txBox="1"/>
          <p:nvPr>
            <p:custDataLst>
              <p:tags r:id="rId12"/>
            </p:custDataLst>
          </p:nvPr>
        </p:nvSpPr>
        <p:spPr>
          <a:xfrm>
            <a:off x="3451860" y="1868170"/>
            <a:ext cx="676275" cy="723265"/>
          </a:xfrm>
          <a:prstGeom prst="rect">
            <a:avLst/>
          </a:prstGeom>
          <a:noFill/>
        </p:spPr>
        <p:txBody>
          <a:bodyPr wrap="square" rtlCol="0" anchor="ctr" anchorCtr="0">
            <a:noAutofit/>
          </a:bodyPr>
          <a:lstStyle/>
          <a:p>
            <a:pPr algn="ctr"/>
            <a:r>
              <a:rPr lang="en-US" altLang="zh-CN"/>
              <a:t>0</a:t>
            </a:r>
          </a:p>
        </p:txBody>
      </p:sp>
      <p:sp>
        <p:nvSpPr>
          <p:cNvPr id="15" name="文本框 14"/>
          <p:cNvSpPr txBox="1"/>
          <p:nvPr>
            <p:custDataLst>
              <p:tags r:id="rId13"/>
            </p:custDataLst>
          </p:nvPr>
        </p:nvSpPr>
        <p:spPr>
          <a:xfrm>
            <a:off x="4123055" y="1868170"/>
            <a:ext cx="676275" cy="723265"/>
          </a:xfrm>
          <a:prstGeom prst="rect">
            <a:avLst/>
          </a:prstGeom>
          <a:noFill/>
        </p:spPr>
        <p:txBody>
          <a:bodyPr wrap="square" rtlCol="0" anchor="ctr" anchorCtr="0">
            <a:noAutofit/>
          </a:bodyPr>
          <a:lstStyle/>
          <a:p>
            <a:pPr algn="ctr"/>
            <a:r>
              <a:rPr lang="en-US" altLang="zh-CN"/>
              <a:t>0</a:t>
            </a:r>
          </a:p>
        </p:txBody>
      </p:sp>
      <p:sp>
        <p:nvSpPr>
          <p:cNvPr id="22" name="文本框 21"/>
          <p:cNvSpPr txBox="1"/>
          <p:nvPr>
            <p:custDataLst>
              <p:tags r:id="rId14"/>
            </p:custDataLst>
          </p:nvPr>
        </p:nvSpPr>
        <p:spPr>
          <a:xfrm>
            <a:off x="4794250" y="1868170"/>
            <a:ext cx="676275" cy="723265"/>
          </a:xfrm>
          <a:prstGeom prst="rect">
            <a:avLst/>
          </a:prstGeom>
          <a:noFill/>
        </p:spPr>
        <p:txBody>
          <a:bodyPr wrap="square" rtlCol="0" anchor="ctr" anchorCtr="0">
            <a:noAutofit/>
          </a:bodyPr>
          <a:lstStyle/>
          <a:p>
            <a:pPr algn="ctr"/>
            <a:r>
              <a:rPr lang="en-US" altLang="zh-CN"/>
              <a:t>0</a:t>
            </a:r>
          </a:p>
        </p:txBody>
      </p:sp>
      <p:sp>
        <p:nvSpPr>
          <p:cNvPr id="24" name="文本框 23"/>
          <p:cNvSpPr txBox="1"/>
          <p:nvPr>
            <p:custDataLst>
              <p:tags r:id="rId15"/>
            </p:custDataLst>
          </p:nvPr>
        </p:nvSpPr>
        <p:spPr>
          <a:xfrm>
            <a:off x="5465445" y="1868170"/>
            <a:ext cx="676275" cy="723265"/>
          </a:xfrm>
          <a:prstGeom prst="rect">
            <a:avLst/>
          </a:prstGeom>
          <a:noFill/>
        </p:spPr>
        <p:txBody>
          <a:bodyPr wrap="square" rtlCol="0" anchor="ctr" anchorCtr="0">
            <a:noAutofit/>
          </a:bodyPr>
          <a:lstStyle/>
          <a:p>
            <a:pPr algn="ctr"/>
            <a:r>
              <a:rPr lang="en-US" altLang="zh-CN"/>
              <a:t>0</a:t>
            </a:r>
          </a:p>
        </p:txBody>
      </p:sp>
      <p:sp>
        <p:nvSpPr>
          <p:cNvPr id="31" name="文本框 30"/>
          <p:cNvSpPr txBox="1"/>
          <p:nvPr>
            <p:custDataLst>
              <p:tags r:id="rId16"/>
            </p:custDataLst>
          </p:nvPr>
        </p:nvSpPr>
        <p:spPr>
          <a:xfrm>
            <a:off x="6136640" y="1868170"/>
            <a:ext cx="676275" cy="723265"/>
          </a:xfrm>
          <a:prstGeom prst="rect">
            <a:avLst/>
          </a:prstGeom>
          <a:noFill/>
        </p:spPr>
        <p:txBody>
          <a:bodyPr wrap="square" rtlCol="0" anchor="ctr" anchorCtr="0">
            <a:noAutofit/>
          </a:bodyPr>
          <a:lstStyle/>
          <a:p>
            <a:pPr algn="ctr"/>
            <a:r>
              <a:rPr lang="en-US" altLang="zh-CN"/>
              <a:t>0</a:t>
            </a:r>
          </a:p>
        </p:txBody>
      </p:sp>
      <p:sp>
        <p:nvSpPr>
          <p:cNvPr id="32" name="文本框 31"/>
          <p:cNvSpPr txBox="1"/>
          <p:nvPr>
            <p:custDataLst>
              <p:tags r:id="rId17"/>
            </p:custDataLst>
          </p:nvPr>
        </p:nvSpPr>
        <p:spPr>
          <a:xfrm>
            <a:off x="6807835" y="1868170"/>
            <a:ext cx="676275" cy="723265"/>
          </a:xfrm>
          <a:prstGeom prst="rect">
            <a:avLst/>
          </a:prstGeom>
          <a:noFill/>
        </p:spPr>
        <p:txBody>
          <a:bodyPr wrap="square" rtlCol="0" anchor="ctr" anchorCtr="0">
            <a:noAutofit/>
          </a:bodyPr>
          <a:lstStyle/>
          <a:p>
            <a:pPr algn="ctr"/>
            <a:r>
              <a:rPr lang="en-US" altLang="zh-CN"/>
              <a:t>0</a:t>
            </a:r>
          </a:p>
        </p:txBody>
      </p:sp>
      <p:sp>
        <p:nvSpPr>
          <p:cNvPr id="33" name="文本框 32"/>
          <p:cNvSpPr txBox="1"/>
          <p:nvPr>
            <p:custDataLst>
              <p:tags r:id="rId18"/>
            </p:custDataLst>
          </p:nvPr>
        </p:nvSpPr>
        <p:spPr>
          <a:xfrm>
            <a:off x="7479030" y="1868170"/>
            <a:ext cx="676275" cy="723265"/>
          </a:xfrm>
          <a:prstGeom prst="rect">
            <a:avLst/>
          </a:prstGeom>
          <a:noFill/>
        </p:spPr>
        <p:txBody>
          <a:bodyPr wrap="square" rtlCol="0" anchor="ctr" anchorCtr="0">
            <a:noAutofit/>
          </a:bodyPr>
          <a:lstStyle/>
          <a:p>
            <a:pPr algn="ctr"/>
            <a:r>
              <a:rPr lang="en-US" altLang="zh-CN"/>
              <a:t>0</a:t>
            </a:r>
          </a:p>
        </p:txBody>
      </p:sp>
      <p:sp>
        <p:nvSpPr>
          <p:cNvPr id="34" name="文本框 33"/>
          <p:cNvSpPr txBox="1"/>
          <p:nvPr>
            <p:custDataLst>
              <p:tags r:id="rId19"/>
            </p:custDataLst>
          </p:nvPr>
        </p:nvSpPr>
        <p:spPr>
          <a:xfrm>
            <a:off x="8150225" y="1868170"/>
            <a:ext cx="676275" cy="723265"/>
          </a:xfrm>
          <a:prstGeom prst="rect">
            <a:avLst/>
          </a:prstGeom>
          <a:noFill/>
        </p:spPr>
        <p:txBody>
          <a:bodyPr wrap="square" rtlCol="0" anchor="ctr" anchorCtr="0">
            <a:noAutofit/>
          </a:bodyPr>
          <a:lstStyle/>
          <a:p>
            <a:pPr algn="ctr"/>
            <a:r>
              <a:rPr lang="en-US" altLang="zh-CN"/>
              <a:t>0</a:t>
            </a:r>
          </a:p>
        </p:txBody>
      </p:sp>
      <p:sp>
        <p:nvSpPr>
          <p:cNvPr id="36" name="文本框 35"/>
          <p:cNvSpPr txBox="1"/>
          <p:nvPr/>
        </p:nvSpPr>
        <p:spPr>
          <a:xfrm>
            <a:off x="1438275" y="2579370"/>
            <a:ext cx="676275" cy="723265"/>
          </a:xfrm>
          <a:prstGeom prst="rect">
            <a:avLst/>
          </a:prstGeom>
          <a:noFill/>
        </p:spPr>
        <p:txBody>
          <a:bodyPr wrap="square" rtlCol="0" anchor="ctr" anchorCtr="0">
            <a:noAutofit/>
          </a:bodyPr>
          <a:lstStyle/>
          <a:p>
            <a:pPr algn="ctr"/>
            <a:r>
              <a:rPr lang="en-US" altLang="zh-CN"/>
              <a:t>0</a:t>
            </a:r>
          </a:p>
        </p:txBody>
      </p:sp>
      <p:sp>
        <p:nvSpPr>
          <p:cNvPr id="37" name="文本框 36"/>
          <p:cNvSpPr txBox="1"/>
          <p:nvPr/>
        </p:nvSpPr>
        <p:spPr>
          <a:xfrm>
            <a:off x="1438275" y="3290570"/>
            <a:ext cx="676275" cy="723265"/>
          </a:xfrm>
          <a:prstGeom prst="rect">
            <a:avLst/>
          </a:prstGeom>
          <a:noFill/>
        </p:spPr>
        <p:txBody>
          <a:bodyPr wrap="square" rtlCol="0" anchor="ctr" anchorCtr="0">
            <a:noAutofit/>
          </a:bodyPr>
          <a:lstStyle/>
          <a:p>
            <a:pPr algn="ctr"/>
            <a:r>
              <a:rPr lang="en-US" altLang="zh-CN"/>
              <a:t>0</a:t>
            </a:r>
          </a:p>
        </p:txBody>
      </p:sp>
      <p:sp>
        <p:nvSpPr>
          <p:cNvPr id="38" name="文本框 37"/>
          <p:cNvSpPr txBox="1"/>
          <p:nvPr/>
        </p:nvSpPr>
        <p:spPr>
          <a:xfrm>
            <a:off x="1438275" y="4001770"/>
            <a:ext cx="676275" cy="723265"/>
          </a:xfrm>
          <a:prstGeom prst="rect">
            <a:avLst/>
          </a:prstGeom>
          <a:noFill/>
        </p:spPr>
        <p:txBody>
          <a:bodyPr wrap="square" rtlCol="0" anchor="ctr" anchorCtr="0">
            <a:noAutofit/>
          </a:bodyPr>
          <a:lstStyle/>
          <a:p>
            <a:pPr algn="ctr"/>
            <a:r>
              <a:rPr lang="en-US" altLang="zh-CN"/>
              <a:t>0</a:t>
            </a:r>
          </a:p>
        </p:txBody>
      </p:sp>
      <p:sp>
        <p:nvSpPr>
          <p:cNvPr id="39" name="文本框 38"/>
          <p:cNvSpPr txBox="1"/>
          <p:nvPr/>
        </p:nvSpPr>
        <p:spPr>
          <a:xfrm>
            <a:off x="2109470" y="2579370"/>
            <a:ext cx="676275" cy="723265"/>
          </a:xfrm>
          <a:prstGeom prst="rect">
            <a:avLst/>
          </a:prstGeom>
          <a:noFill/>
        </p:spPr>
        <p:txBody>
          <a:bodyPr wrap="square" rtlCol="0" anchor="ctr" anchorCtr="0">
            <a:noAutofit/>
          </a:bodyPr>
          <a:lstStyle/>
          <a:p>
            <a:pPr algn="ctr"/>
            <a:r>
              <a:rPr lang="en-US" altLang="zh-CN"/>
              <a:t>0</a:t>
            </a:r>
          </a:p>
        </p:txBody>
      </p:sp>
      <p:sp>
        <p:nvSpPr>
          <p:cNvPr id="45" name="文本框 44"/>
          <p:cNvSpPr txBox="1"/>
          <p:nvPr/>
        </p:nvSpPr>
        <p:spPr>
          <a:xfrm>
            <a:off x="2779395" y="2579370"/>
            <a:ext cx="676275" cy="723265"/>
          </a:xfrm>
          <a:prstGeom prst="rect">
            <a:avLst/>
          </a:prstGeom>
          <a:noFill/>
        </p:spPr>
        <p:txBody>
          <a:bodyPr wrap="square" rtlCol="0" anchor="ctr" anchorCtr="0">
            <a:noAutofit/>
          </a:bodyPr>
          <a:lstStyle/>
          <a:p>
            <a:pPr algn="ctr"/>
            <a:r>
              <a:rPr lang="en-US" altLang="zh-CN"/>
              <a:t>0</a:t>
            </a:r>
          </a:p>
        </p:txBody>
      </p:sp>
      <p:sp>
        <p:nvSpPr>
          <p:cNvPr id="46" name="文本框 45"/>
          <p:cNvSpPr txBox="1"/>
          <p:nvPr/>
        </p:nvSpPr>
        <p:spPr>
          <a:xfrm>
            <a:off x="3449320" y="2579370"/>
            <a:ext cx="676275" cy="723265"/>
          </a:xfrm>
          <a:prstGeom prst="rect">
            <a:avLst/>
          </a:prstGeom>
          <a:noFill/>
        </p:spPr>
        <p:txBody>
          <a:bodyPr wrap="square" rtlCol="0" anchor="ctr" anchorCtr="0">
            <a:noAutofit/>
          </a:bodyPr>
          <a:lstStyle/>
          <a:p>
            <a:pPr algn="ctr"/>
            <a:r>
              <a:rPr lang="en-US" altLang="zh-CN"/>
              <a:t>0</a:t>
            </a:r>
          </a:p>
        </p:txBody>
      </p:sp>
      <p:sp>
        <p:nvSpPr>
          <p:cNvPr id="47" name="文本框 46"/>
          <p:cNvSpPr txBox="1"/>
          <p:nvPr/>
        </p:nvSpPr>
        <p:spPr>
          <a:xfrm>
            <a:off x="4119245" y="2579370"/>
            <a:ext cx="676275" cy="723265"/>
          </a:xfrm>
          <a:prstGeom prst="rect">
            <a:avLst/>
          </a:prstGeom>
          <a:noFill/>
        </p:spPr>
        <p:txBody>
          <a:bodyPr wrap="square" rtlCol="0" anchor="ctr" anchorCtr="0">
            <a:noAutofit/>
          </a:bodyPr>
          <a:lstStyle/>
          <a:p>
            <a:pPr algn="ctr"/>
            <a:r>
              <a:rPr lang="en-US" altLang="zh-CN"/>
              <a:t>0</a:t>
            </a:r>
          </a:p>
        </p:txBody>
      </p:sp>
      <p:sp>
        <p:nvSpPr>
          <p:cNvPr id="48" name="文本框 47"/>
          <p:cNvSpPr txBox="1"/>
          <p:nvPr/>
        </p:nvSpPr>
        <p:spPr>
          <a:xfrm>
            <a:off x="4789170" y="2579370"/>
            <a:ext cx="676275" cy="723265"/>
          </a:xfrm>
          <a:prstGeom prst="rect">
            <a:avLst/>
          </a:prstGeom>
          <a:noFill/>
        </p:spPr>
        <p:txBody>
          <a:bodyPr wrap="square" rtlCol="0" anchor="ctr" anchorCtr="0">
            <a:noAutofit/>
          </a:bodyPr>
          <a:lstStyle/>
          <a:p>
            <a:pPr algn="ctr"/>
            <a:r>
              <a:rPr lang="en-US" altLang="zh-CN"/>
              <a:t>0</a:t>
            </a:r>
          </a:p>
        </p:txBody>
      </p:sp>
      <p:sp>
        <p:nvSpPr>
          <p:cNvPr id="49" name="文本框 48"/>
          <p:cNvSpPr txBox="1"/>
          <p:nvPr/>
        </p:nvSpPr>
        <p:spPr>
          <a:xfrm>
            <a:off x="5459095" y="2579370"/>
            <a:ext cx="676275" cy="723265"/>
          </a:xfrm>
          <a:prstGeom prst="rect">
            <a:avLst/>
          </a:prstGeom>
          <a:noFill/>
        </p:spPr>
        <p:txBody>
          <a:bodyPr wrap="square" rtlCol="0" anchor="ctr" anchorCtr="0">
            <a:noAutofit/>
          </a:bodyPr>
          <a:lstStyle/>
          <a:p>
            <a:pPr algn="ctr"/>
            <a:r>
              <a:rPr lang="en-US" altLang="zh-CN"/>
              <a:t>0</a:t>
            </a:r>
          </a:p>
        </p:txBody>
      </p:sp>
      <p:sp>
        <p:nvSpPr>
          <p:cNvPr id="50" name="文本框 49"/>
          <p:cNvSpPr txBox="1"/>
          <p:nvPr/>
        </p:nvSpPr>
        <p:spPr>
          <a:xfrm>
            <a:off x="6129020" y="2579370"/>
            <a:ext cx="676275" cy="723265"/>
          </a:xfrm>
          <a:prstGeom prst="rect">
            <a:avLst/>
          </a:prstGeom>
          <a:noFill/>
        </p:spPr>
        <p:txBody>
          <a:bodyPr wrap="square" rtlCol="0" anchor="ctr" anchorCtr="0">
            <a:noAutofit/>
          </a:bodyPr>
          <a:lstStyle/>
          <a:p>
            <a:pPr algn="ctr"/>
            <a:r>
              <a:rPr lang="en-US" altLang="zh-CN"/>
              <a:t>0</a:t>
            </a:r>
          </a:p>
        </p:txBody>
      </p:sp>
      <p:sp>
        <p:nvSpPr>
          <p:cNvPr id="51" name="文本框 50"/>
          <p:cNvSpPr txBox="1"/>
          <p:nvPr/>
        </p:nvSpPr>
        <p:spPr>
          <a:xfrm>
            <a:off x="6798945" y="2579370"/>
            <a:ext cx="676275" cy="723265"/>
          </a:xfrm>
          <a:prstGeom prst="rect">
            <a:avLst/>
          </a:prstGeom>
          <a:noFill/>
        </p:spPr>
        <p:txBody>
          <a:bodyPr wrap="square" rtlCol="0" anchor="ctr" anchorCtr="0">
            <a:noAutofit/>
          </a:bodyPr>
          <a:lstStyle/>
          <a:p>
            <a:pPr algn="ctr"/>
            <a:r>
              <a:rPr lang="en-US" altLang="zh-CN"/>
              <a:t>10</a:t>
            </a:r>
          </a:p>
        </p:txBody>
      </p:sp>
      <p:sp>
        <p:nvSpPr>
          <p:cNvPr id="52" name="文本框 51"/>
          <p:cNvSpPr txBox="1"/>
          <p:nvPr/>
        </p:nvSpPr>
        <p:spPr>
          <a:xfrm>
            <a:off x="7468870" y="2579370"/>
            <a:ext cx="676275" cy="723265"/>
          </a:xfrm>
          <a:prstGeom prst="rect">
            <a:avLst/>
          </a:prstGeom>
          <a:noFill/>
        </p:spPr>
        <p:txBody>
          <a:bodyPr wrap="square" rtlCol="0" anchor="ctr" anchorCtr="0">
            <a:noAutofit/>
          </a:bodyPr>
          <a:lstStyle/>
          <a:p>
            <a:pPr algn="ctr"/>
            <a:r>
              <a:rPr lang="en-US" altLang="zh-CN"/>
              <a:t>10</a:t>
            </a:r>
          </a:p>
        </p:txBody>
      </p:sp>
      <p:sp>
        <p:nvSpPr>
          <p:cNvPr id="53" name="文本框 52"/>
          <p:cNvSpPr txBox="1"/>
          <p:nvPr/>
        </p:nvSpPr>
        <p:spPr>
          <a:xfrm>
            <a:off x="8150225" y="2579370"/>
            <a:ext cx="676275" cy="723265"/>
          </a:xfrm>
          <a:prstGeom prst="rect">
            <a:avLst/>
          </a:prstGeom>
          <a:noFill/>
        </p:spPr>
        <p:txBody>
          <a:bodyPr wrap="square" rtlCol="0" anchor="ctr" anchorCtr="0">
            <a:noAutofit/>
          </a:bodyPr>
          <a:lstStyle/>
          <a:p>
            <a:pPr algn="ctr"/>
            <a:r>
              <a:rPr lang="en-US" altLang="zh-CN"/>
              <a:t>10</a:t>
            </a:r>
          </a:p>
        </p:txBody>
      </p:sp>
      <p:sp>
        <p:nvSpPr>
          <p:cNvPr id="54" name="文本框 53"/>
          <p:cNvSpPr txBox="1"/>
          <p:nvPr/>
        </p:nvSpPr>
        <p:spPr>
          <a:xfrm>
            <a:off x="2109470" y="3302635"/>
            <a:ext cx="676275" cy="723265"/>
          </a:xfrm>
          <a:prstGeom prst="rect">
            <a:avLst/>
          </a:prstGeom>
          <a:noFill/>
        </p:spPr>
        <p:txBody>
          <a:bodyPr wrap="square" rtlCol="0" anchor="ctr" anchorCtr="0">
            <a:noAutofit/>
          </a:bodyPr>
          <a:lstStyle/>
          <a:p>
            <a:pPr algn="ctr"/>
            <a:r>
              <a:rPr lang="en-US" altLang="zh-CN"/>
              <a:t>0</a:t>
            </a:r>
          </a:p>
        </p:txBody>
      </p:sp>
      <p:sp>
        <p:nvSpPr>
          <p:cNvPr id="55" name="文本框 54"/>
          <p:cNvSpPr txBox="1"/>
          <p:nvPr/>
        </p:nvSpPr>
        <p:spPr>
          <a:xfrm>
            <a:off x="2779395" y="3290570"/>
            <a:ext cx="676275" cy="723265"/>
          </a:xfrm>
          <a:prstGeom prst="rect">
            <a:avLst/>
          </a:prstGeom>
          <a:noFill/>
        </p:spPr>
        <p:txBody>
          <a:bodyPr wrap="square" rtlCol="0" anchor="ctr" anchorCtr="0">
            <a:noAutofit/>
          </a:bodyPr>
          <a:lstStyle/>
          <a:p>
            <a:pPr algn="ctr"/>
            <a:r>
              <a:rPr lang="en-US" altLang="zh-CN"/>
              <a:t>0</a:t>
            </a:r>
          </a:p>
        </p:txBody>
      </p:sp>
      <p:sp>
        <p:nvSpPr>
          <p:cNvPr id="56" name="文本框 55"/>
          <p:cNvSpPr txBox="1"/>
          <p:nvPr/>
        </p:nvSpPr>
        <p:spPr>
          <a:xfrm>
            <a:off x="3449320" y="3290570"/>
            <a:ext cx="676275" cy="723265"/>
          </a:xfrm>
          <a:prstGeom prst="rect">
            <a:avLst/>
          </a:prstGeom>
          <a:noFill/>
        </p:spPr>
        <p:txBody>
          <a:bodyPr wrap="square" rtlCol="0" anchor="ctr" anchorCtr="0">
            <a:noAutofit/>
          </a:bodyPr>
          <a:lstStyle/>
          <a:p>
            <a:pPr algn="ctr"/>
            <a:r>
              <a:rPr lang="en-US" altLang="zh-CN"/>
              <a:t>0</a:t>
            </a:r>
          </a:p>
        </p:txBody>
      </p:sp>
      <p:sp>
        <p:nvSpPr>
          <p:cNvPr id="57" name="文本框 56"/>
          <p:cNvSpPr txBox="1"/>
          <p:nvPr/>
        </p:nvSpPr>
        <p:spPr>
          <a:xfrm>
            <a:off x="4119245" y="3290570"/>
            <a:ext cx="676275" cy="723265"/>
          </a:xfrm>
          <a:prstGeom prst="rect">
            <a:avLst/>
          </a:prstGeom>
          <a:noFill/>
        </p:spPr>
        <p:txBody>
          <a:bodyPr wrap="square" rtlCol="0" anchor="ctr" anchorCtr="0">
            <a:noAutofit/>
          </a:bodyPr>
          <a:lstStyle/>
          <a:p>
            <a:pPr algn="ctr"/>
            <a:r>
              <a:rPr lang="en-US" altLang="zh-CN"/>
              <a:t>0</a:t>
            </a:r>
          </a:p>
        </p:txBody>
      </p:sp>
      <p:sp>
        <p:nvSpPr>
          <p:cNvPr id="58" name="文本框 57"/>
          <p:cNvSpPr txBox="1"/>
          <p:nvPr/>
        </p:nvSpPr>
        <p:spPr>
          <a:xfrm>
            <a:off x="4789170" y="3290570"/>
            <a:ext cx="676275" cy="723265"/>
          </a:xfrm>
          <a:prstGeom prst="rect">
            <a:avLst/>
          </a:prstGeom>
          <a:noFill/>
        </p:spPr>
        <p:txBody>
          <a:bodyPr wrap="square" rtlCol="0" anchor="ctr" anchorCtr="0">
            <a:noAutofit/>
          </a:bodyPr>
          <a:lstStyle/>
          <a:p>
            <a:pPr algn="ctr"/>
            <a:r>
              <a:rPr lang="en-US" altLang="zh-CN"/>
              <a:t>0</a:t>
            </a:r>
          </a:p>
        </p:txBody>
      </p:sp>
      <p:sp>
        <p:nvSpPr>
          <p:cNvPr id="59" name="文本框 58"/>
          <p:cNvSpPr txBox="1"/>
          <p:nvPr/>
        </p:nvSpPr>
        <p:spPr>
          <a:xfrm>
            <a:off x="5460365" y="3290570"/>
            <a:ext cx="676275" cy="723265"/>
          </a:xfrm>
          <a:prstGeom prst="rect">
            <a:avLst/>
          </a:prstGeom>
          <a:noFill/>
        </p:spPr>
        <p:txBody>
          <a:bodyPr wrap="square" rtlCol="0" anchor="ctr" anchorCtr="0">
            <a:noAutofit/>
          </a:bodyPr>
          <a:lstStyle/>
          <a:p>
            <a:pPr algn="ctr"/>
            <a:r>
              <a:rPr lang="en-US" altLang="zh-CN" dirty="0"/>
              <a:t>5</a:t>
            </a:r>
            <a:endParaRPr lang="en-US" altLang="zh-CN" dirty="0"/>
          </a:p>
        </p:txBody>
      </p:sp>
      <p:cxnSp>
        <p:nvCxnSpPr>
          <p:cNvPr id="60" name="直接箭头连接符 59"/>
          <p:cNvCxnSpPr/>
          <p:nvPr/>
        </p:nvCxnSpPr>
        <p:spPr>
          <a:xfrm>
            <a:off x="1943735" y="2291080"/>
            <a:ext cx="5010150" cy="586105"/>
          </a:xfrm>
          <a:prstGeom prst="straightConnector1">
            <a:avLst/>
          </a:prstGeom>
          <a:ln>
            <a:solidFill>
              <a:schemeClr val="accent2"/>
            </a:solidFill>
            <a:tailEnd type="arrow" w="med" len="med"/>
          </a:ln>
        </p:spPr>
        <p:style>
          <a:lnRef idx="3">
            <a:schemeClr val="accent1"/>
          </a:lnRef>
          <a:fillRef idx="0">
            <a:srgbClr val="FFFFFF"/>
          </a:fillRef>
          <a:effectRef idx="0">
            <a:srgbClr val="FFFFFF"/>
          </a:effectRef>
          <a:fontRef idx="minor">
            <a:schemeClr val="tx1"/>
          </a:fontRef>
        </p:style>
      </p:cxnSp>
      <p:cxnSp>
        <p:nvCxnSpPr>
          <p:cNvPr id="61" name="直接箭头连接符 60"/>
          <p:cNvCxnSpPr/>
          <p:nvPr/>
        </p:nvCxnSpPr>
        <p:spPr>
          <a:xfrm>
            <a:off x="7027545" y="2516505"/>
            <a:ext cx="0" cy="375920"/>
          </a:xfrm>
          <a:prstGeom prst="straightConnector1">
            <a:avLst/>
          </a:prstGeom>
          <a:ln>
            <a:solidFill>
              <a:srgbClr val="00B0F0"/>
            </a:solidFill>
            <a:tailEnd type="arrow" w="med" len="med"/>
          </a:ln>
        </p:spPr>
        <p:style>
          <a:lnRef idx="3">
            <a:schemeClr val="accent1"/>
          </a:lnRef>
          <a:fillRef idx="0">
            <a:srgbClr val="FFFFFF"/>
          </a:fillRef>
          <a:effectRef idx="0">
            <a:srgbClr val="FFFFFF"/>
          </a:effectRef>
          <a:fontRef idx="minor">
            <a:schemeClr val="tx1"/>
          </a:fontRef>
        </p:style>
      </p:cxnSp>
      <p:sp>
        <p:nvSpPr>
          <p:cNvPr id="62" name="文本框 61"/>
          <p:cNvSpPr txBox="1"/>
          <p:nvPr/>
        </p:nvSpPr>
        <p:spPr>
          <a:xfrm>
            <a:off x="6068060" y="2973070"/>
            <a:ext cx="839470" cy="368300"/>
          </a:xfrm>
          <a:prstGeom prst="rect">
            <a:avLst/>
          </a:prstGeom>
          <a:noFill/>
        </p:spPr>
        <p:txBody>
          <a:bodyPr wrap="square" rtlCol="0">
            <a:spAutoFit/>
          </a:bodyPr>
          <a:lstStyle/>
          <a:p>
            <a:r>
              <a:rPr lang="zh-CN" altLang="en-US">
                <a:solidFill>
                  <a:schemeClr val="accent2"/>
                </a:solidFill>
              </a:rPr>
              <a:t>要</a:t>
            </a:r>
            <a:r>
              <a:rPr lang="en-US" altLang="zh-CN">
                <a:solidFill>
                  <a:schemeClr val="accent2"/>
                </a:solidFill>
              </a:rPr>
              <a:t>+10</a:t>
            </a:r>
          </a:p>
        </p:txBody>
      </p:sp>
      <p:sp>
        <p:nvSpPr>
          <p:cNvPr id="63" name="文本框 62"/>
          <p:cNvSpPr txBox="1"/>
          <p:nvPr/>
        </p:nvSpPr>
        <p:spPr>
          <a:xfrm>
            <a:off x="6941820" y="2291080"/>
            <a:ext cx="709295" cy="368300"/>
          </a:xfrm>
          <a:prstGeom prst="rect">
            <a:avLst/>
          </a:prstGeom>
          <a:noFill/>
        </p:spPr>
        <p:txBody>
          <a:bodyPr wrap="square" rtlCol="0">
            <a:spAutoFit/>
          </a:bodyPr>
          <a:lstStyle/>
          <a:p>
            <a:r>
              <a:rPr lang="zh-CN" altLang="en-US">
                <a:solidFill>
                  <a:srgbClr val="00B0F0"/>
                </a:solidFill>
              </a:rPr>
              <a:t>不要</a:t>
            </a:r>
          </a:p>
        </p:txBody>
      </p:sp>
      <p:cxnSp>
        <p:nvCxnSpPr>
          <p:cNvPr id="64" name="直接箭头连接符 63"/>
          <p:cNvCxnSpPr/>
          <p:nvPr/>
        </p:nvCxnSpPr>
        <p:spPr>
          <a:xfrm>
            <a:off x="1938655" y="2943860"/>
            <a:ext cx="3680460" cy="684530"/>
          </a:xfrm>
          <a:prstGeom prst="straightConnector1">
            <a:avLst/>
          </a:prstGeom>
          <a:ln>
            <a:solidFill>
              <a:schemeClr val="accent2"/>
            </a:solidFill>
            <a:tailEnd type="arrow" w="med" len="med"/>
          </a:ln>
        </p:spPr>
        <p:style>
          <a:lnRef idx="3">
            <a:schemeClr val="accent1"/>
          </a:lnRef>
          <a:fillRef idx="0">
            <a:srgbClr val="FFFFFF"/>
          </a:fillRef>
          <a:effectRef idx="0">
            <a:srgbClr val="FFFFFF"/>
          </a:effectRef>
          <a:fontRef idx="minor">
            <a:schemeClr val="tx1"/>
          </a:fontRef>
        </p:style>
      </p:cxnSp>
      <p:cxnSp>
        <p:nvCxnSpPr>
          <p:cNvPr id="65" name="直接箭头连接符 64"/>
          <p:cNvCxnSpPr/>
          <p:nvPr/>
        </p:nvCxnSpPr>
        <p:spPr>
          <a:xfrm>
            <a:off x="5800090" y="3147695"/>
            <a:ext cx="0" cy="375920"/>
          </a:xfrm>
          <a:prstGeom prst="straightConnector1">
            <a:avLst/>
          </a:prstGeom>
          <a:ln>
            <a:solidFill>
              <a:srgbClr val="00B0F0"/>
            </a:solidFill>
            <a:tailEnd type="arrow" w="med" len="med"/>
          </a:ln>
        </p:spPr>
        <p:style>
          <a:lnRef idx="3">
            <a:schemeClr val="accent1"/>
          </a:lnRef>
          <a:fillRef idx="0">
            <a:srgbClr val="FFFFFF"/>
          </a:fillRef>
          <a:effectRef idx="0">
            <a:srgbClr val="FFFFFF"/>
          </a:effectRef>
          <a:fontRef idx="minor">
            <a:schemeClr val="tx1"/>
          </a:fontRef>
        </p:style>
      </p:cxnSp>
      <p:sp>
        <p:nvSpPr>
          <p:cNvPr id="66" name="文本框 65"/>
          <p:cNvSpPr txBox="1"/>
          <p:nvPr/>
        </p:nvSpPr>
        <p:spPr>
          <a:xfrm>
            <a:off x="4779645" y="3621405"/>
            <a:ext cx="839470" cy="368300"/>
          </a:xfrm>
          <a:prstGeom prst="rect">
            <a:avLst/>
          </a:prstGeom>
          <a:noFill/>
        </p:spPr>
        <p:txBody>
          <a:bodyPr wrap="square" rtlCol="0">
            <a:spAutoFit/>
          </a:bodyPr>
          <a:lstStyle/>
          <a:p>
            <a:r>
              <a:rPr lang="zh-CN" altLang="en-US" dirty="0">
                <a:solidFill>
                  <a:schemeClr val="accent2"/>
                </a:solidFill>
              </a:rPr>
              <a:t>要</a:t>
            </a:r>
            <a:r>
              <a:rPr lang="en-US" altLang="zh-CN" dirty="0" smtClean="0">
                <a:solidFill>
                  <a:schemeClr val="accent2"/>
                </a:solidFill>
              </a:rPr>
              <a:t>+</a:t>
            </a:r>
            <a:r>
              <a:rPr lang="en-US" altLang="zh-CN" dirty="0">
                <a:solidFill>
                  <a:schemeClr val="accent2"/>
                </a:solidFill>
              </a:rPr>
              <a:t>5</a:t>
            </a:r>
            <a:endParaRPr lang="en-US" altLang="zh-CN" dirty="0">
              <a:solidFill>
                <a:schemeClr val="accent2"/>
              </a:solidFill>
            </a:endParaRPr>
          </a:p>
        </p:txBody>
      </p:sp>
      <p:sp>
        <p:nvSpPr>
          <p:cNvPr id="67" name="文本框 66"/>
          <p:cNvSpPr txBox="1"/>
          <p:nvPr/>
        </p:nvSpPr>
        <p:spPr>
          <a:xfrm>
            <a:off x="5714365" y="2922270"/>
            <a:ext cx="709295" cy="368300"/>
          </a:xfrm>
          <a:prstGeom prst="rect">
            <a:avLst/>
          </a:prstGeom>
          <a:noFill/>
        </p:spPr>
        <p:txBody>
          <a:bodyPr wrap="square" rtlCol="0">
            <a:spAutoFit/>
          </a:bodyPr>
          <a:lstStyle/>
          <a:p>
            <a:r>
              <a:rPr lang="zh-CN" altLang="en-US">
                <a:solidFill>
                  <a:srgbClr val="00B0F0"/>
                </a:solidFill>
              </a:rPr>
              <a:t>不要</a:t>
            </a:r>
          </a:p>
        </p:txBody>
      </p:sp>
      <p:sp>
        <p:nvSpPr>
          <p:cNvPr id="68" name="文本框 67"/>
          <p:cNvSpPr txBox="1"/>
          <p:nvPr/>
        </p:nvSpPr>
        <p:spPr>
          <a:xfrm>
            <a:off x="4118610" y="4021455"/>
            <a:ext cx="676275" cy="723265"/>
          </a:xfrm>
          <a:prstGeom prst="rect">
            <a:avLst/>
          </a:prstGeom>
          <a:noFill/>
        </p:spPr>
        <p:txBody>
          <a:bodyPr wrap="square" rtlCol="0" anchor="ctr" anchorCtr="0">
            <a:noAutofit/>
          </a:bodyPr>
          <a:lstStyle/>
          <a:p>
            <a:pPr algn="ctr"/>
            <a:r>
              <a:rPr lang="en-US" altLang="zh-CN"/>
              <a:t>6</a:t>
            </a:r>
          </a:p>
        </p:txBody>
      </p:sp>
      <p:sp>
        <p:nvSpPr>
          <p:cNvPr id="69" name="文本框 68"/>
          <p:cNvSpPr txBox="1"/>
          <p:nvPr/>
        </p:nvSpPr>
        <p:spPr>
          <a:xfrm>
            <a:off x="6803390" y="3290570"/>
            <a:ext cx="676275" cy="723265"/>
          </a:xfrm>
          <a:prstGeom prst="rect">
            <a:avLst/>
          </a:prstGeom>
          <a:noFill/>
        </p:spPr>
        <p:txBody>
          <a:bodyPr wrap="square" rtlCol="0" anchor="ctr" anchorCtr="0">
            <a:noAutofit/>
          </a:bodyPr>
          <a:lstStyle/>
          <a:p>
            <a:pPr algn="ctr"/>
            <a:r>
              <a:rPr lang="en-US" altLang="zh-CN"/>
              <a:t>10</a:t>
            </a:r>
          </a:p>
        </p:txBody>
      </p:sp>
      <p:sp>
        <p:nvSpPr>
          <p:cNvPr id="70" name="文本框 69"/>
          <p:cNvSpPr txBox="1"/>
          <p:nvPr/>
        </p:nvSpPr>
        <p:spPr>
          <a:xfrm>
            <a:off x="7468870" y="3290570"/>
            <a:ext cx="676275" cy="723265"/>
          </a:xfrm>
          <a:prstGeom prst="rect">
            <a:avLst/>
          </a:prstGeom>
          <a:noFill/>
        </p:spPr>
        <p:txBody>
          <a:bodyPr wrap="square" rtlCol="0" anchor="ctr" anchorCtr="0">
            <a:noAutofit/>
          </a:bodyPr>
          <a:lstStyle/>
          <a:p>
            <a:pPr algn="ctr"/>
            <a:r>
              <a:rPr lang="en-US" altLang="zh-CN"/>
              <a:t>10</a:t>
            </a:r>
          </a:p>
        </p:txBody>
      </p:sp>
      <p:sp>
        <p:nvSpPr>
          <p:cNvPr id="71" name="文本框 70"/>
          <p:cNvSpPr txBox="1"/>
          <p:nvPr/>
        </p:nvSpPr>
        <p:spPr>
          <a:xfrm>
            <a:off x="8140065" y="3290570"/>
            <a:ext cx="676275" cy="723265"/>
          </a:xfrm>
          <a:prstGeom prst="rect">
            <a:avLst/>
          </a:prstGeom>
          <a:noFill/>
        </p:spPr>
        <p:txBody>
          <a:bodyPr wrap="square" rtlCol="0" anchor="ctr" anchorCtr="0">
            <a:noAutofit/>
          </a:bodyPr>
          <a:lstStyle/>
          <a:p>
            <a:pPr algn="ctr"/>
            <a:r>
              <a:rPr lang="en-US" altLang="zh-CN"/>
              <a:t>10</a:t>
            </a:r>
          </a:p>
        </p:txBody>
      </p:sp>
      <p:sp>
        <p:nvSpPr>
          <p:cNvPr id="72" name="文本框 71"/>
          <p:cNvSpPr txBox="1"/>
          <p:nvPr/>
        </p:nvSpPr>
        <p:spPr>
          <a:xfrm>
            <a:off x="2109470" y="4001770"/>
            <a:ext cx="676275" cy="723265"/>
          </a:xfrm>
          <a:prstGeom prst="rect">
            <a:avLst/>
          </a:prstGeom>
          <a:noFill/>
        </p:spPr>
        <p:txBody>
          <a:bodyPr wrap="square" rtlCol="0" anchor="ctr" anchorCtr="0">
            <a:noAutofit/>
          </a:bodyPr>
          <a:lstStyle/>
          <a:p>
            <a:pPr algn="ctr"/>
            <a:r>
              <a:rPr lang="en-US" altLang="zh-CN"/>
              <a:t>0</a:t>
            </a:r>
          </a:p>
        </p:txBody>
      </p:sp>
      <p:sp>
        <p:nvSpPr>
          <p:cNvPr id="74" name="文本框 73"/>
          <p:cNvSpPr txBox="1"/>
          <p:nvPr/>
        </p:nvSpPr>
        <p:spPr>
          <a:xfrm>
            <a:off x="2779395" y="3989705"/>
            <a:ext cx="676275" cy="723265"/>
          </a:xfrm>
          <a:prstGeom prst="rect">
            <a:avLst/>
          </a:prstGeom>
          <a:noFill/>
        </p:spPr>
        <p:txBody>
          <a:bodyPr wrap="square" rtlCol="0" anchor="ctr" anchorCtr="0">
            <a:noAutofit/>
          </a:bodyPr>
          <a:lstStyle/>
          <a:p>
            <a:pPr algn="ctr"/>
            <a:r>
              <a:rPr lang="en-US" altLang="zh-CN"/>
              <a:t>0</a:t>
            </a:r>
          </a:p>
        </p:txBody>
      </p:sp>
      <p:sp>
        <p:nvSpPr>
          <p:cNvPr id="75" name="文本框 74"/>
          <p:cNvSpPr txBox="1"/>
          <p:nvPr/>
        </p:nvSpPr>
        <p:spPr>
          <a:xfrm>
            <a:off x="3455670" y="3989705"/>
            <a:ext cx="676275" cy="723265"/>
          </a:xfrm>
          <a:prstGeom prst="rect">
            <a:avLst/>
          </a:prstGeom>
          <a:noFill/>
        </p:spPr>
        <p:txBody>
          <a:bodyPr wrap="square" rtlCol="0" anchor="ctr" anchorCtr="0">
            <a:noAutofit/>
          </a:bodyPr>
          <a:lstStyle/>
          <a:p>
            <a:pPr algn="ctr"/>
            <a:r>
              <a:rPr lang="en-US" altLang="zh-CN"/>
              <a:t>0</a:t>
            </a:r>
          </a:p>
        </p:txBody>
      </p:sp>
      <p:cxnSp>
        <p:nvCxnSpPr>
          <p:cNvPr id="76" name="直接箭头连接符 75"/>
          <p:cNvCxnSpPr/>
          <p:nvPr/>
        </p:nvCxnSpPr>
        <p:spPr>
          <a:xfrm>
            <a:off x="1948180" y="3681730"/>
            <a:ext cx="2299970" cy="669290"/>
          </a:xfrm>
          <a:prstGeom prst="straightConnector1">
            <a:avLst/>
          </a:prstGeom>
          <a:ln>
            <a:solidFill>
              <a:schemeClr val="accent2"/>
            </a:solidFill>
            <a:tailEnd type="arrow" w="med" len="med"/>
          </a:ln>
        </p:spPr>
        <p:style>
          <a:lnRef idx="3">
            <a:schemeClr val="accent1"/>
          </a:lnRef>
          <a:fillRef idx="0">
            <a:srgbClr val="FFFFFF"/>
          </a:fillRef>
          <a:effectRef idx="0">
            <a:srgbClr val="FFFFFF"/>
          </a:effectRef>
          <a:fontRef idx="minor">
            <a:schemeClr val="tx1"/>
          </a:fontRef>
        </p:style>
      </p:cxnSp>
      <p:cxnSp>
        <p:nvCxnSpPr>
          <p:cNvPr id="77" name="直接箭头连接符 76"/>
          <p:cNvCxnSpPr/>
          <p:nvPr/>
        </p:nvCxnSpPr>
        <p:spPr>
          <a:xfrm>
            <a:off x="4429125" y="3870325"/>
            <a:ext cx="0" cy="375920"/>
          </a:xfrm>
          <a:prstGeom prst="straightConnector1">
            <a:avLst/>
          </a:prstGeom>
          <a:ln>
            <a:solidFill>
              <a:srgbClr val="00B0F0"/>
            </a:solidFill>
            <a:tailEnd type="arrow" w="med" len="med"/>
          </a:ln>
        </p:spPr>
        <p:style>
          <a:lnRef idx="3">
            <a:schemeClr val="accent1"/>
          </a:lnRef>
          <a:fillRef idx="0">
            <a:srgbClr val="FFFFFF"/>
          </a:fillRef>
          <a:effectRef idx="0">
            <a:srgbClr val="FFFFFF"/>
          </a:effectRef>
          <a:fontRef idx="minor">
            <a:schemeClr val="tx1"/>
          </a:fontRef>
        </p:style>
      </p:cxnSp>
      <p:sp>
        <p:nvSpPr>
          <p:cNvPr id="78" name="文本框 77"/>
          <p:cNvSpPr txBox="1"/>
          <p:nvPr/>
        </p:nvSpPr>
        <p:spPr>
          <a:xfrm>
            <a:off x="3408680" y="4344035"/>
            <a:ext cx="839470" cy="368300"/>
          </a:xfrm>
          <a:prstGeom prst="rect">
            <a:avLst/>
          </a:prstGeom>
          <a:noFill/>
        </p:spPr>
        <p:txBody>
          <a:bodyPr wrap="square" rtlCol="0">
            <a:spAutoFit/>
          </a:bodyPr>
          <a:lstStyle/>
          <a:p>
            <a:r>
              <a:rPr lang="zh-CN" altLang="en-US">
                <a:solidFill>
                  <a:schemeClr val="accent2"/>
                </a:solidFill>
              </a:rPr>
              <a:t>要</a:t>
            </a:r>
            <a:r>
              <a:rPr lang="en-US" altLang="zh-CN">
                <a:solidFill>
                  <a:schemeClr val="accent2"/>
                </a:solidFill>
              </a:rPr>
              <a:t>+6</a:t>
            </a:r>
          </a:p>
        </p:txBody>
      </p:sp>
      <p:sp>
        <p:nvSpPr>
          <p:cNvPr id="79" name="文本框 78"/>
          <p:cNvSpPr txBox="1"/>
          <p:nvPr/>
        </p:nvSpPr>
        <p:spPr>
          <a:xfrm>
            <a:off x="4343400" y="3644900"/>
            <a:ext cx="709295" cy="368300"/>
          </a:xfrm>
          <a:prstGeom prst="rect">
            <a:avLst/>
          </a:prstGeom>
          <a:noFill/>
        </p:spPr>
        <p:txBody>
          <a:bodyPr wrap="square" rtlCol="0">
            <a:spAutoFit/>
          </a:bodyPr>
          <a:lstStyle/>
          <a:p>
            <a:r>
              <a:rPr lang="zh-CN" altLang="en-US">
                <a:solidFill>
                  <a:srgbClr val="00B0F0"/>
                </a:solidFill>
              </a:rPr>
              <a:t>不要</a:t>
            </a:r>
          </a:p>
        </p:txBody>
      </p:sp>
      <p:pic>
        <p:nvPicPr>
          <p:cNvPr id="80" name="图片 79" descr="3b32313534343735383bcaedc6ac"/>
          <p:cNvPicPr>
            <a:picLocks noChangeAspect="1"/>
          </p:cNvPicPr>
          <p:nvPr>
            <p:custDataLst>
              <p:tags r:id="rId20"/>
            </p:custDataLst>
          </p:nvPr>
        </p:nvPicPr>
        <p:blipFill>
          <a:blip r:embed="rId37"/>
          <a:stretch>
            <a:fillRect/>
          </a:stretch>
        </p:blipFill>
        <p:spPr>
          <a:xfrm>
            <a:off x="3175" y="2472690"/>
            <a:ext cx="817880" cy="817880"/>
          </a:xfrm>
          <a:prstGeom prst="rect">
            <a:avLst/>
          </a:prstGeom>
        </p:spPr>
      </p:pic>
      <p:pic>
        <p:nvPicPr>
          <p:cNvPr id="81" name="图片 80" descr="3b32313539313533373bbfc9c0d6"/>
          <p:cNvPicPr>
            <a:picLocks noChangeAspect="1"/>
          </p:cNvPicPr>
          <p:nvPr>
            <p:custDataLst>
              <p:tags r:id="rId21"/>
            </p:custDataLst>
          </p:nvPr>
        </p:nvPicPr>
        <p:blipFill>
          <a:blip r:embed="rId38"/>
          <a:stretch>
            <a:fillRect/>
          </a:stretch>
        </p:blipFill>
        <p:spPr>
          <a:xfrm>
            <a:off x="71120" y="3341370"/>
            <a:ext cx="672465" cy="672465"/>
          </a:xfrm>
          <a:prstGeom prst="rect">
            <a:avLst/>
          </a:prstGeom>
        </p:spPr>
      </p:pic>
      <p:pic>
        <p:nvPicPr>
          <p:cNvPr id="82" name="图片 81" descr="3b32313539313534303bc7fac6e6b1fdb8c9"/>
          <p:cNvPicPr>
            <a:picLocks noChangeAspect="1"/>
          </p:cNvPicPr>
          <p:nvPr>
            <p:custDataLst>
              <p:tags r:id="rId22"/>
            </p:custDataLst>
          </p:nvPr>
        </p:nvPicPr>
        <p:blipFill>
          <a:blip r:embed="rId39"/>
          <a:stretch>
            <a:fillRect/>
          </a:stretch>
        </p:blipFill>
        <p:spPr>
          <a:xfrm>
            <a:off x="180340" y="4151630"/>
            <a:ext cx="463550" cy="463550"/>
          </a:xfrm>
          <a:prstGeom prst="rect">
            <a:avLst/>
          </a:prstGeom>
        </p:spPr>
      </p:pic>
      <p:sp>
        <p:nvSpPr>
          <p:cNvPr id="83" name="文本框 82"/>
          <p:cNvSpPr txBox="1"/>
          <p:nvPr/>
        </p:nvSpPr>
        <p:spPr>
          <a:xfrm>
            <a:off x="6141720" y="3302635"/>
            <a:ext cx="676275" cy="723265"/>
          </a:xfrm>
          <a:prstGeom prst="rect">
            <a:avLst/>
          </a:prstGeom>
          <a:noFill/>
        </p:spPr>
        <p:txBody>
          <a:bodyPr wrap="square" rtlCol="0" anchor="ctr" anchorCtr="0">
            <a:noAutofit/>
          </a:bodyPr>
          <a:lstStyle/>
          <a:p>
            <a:pPr algn="ctr"/>
            <a:r>
              <a:rPr lang="en-US" altLang="zh-CN" dirty="0"/>
              <a:t>5</a:t>
            </a:r>
            <a:endParaRPr lang="en-US" altLang="zh-CN" dirty="0"/>
          </a:p>
        </p:txBody>
      </p:sp>
      <p:sp>
        <p:nvSpPr>
          <p:cNvPr id="85" name="文本框 84"/>
          <p:cNvSpPr txBox="1"/>
          <p:nvPr>
            <p:custDataLst>
              <p:tags r:id="rId23"/>
            </p:custDataLst>
          </p:nvPr>
        </p:nvSpPr>
        <p:spPr>
          <a:xfrm>
            <a:off x="4778375" y="4017010"/>
            <a:ext cx="676275" cy="723265"/>
          </a:xfrm>
          <a:prstGeom prst="rect">
            <a:avLst/>
          </a:prstGeom>
          <a:noFill/>
        </p:spPr>
        <p:txBody>
          <a:bodyPr wrap="square" rtlCol="0" anchor="ctr" anchorCtr="0">
            <a:noAutofit/>
          </a:bodyPr>
          <a:lstStyle/>
          <a:p>
            <a:pPr algn="ctr"/>
            <a:r>
              <a:rPr lang="en-US" altLang="zh-CN"/>
              <a:t>6</a:t>
            </a:r>
          </a:p>
        </p:txBody>
      </p:sp>
      <p:sp>
        <p:nvSpPr>
          <p:cNvPr id="86" name="文本框 85"/>
          <p:cNvSpPr txBox="1"/>
          <p:nvPr>
            <p:custDataLst>
              <p:tags r:id="rId24"/>
            </p:custDataLst>
          </p:nvPr>
        </p:nvSpPr>
        <p:spPr>
          <a:xfrm>
            <a:off x="5459095" y="4017010"/>
            <a:ext cx="676275" cy="723265"/>
          </a:xfrm>
          <a:prstGeom prst="rect">
            <a:avLst/>
          </a:prstGeom>
          <a:noFill/>
        </p:spPr>
        <p:txBody>
          <a:bodyPr wrap="square" rtlCol="0" anchor="ctr" anchorCtr="0">
            <a:noAutofit/>
          </a:bodyPr>
          <a:lstStyle/>
          <a:p>
            <a:pPr algn="ctr"/>
            <a:r>
              <a:rPr lang="en-US" altLang="zh-CN"/>
              <a:t>6</a:t>
            </a:r>
          </a:p>
        </p:txBody>
      </p:sp>
      <p:sp>
        <p:nvSpPr>
          <p:cNvPr id="87" name="文本框 86"/>
          <p:cNvSpPr txBox="1"/>
          <p:nvPr>
            <p:custDataLst>
              <p:tags r:id="rId25"/>
            </p:custDataLst>
          </p:nvPr>
        </p:nvSpPr>
        <p:spPr>
          <a:xfrm>
            <a:off x="6127115" y="4017010"/>
            <a:ext cx="676275" cy="723265"/>
          </a:xfrm>
          <a:prstGeom prst="rect">
            <a:avLst/>
          </a:prstGeom>
          <a:noFill/>
        </p:spPr>
        <p:txBody>
          <a:bodyPr wrap="square" rtlCol="0" anchor="ctr" anchorCtr="0">
            <a:noAutofit/>
          </a:bodyPr>
          <a:lstStyle/>
          <a:p>
            <a:pPr algn="ctr"/>
            <a:r>
              <a:rPr lang="en-US" altLang="zh-CN"/>
              <a:t>6</a:t>
            </a:r>
          </a:p>
        </p:txBody>
      </p:sp>
      <p:sp>
        <p:nvSpPr>
          <p:cNvPr id="88" name="文本框 87"/>
          <p:cNvSpPr txBox="1"/>
          <p:nvPr>
            <p:custDataLst>
              <p:tags r:id="rId26"/>
            </p:custDataLst>
          </p:nvPr>
        </p:nvSpPr>
        <p:spPr>
          <a:xfrm>
            <a:off x="6817995" y="4017010"/>
            <a:ext cx="676275" cy="723265"/>
          </a:xfrm>
          <a:prstGeom prst="rect">
            <a:avLst/>
          </a:prstGeom>
          <a:noFill/>
        </p:spPr>
        <p:txBody>
          <a:bodyPr wrap="square" rtlCol="0" anchor="ctr" anchorCtr="0">
            <a:noAutofit/>
          </a:bodyPr>
          <a:lstStyle/>
          <a:p>
            <a:pPr algn="ctr"/>
            <a:r>
              <a:rPr lang="en-US" altLang="zh-CN"/>
              <a:t>10</a:t>
            </a:r>
          </a:p>
        </p:txBody>
      </p:sp>
      <p:sp>
        <p:nvSpPr>
          <p:cNvPr id="89" name="文本框 88"/>
          <p:cNvSpPr txBox="1"/>
          <p:nvPr>
            <p:custDataLst>
              <p:tags r:id="rId27"/>
            </p:custDataLst>
          </p:nvPr>
        </p:nvSpPr>
        <p:spPr>
          <a:xfrm>
            <a:off x="7463790" y="4017010"/>
            <a:ext cx="676275" cy="723265"/>
          </a:xfrm>
          <a:prstGeom prst="rect">
            <a:avLst/>
          </a:prstGeom>
          <a:noFill/>
        </p:spPr>
        <p:txBody>
          <a:bodyPr wrap="square" rtlCol="0" anchor="ctr" anchorCtr="0">
            <a:noAutofit/>
          </a:bodyPr>
          <a:lstStyle/>
          <a:p>
            <a:pPr algn="ctr"/>
            <a:r>
              <a:rPr lang="en-US" altLang="zh-CN"/>
              <a:t>10</a:t>
            </a:r>
          </a:p>
        </p:txBody>
      </p:sp>
      <p:cxnSp>
        <p:nvCxnSpPr>
          <p:cNvPr id="90" name="直接箭头连接符 89"/>
          <p:cNvCxnSpPr/>
          <p:nvPr>
            <p:custDataLst>
              <p:tags r:id="rId28"/>
            </p:custDataLst>
          </p:nvPr>
        </p:nvCxnSpPr>
        <p:spPr>
          <a:xfrm>
            <a:off x="5885815" y="3772535"/>
            <a:ext cx="2520950" cy="628650"/>
          </a:xfrm>
          <a:prstGeom prst="straightConnector1">
            <a:avLst/>
          </a:prstGeom>
          <a:ln>
            <a:solidFill>
              <a:schemeClr val="accent2"/>
            </a:solidFill>
            <a:tailEnd type="arrow" w="med" len="med"/>
          </a:ln>
        </p:spPr>
        <p:style>
          <a:lnRef idx="3">
            <a:schemeClr val="accent1"/>
          </a:lnRef>
          <a:fillRef idx="0">
            <a:srgbClr val="FFFFFF"/>
          </a:fillRef>
          <a:effectRef idx="0">
            <a:srgbClr val="FFFFFF"/>
          </a:effectRef>
          <a:fontRef idx="minor">
            <a:schemeClr val="tx1"/>
          </a:fontRef>
        </p:style>
      </p:cxnSp>
      <p:cxnSp>
        <p:nvCxnSpPr>
          <p:cNvPr id="91" name="直接箭头连接符 90"/>
          <p:cNvCxnSpPr/>
          <p:nvPr>
            <p:custDataLst>
              <p:tags r:id="rId29"/>
            </p:custDataLst>
          </p:nvPr>
        </p:nvCxnSpPr>
        <p:spPr>
          <a:xfrm>
            <a:off x="8632190" y="3801110"/>
            <a:ext cx="0" cy="375920"/>
          </a:xfrm>
          <a:prstGeom prst="straightConnector1">
            <a:avLst/>
          </a:prstGeom>
          <a:ln>
            <a:solidFill>
              <a:srgbClr val="00B0F0"/>
            </a:solidFill>
            <a:tailEnd type="arrow" w="med" len="med"/>
          </a:ln>
        </p:spPr>
        <p:style>
          <a:lnRef idx="3">
            <a:schemeClr val="accent1"/>
          </a:lnRef>
          <a:fillRef idx="0">
            <a:srgbClr val="FFFFFF"/>
          </a:fillRef>
          <a:effectRef idx="0">
            <a:srgbClr val="FFFFFF"/>
          </a:effectRef>
          <a:fontRef idx="minor">
            <a:schemeClr val="tx1"/>
          </a:fontRef>
        </p:style>
      </p:cxnSp>
      <p:sp>
        <p:nvSpPr>
          <p:cNvPr id="92" name="文本框 91"/>
          <p:cNvSpPr txBox="1"/>
          <p:nvPr>
            <p:custDataLst>
              <p:tags r:id="rId30"/>
            </p:custDataLst>
          </p:nvPr>
        </p:nvSpPr>
        <p:spPr>
          <a:xfrm>
            <a:off x="7567295" y="4394200"/>
            <a:ext cx="839470" cy="368300"/>
          </a:xfrm>
          <a:prstGeom prst="rect">
            <a:avLst/>
          </a:prstGeom>
          <a:noFill/>
        </p:spPr>
        <p:txBody>
          <a:bodyPr wrap="square" rtlCol="0">
            <a:spAutoFit/>
          </a:bodyPr>
          <a:lstStyle/>
          <a:p>
            <a:r>
              <a:rPr lang="zh-CN" altLang="en-US">
                <a:solidFill>
                  <a:schemeClr val="accent2"/>
                </a:solidFill>
              </a:rPr>
              <a:t>要</a:t>
            </a:r>
            <a:r>
              <a:rPr lang="en-US" altLang="zh-CN">
                <a:solidFill>
                  <a:schemeClr val="accent2"/>
                </a:solidFill>
              </a:rPr>
              <a:t>+6</a:t>
            </a:r>
          </a:p>
        </p:txBody>
      </p:sp>
      <p:sp>
        <p:nvSpPr>
          <p:cNvPr id="93" name="文本框 92"/>
          <p:cNvSpPr txBox="1"/>
          <p:nvPr>
            <p:custDataLst>
              <p:tags r:id="rId31"/>
            </p:custDataLst>
          </p:nvPr>
        </p:nvSpPr>
        <p:spPr>
          <a:xfrm>
            <a:off x="8546465" y="3575685"/>
            <a:ext cx="709295" cy="368300"/>
          </a:xfrm>
          <a:prstGeom prst="rect">
            <a:avLst/>
          </a:prstGeom>
          <a:noFill/>
        </p:spPr>
        <p:txBody>
          <a:bodyPr wrap="square" rtlCol="0">
            <a:spAutoFit/>
          </a:bodyPr>
          <a:lstStyle/>
          <a:p>
            <a:r>
              <a:rPr lang="zh-CN" altLang="en-US">
                <a:solidFill>
                  <a:srgbClr val="00B0F0"/>
                </a:solidFill>
              </a:rPr>
              <a:t>不要</a:t>
            </a:r>
          </a:p>
        </p:txBody>
      </p:sp>
      <p:sp>
        <p:nvSpPr>
          <p:cNvPr id="94" name="文本框 93"/>
          <p:cNvSpPr txBox="1"/>
          <p:nvPr>
            <p:custDataLst>
              <p:tags r:id="rId32"/>
            </p:custDataLst>
          </p:nvPr>
        </p:nvSpPr>
        <p:spPr>
          <a:xfrm>
            <a:off x="8140065" y="4017010"/>
            <a:ext cx="676275" cy="723265"/>
          </a:xfrm>
          <a:prstGeom prst="rect">
            <a:avLst/>
          </a:prstGeom>
          <a:noFill/>
        </p:spPr>
        <p:txBody>
          <a:bodyPr wrap="square" rtlCol="0" anchor="ctr" anchorCtr="0">
            <a:noAutofit/>
          </a:bodyPr>
          <a:lstStyle/>
          <a:p>
            <a:pPr algn="ctr"/>
            <a:r>
              <a:rPr lang="en-US" altLang="zh-CN" dirty="0" smtClean="0"/>
              <a:t>11</a:t>
            </a:r>
            <a:endParaRPr lang="en-US" altLang="zh-CN" dirty="0"/>
          </a:p>
        </p:txBody>
      </p:sp>
      <p:cxnSp>
        <p:nvCxnSpPr>
          <p:cNvPr id="95" name="直接箭头连接符 94"/>
          <p:cNvCxnSpPr/>
          <p:nvPr/>
        </p:nvCxnSpPr>
        <p:spPr>
          <a:xfrm>
            <a:off x="3323590" y="3086735"/>
            <a:ext cx="3637915" cy="576580"/>
          </a:xfrm>
          <a:prstGeom prst="straightConnector1">
            <a:avLst/>
          </a:prstGeom>
          <a:ln>
            <a:solidFill>
              <a:schemeClr val="accent2"/>
            </a:solidFill>
            <a:tailEnd type="arrow" w="med" len="med"/>
          </a:ln>
        </p:spPr>
        <p:style>
          <a:lnRef idx="3">
            <a:schemeClr val="accent1"/>
          </a:lnRef>
          <a:fillRef idx="0">
            <a:srgbClr val="FFFFFF"/>
          </a:fillRef>
          <a:effectRef idx="0">
            <a:srgbClr val="FFFFFF"/>
          </a:effectRef>
          <a:fontRef idx="minor">
            <a:schemeClr val="tx1"/>
          </a:fontRef>
        </p:style>
      </p:cxnSp>
      <p:cxnSp>
        <p:nvCxnSpPr>
          <p:cNvPr id="96" name="直接箭头连接符 95"/>
          <p:cNvCxnSpPr/>
          <p:nvPr/>
        </p:nvCxnSpPr>
        <p:spPr>
          <a:xfrm>
            <a:off x="7073900" y="3155950"/>
            <a:ext cx="0" cy="375920"/>
          </a:xfrm>
          <a:prstGeom prst="straightConnector1">
            <a:avLst/>
          </a:prstGeom>
          <a:ln>
            <a:solidFill>
              <a:srgbClr val="00B0F0"/>
            </a:solidFill>
            <a:tailEnd type="arrow" w="med" len="med"/>
          </a:ln>
        </p:spPr>
        <p:style>
          <a:lnRef idx="3">
            <a:schemeClr val="accent1"/>
          </a:lnRef>
          <a:fillRef idx="0">
            <a:srgbClr val="FFFFFF"/>
          </a:fillRef>
          <a:effectRef idx="0">
            <a:srgbClr val="FFFFFF"/>
          </a:effectRef>
          <a:fontRef idx="minor">
            <a:schemeClr val="tx1"/>
          </a:fontRef>
        </p:style>
      </p:cxnSp>
      <p:sp>
        <p:nvSpPr>
          <p:cNvPr id="97" name="文本框 96"/>
          <p:cNvSpPr txBox="1"/>
          <p:nvPr/>
        </p:nvSpPr>
        <p:spPr>
          <a:xfrm>
            <a:off x="6114415" y="3648710"/>
            <a:ext cx="839470" cy="368300"/>
          </a:xfrm>
          <a:prstGeom prst="rect">
            <a:avLst/>
          </a:prstGeom>
          <a:noFill/>
        </p:spPr>
        <p:txBody>
          <a:bodyPr wrap="square" rtlCol="0">
            <a:spAutoFit/>
          </a:bodyPr>
          <a:lstStyle/>
          <a:p>
            <a:r>
              <a:rPr lang="zh-CN" altLang="en-US" dirty="0">
                <a:solidFill>
                  <a:schemeClr val="accent2"/>
                </a:solidFill>
              </a:rPr>
              <a:t>要</a:t>
            </a:r>
            <a:r>
              <a:rPr lang="en-US" altLang="zh-CN" dirty="0" smtClean="0">
                <a:solidFill>
                  <a:schemeClr val="accent2"/>
                </a:solidFill>
              </a:rPr>
              <a:t>+5</a:t>
            </a:r>
            <a:endParaRPr lang="en-US" altLang="zh-CN" dirty="0">
              <a:solidFill>
                <a:schemeClr val="accent2"/>
              </a:solidFill>
            </a:endParaRPr>
          </a:p>
        </p:txBody>
      </p:sp>
      <p:sp>
        <p:nvSpPr>
          <p:cNvPr id="98" name="文本框 97"/>
          <p:cNvSpPr txBox="1"/>
          <p:nvPr/>
        </p:nvSpPr>
        <p:spPr>
          <a:xfrm>
            <a:off x="6985000" y="2995930"/>
            <a:ext cx="709295" cy="368300"/>
          </a:xfrm>
          <a:prstGeom prst="rect">
            <a:avLst/>
          </a:prstGeom>
          <a:noFill/>
        </p:spPr>
        <p:txBody>
          <a:bodyPr wrap="square" rtlCol="0">
            <a:spAutoFit/>
          </a:bodyPr>
          <a:lstStyle/>
          <a:p>
            <a:r>
              <a:rPr lang="zh-CN" altLang="en-US">
                <a:solidFill>
                  <a:srgbClr val="00B0F0"/>
                </a:solidFill>
              </a:rPr>
              <a:t>不要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2"/>
                                        </p:tgtEl>
                                        <p:attrNameLst>
                                          <p:attrName>style.visibility</p:attrName>
                                        </p:attrNameLst>
                                      </p:cBhvr>
                                      <p:to>
                                        <p:strVal val="visible"/>
                                      </p:to>
                                    </p:set>
                                  </p:childTnLst>
                                </p:cTn>
                              </p:par>
                              <p:par>
                                <p:cTn id="75" presetID="1" presetClass="exit" presetSubtype="0" fill="hold" grpId="1" nodeType="withEffect">
                                  <p:stCondLst>
                                    <p:cond delay="0"/>
                                  </p:stCondLst>
                                  <p:childTnLst>
                                    <p:set>
                                      <p:cBhvr>
                                        <p:cTn id="76" dur="1" fill="hold">
                                          <p:stCondLst>
                                            <p:cond delay="0"/>
                                          </p:stCondLst>
                                        </p:cTn>
                                        <p:tgtEl>
                                          <p:spTgt spid="63"/>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61"/>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62"/>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60"/>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6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59"/>
                                        </p:tgtEl>
                                        <p:attrNameLst>
                                          <p:attrName>style.visibility</p:attrName>
                                        </p:attrNameLst>
                                      </p:cBhvr>
                                      <p:to>
                                        <p:strVal val="visible"/>
                                      </p:to>
                                    </p:set>
                                  </p:childTnLst>
                                </p:cTn>
                              </p:par>
                              <p:par>
                                <p:cTn id="113" presetID="1" presetClass="exit" presetSubtype="0" fill="hold" nodeType="withEffect">
                                  <p:stCondLst>
                                    <p:cond delay="0"/>
                                  </p:stCondLst>
                                  <p:childTnLst>
                                    <p:set>
                                      <p:cBhvr>
                                        <p:cTn id="114" dur="1" fill="hold">
                                          <p:stCondLst>
                                            <p:cond delay="0"/>
                                          </p:stCondLst>
                                        </p:cTn>
                                        <p:tgtEl>
                                          <p:spTgt spid="65"/>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67"/>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0"/>
                                          </p:stCondLst>
                                        </p:cTn>
                                        <p:tgtEl>
                                          <p:spTgt spid="66"/>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64"/>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83"/>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9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96"/>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98"/>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69"/>
                                        </p:tgtEl>
                                        <p:attrNameLst>
                                          <p:attrName>style.visibility</p:attrName>
                                        </p:attrNameLst>
                                      </p:cBhvr>
                                      <p:to>
                                        <p:strVal val="visible"/>
                                      </p:to>
                                    </p:set>
                                  </p:childTnLst>
                                </p:cTn>
                              </p:par>
                              <p:par>
                                <p:cTn id="141" presetID="1" presetClass="exit" presetSubtype="0" fill="hold" grpId="1" nodeType="withEffect">
                                  <p:stCondLst>
                                    <p:cond delay="0"/>
                                  </p:stCondLst>
                                  <p:childTnLst>
                                    <p:set>
                                      <p:cBhvr>
                                        <p:cTn id="142" dur="1" fill="hold">
                                          <p:stCondLst>
                                            <p:cond delay="0"/>
                                          </p:stCondLst>
                                        </p:cTn>
                                        <p:tgtEl>
                                          <p:spTgt spid="97"/>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0"/>
                                          </p:stCondLst>
                                        </p:cTn>
                                        <p:tgtEl>
                                          <p:spTgt spid="95"/>
                                        </p:tgtEl>
                                        <p:attrNameLst>
                                          <p:attrName>style.visibility</p:attrName>
                                        </p:attrNameLst>
                                      </p:cBhvr>
                                      <p:to>
                                        <p:strVal val="hidden"/>
                                      </p:to>
                                    </p:set>
                                  </p:childTnLst>
                                </p:cTn>
                              </p:par>
                              <p:par>
                                <p:cTn id="145" presetID="1" presetClass="exit" presetSubtype="0" fill="hold" grpId="1" nodeType="withEffect">
                                  <p:stCondLst>
                                    <p:cond delay="0"/>
                                  </p:stCondLst>
                                  <p:childTnLst>
                                    <p:set>
                                      <p:cBhvr>
                                        <p:cTn id="146" dur="1" fill="hold">
                                          <p:stCondLst>
                                            <p:cond delay="0"/>
                                          </p:stCondLst>
                                        </p:cTn>
                                        <p:tgtEl>
                                          <p:spTgt spid="98"/>
                                        </p:tgtEl>
                                        <p:attrNameLst>
                                          <p:attrName>style.visibility</p:attrName>
                                        </p:attrNameLst>
                                      </p:cBhvr>
                                      <p:to>
                                        <p:strVal val="hidden"/>
                                      </p:to>
                                    </p:set>
                                  </p:childTnLst>
                                </p:cTn>
                              </p:par>
                              <p:par>
                                <p:cTn id="147" presetID="1" presetClass="exit" presetSubtype="0" fill="hold" nodeType="withEffect">
                                  <p:stCondLst>
                                    <p:cond delay="0"/>
                                  </p:stCondLst>
                                  <p:childTnLst>
                                    <p:set>
                                      <p:cBhvr>
                                        <p:cTn id="148" dur="1" fill="hold">
                                          <p:stCondLst>
                                            <p:cond delay="0"/>
                                          </p:stCondLst>
                                        </p:cTn>
                                        <p:tgtEl>
                                          <p:spTgt spid="96"/>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70"/>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71"/>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72"/>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7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75"/>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76"/>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78"/>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77"/>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7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68"/>
                                        </p:tgtEl>
                                        <p:attrNameLst>
                                          <p:attrName>style.visibility</p:attrName>
                                        </p:attrNameLst>
                                      </p:cBhvr>
                                      <p:to>
                                        <p:strVal val="visible"/>
                                      </p:to>
                                    </p:set>
                                  </p:childTnLst>
                                </p:cTn>
                              </p:par>
                              <p:par>
                                <p:cTn id="181" presetID="1" presetClass="exit" presetSubtype="0" fill="hold" grpId="1" nodeType="withEffect">
                                  <p:stCondLst>
                                    <p:cond delay="0"/>
                                  </p:stCondLst>
                                  <p:childTnLst>
                                    <p:set>
                                      <p:cBhvr>
                                        <p:cTn id="182" dur="1" fill="hold">
                                          <p:stCondLst>
                                            <p:cond delay="0"/>
                                          </p:stCondLst>
                                        </p:cTn>
                                        <p:tgtEl>
                                          <p:spTgt spid="79"/>
                                        </p:tgtEl>
                                        <p:attrNameLst>
                                          <p:attrName>style.visibility</p:attrName>
                                        </p:attrNameLst>
                                      </p:cBhvr>
                                      <p:to>
                                        <p:strVal val="hidden"/>
                                      </p:to>
                                    </p:set>
                                  </p:childTnLst>
                                </p:cTn>
                              </p:par>
                              <p:par>
                                <p:cTn id="183" presetID="1" presetClass="exit" presetSubtype="0" fill="hold" nodeType="withEffect">
                                  <p:stCondLst>
                                    <p:cond delay="0"/>
                                  </p:stCondLst>
                                  <p:childTnLst>
                                    <p:set>
                                      <p:cBhvr>
                                        <p:cTn id="184" dur="1" fill="hold">
                                          <p:stCondLst>
                                            <p:cond delay="0"/>
                                          </p:stCondLst>
                                        </p:cTn>
                                        <p:tgtEl>
                                          <p:spTgt spid="77"/>
                                        </p:tgtEl>
                                        <p:attrNameLst>
                                          <p:attrName>style.visibility</p:attrName>
                                        </p:attrNameLst>
                                      </p:cBhvr>
                                      <p:to>
                                        <p:strVal val="hidden"/>
                                      </p:to>
                                    </p:set>
                                  </p:childTnLst>
                                </p:cTn>
                              </p:par>
                              <p:par>
                                <p:cTn id="185" presetID="1" presetClass="exit" presetSubtype="0" fill="hold" nodeType="withEffect">
                                  <p:stCondLst>
                                    <p:cond delay="0"/>
                                  </p:stCondLst>
                                  <p:childTnLst>
                                    <p:set>
                                      <p:cBhvr>
                                        <p:cTn id="186" dur="1" fill="hold">
                                          <p:stCondLst>
                                            <p:cond delay="0"/>
                                          </p:stCondLst>
                                        </p:cTn>
                                        <p:tgtEl>
                                          <p:spTgt spid="76"/>
                                        </p:tgtEl>
                                        <p:attrNameLst>
                                          <p:attrName>style.visibility</p:attrName>
                                        </p:attrNameLst>
                                      </p:cBhvr>
                                      <p:to>
                                        <p:strVal val="hidden"/>
                                      </p:to>
                                    </p:set>
                                  </p:childTnLst>
                                </p:cTn>
                              </p:par>
                              <p:par>
                                <p:cTn id="187" presetID="1" presetClass="exit" presetSubtype="0" fill="hold" grpId="1" nodeType="withEffect">
                                  <p:stCondLst>
                                    <p:cond delay="0"/>
                                  </p:stCondLst>
                                  <p:childTnLst>
                                    <p:set>
                                      <p:cBhvr>
                                        <p:cTn id="188" dur="1" fill="hold">
                                          <p:stCondLst>
                                            <p:cond delay="0"/>
                                          </p:stCondLst>
                                        </p:cTn>
                                        <p:tgtEl>
                                          <p:spTgt spid="78"/>
                                        </p:tgtEl>
                                        <p:attrNameLst>
                                          <p:attrName>style.visibility</p:attrName>
                                        </p:attrNameLst>
                                      </p:cBhvr>
                                      <p:to>
                                        <p:strVal val="hidden"/>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85"/>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86"/>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87"/>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88"/>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0" nodeType="clickEffect">
                                  <p:stCondLst>
                                    <p:cond delay="0"/>
                                  </p:stCondLst>
                                  <p:childTnLst>
                                    <p:set>
                                      <p:cBhvr>
                                        <p:cTn id="208" dur="1" fill="hold">
                                          <p:stCondLst>
                                            <p:cond delay="0"/>
                                          </p:stCondLst>
                                        </p:cTn>
                                        <p:tgtEl>
                                          <p:spTgt spid="89"/>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nodeType="clickEffect">
                                  <p:stCondLst>
                                    <p:cond delay="0"/>
                                  </p:stCondLst>
                                  <p:childTnLst>
                                    <p:set>
                                      <p:cBhvr>
                                        <p:cTn id="212" dur="1" fill="hold">
                                          <p:stCondLst>
                                            <p:cond delay="0"/>
                                          </p:stCondLst>
                                        </p:cTn>
                                        <p:tgtEl>
                                          <p:spTgt spid="90"/>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92"/>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91"/>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93"/>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grpId="0" nodeType="clickEffect">
                                  <p:stCondLst>
                                    <p:cond delay="0"/>
                                  </p:stCondLst>
                                  <p:childTnLst>
                                    <p:set>
                                      <p:cBhvr>
                                        <p:cTn id="224"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P spid="3" grpId="0"/>
      <p:bldP spid="4" grpId="0"/>
      <p:bldP spid="15" grpId="0"/>
      <p:bldP spid="22" grpId="0"/>
      <p:bldP spid="24" grpId="0"/>
      <p:bldP spid="31" grpId="0"/>
      <p:bldP spid="32" grpId="0"/>
      <p:bldP spid="33" grpId="0"/>
      <p:bldP spid="34" grpId="0"/>
      <p:bldP spid="36" grpId="0"/>
      <p:bldP spid="37" grpId="0"/>
      <p:bldP spid="38" grpId="0"/>
      <p:bldP spid="39"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2" grpId="0"/>
      <p:bldP spid="62" grpId="1"/>
      <p:bldP spid="63" grpId="0"/>
      <p:bldP spid="63" grpId="1"/>
      <p:bldP spid="66" grpId="0"/>
      <p:bldP spid="66" grpId="1"/>
      <p:bldP spid="67" grpId="0"/>
      <p:bldP spid="67" grpId="1"/>
      <p:bldP spid="68" grpId="0"/>
      <p:bldP spid="69" grpId="0"/>
      <p:bldP spid="70" grpId="0"/>
      <p:bldP spid="71" grpId="0"/>
      <p:bldP spid="72" grpId="0"/>
      <p:bldP spid="74" grpId="0"/>
      <p:bldP spid="75" grpId="0"/>
      <p:bldP spid="78" grpId="0"/>
      <p:bldP spid="78" grpId="1"/>
      <p:bldP spid="79" grpId="0"/>
      <p:bldP spid="79" grpId="1"/>
      <p:bldP spid="83" grpId="0"/>
      <p:bldP spid="85" grpId="0"/>
      <p:bldP spid="86" grpId="0"/>
      <p:bldP spid="87" grpId="0"/>
      <p:bldP spid="88" grpId="0"/>
      <p:bldP spid="89" grpId="0"/>
      <p:bldP spid="92" grpId="0"/>
      <p:bldP spid="93" grpId="0"/>
      <p:bldP spid="94" grpId="0"/>
      <p:bldP spid="97" grpId="0"/>
      <p:bldP spid="97" grpId="1"/>
      <p:bldP spid="98" grpId="0"/>
      <p:bldP spid="98"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custDataLst>
              <p:tags r:id="rId1"/>
            </p:custDataLst>
          </p:nvPr>
        </p:nvSpPr>
        <p:spPr>
          <a:xfrm>
            <a:off x="519675" y="368275"/>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sym typeface="+mn-ea"/>
              </a:rPr>
              <a:t>背包问题模型</a:t>
            </a:r>
            <a:endParaRPr lang="zh-CN" altLang="en-US" sz="2400" b="1" dirty="0">
              <a:solidFill>
                <a:srgbClr val="003CA6"/>
              </a:solidFill>
              <a:latin typeface="微软雅黑" panose="020B0503020204020204" charset="-122"/>
              <a:ea typeface="微软雅黑" panose="020B0503020204020204" charset="-122"/>
            </a:endParaRPr>
          </a:p>
        </p:txBody>
      </p:sp>
      <mc:AlternateContent xmlns:mc="http://schemas.openxmlformats.org/markup-compatibility/2006" xmlns:a14="http://schemas.microsoft.com/office/drawing/2010/main">
        <mc:Choice Requires="a14">
          <p:sp>
            <p:nvSpPr>
              <p:cNvPr id="4" name="TextBox 6"/>
              <p:cNvSpPr txBox="1">
                <a:spLocks noChangeArrowheads="1"/>
              </p:cNvSpPr>
              <p:nvPr>
                <p:custDataLst>
                  <p:tags r:id="rId2"/>
                </p:custDataLst>
              </p:nvPr>
            </p:nvSpPr>
            <p:spPr bwMode="auto">
              <a:xfrm>
                <a:off x="762374" y="1728833"/>
                <a:ext cx="8261509" cy="184213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marL="0" indent="0" algn="l" fontAlgn="auto">
                  <a:lnSpc>
                    <a:spcPct val="150000"/>
                  </a:lnSpc>
                  <a:spcBef>
                    <a:spcPts val="0"/>
                  </a:spcBef>
                  <a:buNone/>
                </a:pP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状态：</a:t>
                </a: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f( </a:t>
                </a:r>
                <a:r>
                  <a:rPr lang="en-US" altLang="zh-CN" sz="1800" dirty="0" err="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i</a:t>
                </a: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 j )  </a:t>
                </a: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表示 前 </a:t>
                </a:r>
                <a:r>
                  <a:rPr lang="en-US" altLang="zh-CN" sz="1800" dirty="0" err="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i</a:t>
                </a: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个物品中选总体积 </a:t>
                </a: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&lt;= j </a:t>
                </a: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的最大总价值</a:t>
                </a:r>
                <a:endPar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indent="0" fontAlgn="auto">
                  <a:lnSpc>
                    <a:spcPct val="150000"/>
                  </a:lnSpc>
                  <a:spcBef>
                    <a:spcPts val="0"/>
                  </a:spcBef>
                  <a:buNone/>
                </a:pP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转移方程：</a:t>
                </a: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f( </a:t>
                </a:r>
                <a:r>
                  <a:rPr lang="en-US" altLang="zh-CN" sz="1800" dirty="0" err="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i</a:t>
                </a: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 j ) = max</a:t>
                </a:r>
                <a14:m>
                  <m:oMath xmlns:m="http://schemas.openxmlformats.org/officeDocument/2006/math">
                    <m:d>
                      <m:dPr>
                        <m:begChr m:val="{"/>
                        <m:endChr m:val=""/>
                        <m:ctrlPr>
                          <a:rPr lang="en-US" altLang="zh-CN" sz="1800" i="1" smtClean="0">
                            <a:solidFill>
                              <a:schemeClr val="tx1">
                                <a:lumMod val="85000"/>
                                <a:lumOff val="15000"/>
                              </a:schemeClr>
                            </a:solidFill>
                            <a:latin typeface="Cambria Math" panose="02040503050406030204" pitchFamily="18" charset="0"/>
                            <a:ea typeface="微软雅黑" panose="020B0503020204020204" charset="-122"/>
                            <a:sym typeface="+mn-ea"/>
                          </a:rPr>
                        </m:ctrlPr>
                      </m:dPr>
                      <m:e>
                        <m:eqArr>
                          <m:eqArrPr>
                            <m:ctrlPr>
                              <a:rPr lang="en-US" altLang="zh-CN" sz="1800" i="1" smtClean="0">
                                <a:solidFill>
                                  <a:schemeClr val="tx1">
                                    <a:lumMod val="85000"/>
                                    <a:lumOff val="15000"/>
                                  </a:schemeClr>
                                </a:solidFill>
                                <a:latin typeface="Cambria Math" panose="02040503050406030204" pitchFamily="18" charset="0"/>
                                <a:ea typeface="微软雅黑" panose="020B0503020204020204" charset="-122"/>
                                <a:sym typeface="+mn-ea"/>
                              </a:rPr>
                            </m:ctrlPr>
                          </m:eqArrPr>
                          <m:e>
                            <m:r>
                              <a:rPr lang="zh-CN" altLang="en-US" sz="1800" i="1">
                                <a:solidFill>
                                  <a:schemeClr val="tx1">
                                    <a:lumMod val="85000"/>
                                    <a:lumOff val="15000"/>
                                  </a:schemeClr>
                                </a:solidFill>
                                <a:latin typeface="Cambria Math" panose="02040503050406030204" pitchFamily="18" charset="0"/>
                                <a:ea typeface="微软雅黑" panose="020B0503020204020204" charset="-122"/>
                                <a:sym typeface="+mn-ea"/>
                              </a:rPr>
                              <m:t>不</m:t>
                            </m:r>
                            <m:r>
                              <a:rPr lang="zh-CN" altLang="en-US" sz="1800" i="1" smtClean="0">
                                <a:solidFill>
                                  <a:schemeClr val="tx1">
                                    <a:lumMod val="85000"/>
                                    <a:lumOff val="15000"/>
                                  </a:schemeClr>
                                </a:solidFill>
                                <a:latin typeface="Cambria Math" panose="02040503050406030204" pitchFamily="18" charset="0"/>
                                <a:ea typeface="微软雅黑" panose="020B0503020204020204" charset="-122"/>
                                <a:sym typeface="+mn-ea"/>
                              </a:rPr>
                              <m:t>要第</m:t>
                            </m:r>
                            <m:r>
                              <m:rPr>
                                <m:sty m:val="p"/>
                              </m:rPr>
                              <a:rPr lang="en-US" altLang="zh-CN" sz="1800" i="1">
                                <a:solidFill>
                                  <a:schemeClr val="tx1">
                                    <a:lumMod val="85000"/>
                                    <a:lumOff val="15000"/>
                                  </a:schemeClr>
                                </a:solidFill>
                                <a:latin typeface="Cambria Math" panose="02040503050406030204" pitchFamily="18" charset="0"/>
                                <a:ea typeface="微软雅黑" panose="020B0503020204020204" charset="-122"/>
                                <a:sym typeface="+mn-ea"/>
                              </a:rPr>
                              <m:t>i</m:t>
                            </m:r>
                            <m:r>
                              <a:rPr lang="zh-CN" altLang="en-US" sz="1800" i="1" smtClean="0">
                                <a:solidFill>
                                  <a:schemeClr val="tx1">
                                    <a:lumMod val="85000"/>
                                    <a:lumOff val="15000"/>
                                  </a:schemeClr>
                                </a:solidFill>
                                <a:latin typeface="Cambria Math" panose="02040503050406030204" pitchFamily="18" charset="0"/>
                                <a:ea typeface="微软雅黑" panose="020B0503020204020204" charset="-122"/>
                                <a:sym typeface="+mn-ea"/>
                              </a:rPr>
                              <m:t>个</m:t>
                            </m:r>
                            <m:r>
                              <a:rPr lang="zh-CN" altLang="en-US" sz="1800" i="1">
                                <a:solidFill>
                                  <a:schemeClr val="tx1">
                                    <a:lumMod val="85000"/>
                                    <a:lumOff val="15000"/>
                                  </a:schemeClr>
                                </a:solidFill>
                                <a:latin typeface="Cambria Math" panose="02040503050406030204" pitchFamily="18" charset="0"/>
                                <a:ea typeface="微软雅黑" panose="020B0503020204020204" charset="-122"/>
                                <a:sym typeface="+mn-ea"/>
                              </a:rPr>
                              <m:t>物品</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  </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𝑓</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 </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𝑖</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−1 , </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𝑗</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 )</m:t>
                            </m:r>
                          </m:e>
                          <m:e>
                            <m:r>
                              <a:rPr lang="zh-CN" altLang="en-US" sz="1800" i="1">
                                <a:solidFill>
                                  <a:schemeClr val="tx1">
                                    <a:lumMod val="85000"/>
                                    <a:lumOff val="15000"/>
                                  </a:schemeClr>
                                </a:solidFill>
                                <a:latin typeface="Cambria Math" panose="02040503050406030204" pitchFamily="18" charset="0"/>
                                <a:ea typeface="微软雅黑" panose="020B0503020204020204" charset="-122"/>
                                <a:sym typeface="+mn-ea"/>
                              </a:rPr>
                              <m:t>要</m:t>
                            </m:r>
                            <m:r>
                              <a:rPr lang="zh-CN" altLang="en-US" sz="1800" i="1" smtClean="0">
                                <a:solidFill>
                                  <a:schemeClr val="tx1">
                                    <a:lumMod val="85000"/>
                                    <a:lumOff val="15000"/>
                                  </a:schemeClr>
                                </a:solidFill>
                                <a:latin typeface="Cambria Math" panose="02040503050406030204" pitchFamily="18" charset="0"/>
                                <a:ea typeface="微软雅黑" panose="020B0503020204020204" charset="-122"/>
                                <a:sym typeface="+mn-ea"/>
                              </a:rPr>
                              <m:t>第</m:t>
                            </m:r>
                            <m:r>
                              <m:rPr>
                                <m:sty m:val="p"/>
                              </m:rPr>
                              <a:rPr lang="en-US" altLang="zh-CN" sz="1800" i="1">
                                <a:solidFill>
                                  <a:schemeClr val="tx1">
                                    <a:lumMod val="85000"/>
                                    <a:lumOff val="15000"/>
                                  </a:schemeClr>
                                </a:solidFill>
                                <a:latin typeface="Cambria Math" panose="02040503050406030204" pitchFamily="18" charset="0"/>
                                <a:ea typeface="微软雅黑" panose="020B0503020204020204" charset="-122"/>
                                <a:sym typeface="+mn-ea"/>
                              </a:rPr>
                              <m:t>i</m:t>
                            </m:r>
                            <m:r>
                              <a:rPr lang="zh-CN" altLang="en-US" sz="1800" i="1" smtClean="0">
                                <a:solidFill>
                                  <a:schemeClr val="tx1">
                                    <a:lumMod val="85000"/>
                                    <a:lumOff val="15000"/>
                                  </a:schemeClr>
                                </a:solidFill>
                                <a:latin typeface="Cambria Math" panose="02040503050406030204" pitchFamily="18" charset="0"/>
                                <a:ea typeface="微软雅黑" panose="020B0503020204020204" charset="-122"/>
                                <a:sym typeface="+mn-ea"/>
                              </a:rPr>
                              <m:t>个</m:t>
                            </m:r>
                            <m:r>
                              <a:rPr lang="zh-CN" altLang="en-US" sz="1800" i="1">
                                <a:solidFill>
                                  <a:schemeClr val="tx1">
                                    <a:lumMod val="85000"/>
                                    <a:lumOff val="15000"/>
                                  </a:schemeClr>
                                </a:solidFill>
                                <a:latin typeface="Cambria Math" panose="02040503050406030204" pitchFamily="18" charset="0"/>
                                <a:ea typeface="微软雅黑" panose="020B0503020204020204" charset="-122"/>
                                <a:sym typeface="+mn-ea"/>
                              </a:rPr>
                              <m:t>物品</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 </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𝑓</m:t>
                            </m:r>
                            <m:d>
                              <m:dPr>
                                <m:ctrlP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ctrlPr>
                              </m:dPr>
                              <m:e>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𝑖</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−1,</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𝑗</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𝑣𝑖</m:t>
                                </m:r>
                              </m:e>
                            </m:d>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𝑤𝑖</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  (</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𝑗</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&gt;=</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𝑣𝑖</m:t>
                            </m:r>
                            <m:r>
                              <a:rPr lang="en-US" altLang="zh-CN" sz="1800">
                                <a:latin typeface="Cambria Math" panose="02040503050406030204" pitchFamily="18" charset="0"/>
                              </a:rPr>
                              <m:t> </m:t>
                            </m:r>
                            <m:r>
                              <a:rPr lang="en-US" altLang="zh-CN" sz="1800" b="0" i="1" smtClean="0">
                                <a:solidFill>
                                  <a:schemeClr val="tx1">
                                    <a:lumMod val="85000"/>
                                    <a:lumOff val="15000"/>
                                  </a:schemeClr>
                                </a:solidFill>
                                <a:latin typeface="Cambria Math" panose="02040503050406030204" pitchFamily="18" charset="0"/>
                                <a:ea typeface="微软雅黑" panose="020B0503020204020204" charset="-122"/>
                                <a:sym typeface="+mn-ea"/>
                              </a:rPr>
                              <m:t>)</m:t>
                            </m:r>
                          </m:e>
                        </m:eqArr>
                      </m:e>
                    </m:d>
                  </m:oMath>
                </a14:m>
                <a:endPar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indent="0" fontAlgn="auto">
                  <a:lnSpc>
                    <a:spcPct val="150000"/>
                  </a:lnSpc>
                  <a:spcBef>
                    <a:spcPts val="0"/>
                  </a:spcBef>
                  <a:buNone/>
                </a:pP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p>
            </p:txBody>
          </p:sp>
        </mc:Choice>
        <mc:Fallback xmlns="">
          <p:sp>
            <p:nvSpPr>
              <p:cNvPr id="4" name="TextBox 6"/>
              <p:cNvSpPr txBox="1">
                <a:spLocks noRot="1" noChangeAspect="1" noMove="1" noResize="1" noEditPoints="1" noAdjustHandles="1" noChangeArrowheads="1" noChangeShapeType="1" noTextEdit="1"/>
              </p:cNvSpPr>
              <p:nvPr>
                <p:custDataLst>
                  <p:tags r:id="rId5"/>
                </p:custDataLst>
              </p:nvPr>
            </p:nvSpPr>
            <p:spPr bwMode="auto">
              <a:xfrm>
                <a:off x="762374" y="1728833"/>
                <a:ext cx="8261509" cy="1842135"/>
              </a:xfrm>
              <a:prstGeom prst="rect">
                <a:avLst/>
              </a:prstGeom>
              <a:blipFill rotWithShape="1">
                <a:blip r:embed="rId6"/>
                <a:stretch>
                  <a:fillRect l="-5" t="-20" r="6" b="2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custDataLst>
              <p:tags r:id="rId1"/>
            </p:custDataLst>
          </p:nvPr>
        </p:nvSpPr>
        <p:spPr>
          <a:xfrm>
            <a:off x="519675" y="368275"/>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sym typeface="+mn-ea"/>
              </a:rPr>
              <a:t>背包问题模型</a:t>
            </a:r>
            <a:endParaRPr lang="zh-CN" altLang="en-US" sz="2400" b="1" dirty="0">
              <a:solidFill>
                <a:srgbClr val="003CA6"/>
              </a:solidFill>
              <a:latin typeface="微软雅黑" panose="020B0503020204020204" charset="-122"/>
              <a:ea typeface="微软雅黑" panose="020B0503020204020204" charset="-122"/>
            </a:endParaRPr>
          </a:p>
        </p:txBody>
      </p:sp>
      <p:sp>
        <p:nvSpPr>
          <p:cNvPr id="3" name="文本框 2"/>
          <p:cNvSpPr txBox="1"/>
          <p:nvPr>
            <p:custDataLst>
              <p:tags r:id="rId2"/>
            </p:custDataLst>
          </p:nvPr>
        </p:nvSpPr>
        <p:spPr>
          <a:xfrm>
            <a:off x="1368425" y="956945"/>
            <a:ext cx="6240780" cy="3491865"/>
          </a:xfrm>
          <a:prstGeom prst="rect">
            <a:avLst/>
          </a:prstGeom>
          <a:solidFill>
            <a:schemeClr val="bg1">
              <a:lumMod val="85000"/>
            </a:schemeClr>
          </a:solid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200" b="0" dirty="0">
                <a:solidFill>
                  <a:srgbClr val="AF00DB"/>
                </a:solidFill>
                <a:effectLst/>
                <a:latin typeface="Consolas" panose="020B0609020204030204" pitchFamily="49" charset="0"/>
              </a:rPr>
              <a:t>#include</a:t>
            </a:r>
            <a:r>
              <a:rPr lang="en-US" altLang="zh-CN" sz="1200" b="0" dirty="0">
                <a:solidFill>
                  <a:srgbClr val="0000FF"/>
                </a:solidFill>
                <a:effectLst/>
                <a:latin typeface="Consolas" panose="020B0609020204030204" pitchFamily="49" charset="0"/>
              </a:rPr>
              <a:t> </a:t>
            </a:r>
            <a:r>
              <a:rPr lang="en-US" altLang="zh-CN" sz="1200" b="0" dirty="0">
                <a:solidFill>
                  <a:srgbClr val="A31515"/>
                </a:solidFill>
                <a:effectLst/>
                <a:latin typeface="Consolas" panose="020B0609020204030204" pitchFamily="49" charset="0"/>
              </a:rPr>
              <a:t>&lt;bits/</a:t>
            </a:r>
            <a:r>
              <a:rPr lang="en-US" altLang="zh-CN" sz="1200" b="0" dirty="0" err="1">
                <a:solidFill>
                  <a:srgbClr val="A31515"/>
                </a:solidFill>
                <a:effectLst/>
                <a:latin typeface="Consolas" panose="020B0609020204030204" pitchFamily="49" charset="0"/>
              </a:rPr>
              <a:t>stdc</a:t>
            </a:r>
            <a:r>
              <a:rPr lang="en-US" altLang="zh-CN" sz="1200" b="0" dirty="0">
                <a:solidFill>
                  <a:srgbClr val="A31515"/>
                </a:solidFill>
                <a:effectLst/>
                <a:latin typeface="Consolas" panose="020B0609020204030204" pitchFamily="49" charset="0"/>
              </a:rPr>
              <a:t>++.h&gt;</a:t>
            </a:r>
            <a:endParaRPr lang="en-US" altLang="zh-CN" sz="1200" b="0" dirty="0">
              <a:solidFill>
                <a:srgbClr val="000000"/>
              </a:solidFill>
              <a:effectLst/>
              <a:latin typeface="Consolas" panose="020B0609020204030204" pitchFamily="49" charset="0"/>
            </a:endParaRPr>
          </a:p>
          <a:p>
            <a:r>
              <a:rPr lang="en-US" altLang="zh-CN" sz="1200" b="0" dirty="0">
                <a:solidFill>
                  <a:srgbClr val="AF00DB"/>
                </a:solidFill>
                <a:effectLst/>
                <a:latin typeface="Consolas" panose="020B0609020204030204" pitchFamily="49" charset="0"/>
              </a:rPr>
              <a:t>using</a:t>
            </a:r>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namespace</a:t>
            </a:r>
            <a:r>
              <a:rPr lang="en-US" altLang="zh-CN" sz="1200" b="0" dirty="0">
                <a:solidFill>
                  <a:srgbClr val="000000"/>
                </a:solidFill>
                <a:effectLst/>
                <a:latin typeface="Consolas" panose="020B0609020204030204" pitchFamily="49" charset="0"/>
              </a:rPr>
              <a:t> </a:t>
            </a:r>
            <a:r>
              <a:rPr lang="en-US" altLang="zh-CN" sz="1200" b="0" dirty="0">
                <a:solidFill>
                  <a:srgbClr val="267F99"/>
                </a:solidFill>
                <a:effectLst/>
                <a:latin typeface="Consolas" panose="020B0609020204030204" pitchFamily="49" charset="0"/>
              </a:rPr>
              <a:t>std</a:t>
            </a:r>
            <a:r>
              <a:rPr lang="en-US" altLang="zh-CN" sz="1200" b="0" dirty="0">
                <a:solidFill>
                  <a:srgbClr val="000000"/>
                </a:solidFill>
                <a:effectLst/>
                <a:latin typeface="Consolas" panose="020B0609020204030204" pitchFamily="49" charset="0"/>
              </a:rPr>
              <a:t>;</a:t>
            </a:r>
          </a:p>
          <a:p>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f</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1005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1005</a:t>
            </a:r>
            <a:r>
              <a:rPr lang="en-US" altLang="zh-CN" sz="1200" b="0" dirty="0">
                <a:solidFill>
                  <a:srgbClr val="000000"/>
                </a:solidFill>
                <a:effectLst/>
                <a:latin typeface="Consolas" panose="020B0609020204030204" pitchFamily="49" charset="0"/>
              </a:rPr>
              <a:t>];</a:t>
            </a:r>
          </a:p>
          <a:p>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v</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1005</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w</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1005</a:t>
            </a:r>
            <a:r>
              <a:rPr lang="en-US" altLang="zh-CN" sz="1200" b="0" dirty="0">
                <a:solidFill>
                  <a:srgbClr val="000000"/>
                </a:solidFill>
                <a:effectLst/>
                <a:latin typeface="Consolas" panose="020B0609020204030204" pitchFamily="49" charset="0"/>
              </a:rPr>
              <a:t>];</a:t>
            </a:r>
          </a:p>
          <a:p>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main</a:t>
            </a:r>
            <a:r>
              <a:rPr lang="en-US" altLang="zh-CN" sz="1200" b="0" dirty="0">
                <a:solidFill>
                  <a:srgbClr val="000000"/>
                </a:solidFill>
                <a:effectLst/>
                <a:latin typeface="Consolas" panose="020B0609020204030204" pitchFamily="49" charset="0"/>
              </a:rPr>
              <a:t>() {</a:t>
            </a:r>
          </a:p>
          <a:p>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n</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m</a:t>
            </a:r>
            <a:r>
              <a:rPr lang="en-US" altLang="zh-CN" sz="1200" b="0" dirty="0">
                <a:solidFill>
                  <a:srgbClr val="000000"/>
                </a:solidFill>
                <a:effectLst/>
                <a:latin typeface="Consolas" panose="020B0609020204030204" pitchFamily="49" charset="0"/>
              </a:rPr>
              <a:t>;</a:t>
            </a:r>
          </a:p>
          <a:p>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cin</a:t>
            </a:r>
            <a:r>
              <a:rPr lang="en-US" altLang="zh-CN"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&gt;&gt;</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n</a:t>
            </a:r>
            <a:r>
              <a:rPr lang="en-US" altLang="zh-CN"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&gt;&gt;</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m</a:t>
            </a:r>
            <a:r>
              <a:rPr lang="en-US" altLang="zh-CN" sz="1200" b="0" dirty="0">
                <a:solidFill>
                  <a:srgbClr val="000000"/>
                </a:solidFill>
                <a:effectLst/>
                <a:latin typeface="Consolas" panose="020B0609020204030204" pitchFamily="49" charset="0"/>
              </a:rPr>
              <a:t>;</a:t>
            </a:r>
          </a:p>
          <a:p>
            <a:r>
              <a:rPr lang="en-US" altLang="zh-CN" sz="1200" b="0" dirty="0">
                <a:solidFill>
                  <a:srgbClr val="000000"/>
                </a:solidFill>
                <a:effectLst/>
                <a:latin typeface="Consolas" panose="020B0609020204030204" pitchFamily="49" charset="0"/>
              </a:rPr>
              <a:t>    </a:t>
            </a:r>
            <a:r>
              <a:rPr lang="en-US" altLang="zh-CN" sz="1200" b="0" dirty="0">
                <a:solidFill>
                  <a:srgbClr val="AF00DB"/>
                </a:solidFill>
                <a:effectLst/>
                <a:latin typeface="Consolas" panose="020B0609020204030204" pitchFamily="49" charset="0"/>
              </a:rPr>
              <a:t>for</a:t>
            </a:r>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&lt;= </a:t>
            </a:r>
            <a:r>
              <a:rPr lang="en-US" altLang="zh-CN" sz="1200" b="0" dirty="0">
                <a:solidFill>
                  <a:srgbClr val="001080"/>
                </a:solidFill>
                <a:effectLst/>
                <a:latin typeface="Consolas" panose="020B0609020204030204" pitchFamily="49" charset="0"/>
              </a:rPr>
              <a:t>n</a:t>
            </a: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cin</a:t>
            </a:r>
            <a:r>
              <a:rPr lang="en-US" altLang="zh-CN"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&gt;&gt;</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v</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&gt;&gt;</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w</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a:t>
            </a:r>
          </a:p>
          <a:p>
            <a:r>
              <a:rPr lang="en-US" altLang="zh-CN" sz="1200" b="0" dirty="0">
                <a:solidFill>
                  <a:srgbClr val="000000"/>
                </a:solidFill>
                <a:effectLst/>
                <a:latin typeface="Consolas" panose="020B0609020204030204" pitchFamily="49" charset="0"/>
              </a:rPr>
              <a:t>    </a:t>
            </a:r>
            <a:r>
              <a:rPr lang="en-US" altLang="zh-CN" sz="1200" b="0" dirty="0">
                <a:solidFill>
                  <a:srgbClr val="AF00DB"/>
                </a:solidFill>
                <a:effectLst/>
                <a:latin typeface="Consolas" panose="020B0609020204030204" pitchFamily="49" charset="0"/>
              </a:rPr>
              <a:t>for</a:t>
            </a:r>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&lt;= </a:t>
            </a:r>
            <a:r>
              <a:rPr lang="en-US" altLang="zh-CN" sz="1200" b="0" dirty="0">
                <a:solidFill>
                  <a:srgbClr val="001080"/>
                </a:solidFill>
                <a:effectLst/>
                <a:latin typeface="Consolas" panose="020B0609020204030204" pitchFamily="49" charset="0"/>
              </a:rPr>
              <a:t>n</a:t>
            </a: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a:t>
            </a:r>
          </a:p>
          <a:p>
            <a:r>
              <a:rPr lang="en-US" altLang="zh-CN" sz="1200" b="0" dirty="0">
                <a:solidFill>
                  <a:srgbClr val="000000"/>
                </a:solidFill>
                <a:effectLst/>
                <a:latin typeface="Consolas" panose="020B0609020204030204" pitchFamily="49" charset="0"/>
              </a:rPr>
              <a:t>        </a:t>
            </a:r>
            <a:r>
              <a:rPr lang="en-US" altLang="zh-CN" sz="1200" b="0" dirty="0">
                <a:solidFill>
                  <a:srgbClr val="AF00DB"/>
                </a:solidFill>
                <a:effectLst/>
                <a:latin typeface="Consolas" panose="020B0609020204030204" pitchFamily="49" charset="0"/>
              </a:rPr>
              <a:t>for</a:t>
            </a:r>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j</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0</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j</a:t>
            </a:r>
            <a:r>
              <a:rPr lang="en-US" altLang="zh-CN" sz="1200" b="0" dirty="0">
                <a:solidFill>
                  <a:srgbClr val="000000"/>
                </a:solidFill>
                <a:effectLst/>
                <a:latin typeface="Consolas" panose="020B0609020204030204" pitchFamily="49" charset="0"/>
              </a:rPr>
              <a:t> &lt;= </a:t>
            </a:r>
            <a:r>
              <a:rPr lang="en-US" altLang="zh-CN" sz="1200" b="0" dirty="0">
                <a:solidFill>
                  <a:srgbClr val="001080"/>
                </a:solidFill>
                <a:effectLst/>
                <a:latin typeface="Consolas" panose="020B0609020204030204" pitchFamily="49" charset="0"/>
              </a:rPr>
              <a:t>m</a:t>
            </a: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j</a:t>
            </a:r>
            <a:r>
              <a:rPr lang="en-US" altLang="zh-CN" sz="1200" b="0" dirty="0" err="1">
                <a:solidFill>
                  <a:srgbClr val="000000"/>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 {</a:t>
            </a:r>
          </a:p>
          <a:p>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f</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a:t>
            </a:r>
            <a:r>
              <a:rPr lang="en-US" altLang="zh-CN" sz="1200" b="0" dirty="0">
                <a:solidFill>
                  <a:srgbClr val="001080"/>
                </a:solidFill>
                <a:effectLst/>
                <a:latin typeface="Consolas" panose="020B0609020204030204" pitchFamily="49" charset="0"/>
              </a:rPr>
              <a:t>j</a:t>
            </a:r>
            <a:r>
              <a:rPr lang="en-US" altLang="zh-CN" sz="1200" b="0" dirty="0">
                <a:solidFill>
                  <a:srgbClr val="000000"/>
                </a:solidFill>
                <a:effectLst/>
                <a:latin typeface="Consolas" panose="020B0609020204030204" pitchFamily="49" charset="0"/>
              </a:rPr>
              <a:t>] = </a:t>
            </a:r>
            <a:r>
              <a:rPr lang="en-US" altLang="zh-CN" sz="1200" b="0" dirty="0">
                <a:solidFill>
                  <a:srgbClr val="001080"/>
                </a:solidFill>
                <a:effectLst/>
                <a:latin typeface="Consolas" panose="020B0609020204030204" pitchFamily="49" charset="0"/>
              </a:rPr>
              <a:t>f</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r>
              <a:rPr lang="en-US" altLang="zh-CN" sz="1200" b="0" dirty="0">
                <a:solidFill>
                  <a:srgbClr val="001080"/>
                </a:solidFill>
                <a:effectLst/>
                <a:latin typeface="Consolas" panose="020B0609020204030204" pitchFamily="49" charset="0"/>
              </a:rPr>
              <a:t>j</a:t>
            </a:r>
            <a:r>
              <a:rPr lang="en-US" altLang="zh-CN" sz="1200" b="0" dirty="0">
                <a:solidFill>
                  <a:srgbClr val="000000"/>
                </a:solidFill>
                <a:effectLst/>
                <a:latin typeface="Consolas" panose="020B0609020204030204" pitchFamily="49" charset="0"/>
              </a:rPr>
              <a:t>];</a:t>
            </a:r>
          </a:p>
          <a:p>
            <a:r>
              <a:rPr lang="en-US" altLang="zh-CN" sz="1200" b="0" dirty="0">
                <a:solidFill>
                  <a:srgbClr val="000000"/>
                </a:solidFill>
                <a:effectLst/>
                <a:latin typeface="Consolas" panose="020B0609020204030204" pitchFamily="49" charset="0"/>
              </a:rPr>
              <a:t>            </a:t>
            </a:r>
            <a:r>
              <a:rPr lang="en-US" altLang="zh-CN" sz="1200" b="0" dirty="0">
                <a:solidFill>
                  <a:srgbClr val="AF00DB"/>
                </a:solidFill>
                <a:effectLst/>
                <a:latin typeface="Consolas" panose="020B0609020204030204" pitchFamily="49" charset="0"/>
              </a:rPr>
              <a:t>if</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j</a:t>
            </a:r>
            <a:r>
              <a:rPr lang="en-US" altLang="zh-CN" sz="1200" b="0" dirty="0">
                <a:solidFill>
                  <a:srgbClr val="000000"/>
                </a:solidFill>
                <a:effectLst/>
                <a:latin typeface="Consolas" panose="020B0609020204030204" pitchFamily="49" charset="0"/>
              </a:rPr>
              <a:t> &gt;= </a:t>
            </a:r>
            <a:r>
              <a:rPr lang="en-US" altLang="zh-CN" sz="1200" b="0" dirty="0">
                <a:solidFill>
                  <a:srgbClr val="001080"/>
                </a:solidFill>
                <a:effectLst/>
                <a:latin typeface="Consolas" panose="020B0609020204030204" pitchFamily="49" charset="0"/>
              </a:rPr>
              <a:t>v</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a:t>
            </a:r>
          </a:p>
          <a:p>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f</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a:t>
            </a:r>
            <a:r>
              <a:rPr lang="en-US" altLang="zh-CN" sz="1200" b="0" dirty="0">
                <a:solidFill>
                  <a:srgbClr val="001080"/>
                </a:solidFill>
                <a:effectLst/>
                <a:latin typeface="Consolas" panose="020B0609020204030204" pitchFamily="49" charset="0"/>
              </a:rPr>
              <a:t>j</a:t>
            </a:r>
            <a:r>
              <a:rPr lang="en-US" altLang="zh-CN" sz="1200" b="0" dirty="0">
                <a:solidFill>
                  <a:srgbClr val="000000"/>
                </a:solidFill>
                <a:effectLst/>
                <a:latin typeface="Consolas" panose="020B0609020204030204" pitchFamily="49" charset="0"/>
              </a:rPr>
              <a:t>] = </a:t>
            </a:r>
            <a:r>
              <a:rPr lang="en-US" altLang="zh-CN" sz="1200" b="0" dirty="0">
                <a:solidFill>
                  <a:srgbClr val="795E26"/>
                </a:solidFill>
                <a:effectLst/>
                <a:latin typeface="Consolas" panose="020B0609020204030204" pitchFamily="49" charset="0"/>
              </a:rPr>
              <a:t>max</a:t>
            </a:r>
            <a:r>
              <a:rPr lang="en-US" altLang="zh-CN" sz="1200" b="0" dirty="0">
                <a:solidFill>
                  <a:srgbClr val="000000"/>
                </a:solidFill>
                <a:effectLst/>
                <a:latin typeface="Consolas" panose="020B0609020204030204" pitchFamily="49" charset="0"/>
              </a:rPr>
              <a:t>(</a:t>
            </a:r>
            <a:r>
              <a:rPr lang="en-US" altLang="zh-CN" sz="1200" b="0" dirty="0">
                <a:solidFill>
                  <a:srgbClr val="001080"/>
                </a:solidFill>
                <a:effectLst/>
                <a:latin typeface="Consolas" panose="020B0609020204030204" pitchFamily="49" charset="0"/>
              </a:rPr>
              <a:t>f</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a:t>
            </a:r>
            <a:r>
              <a:rPr lang="en-US" altLang="zh-CN" sz="1200" b="0" dirty="0">
                <a:solidFill>
                  <a:srgbClr val="001080"/>
                </a:solidFill>
                <a:effectLst/>
                <a:latin typeface="Consolas" panose="020B0609020204030204" pitchFamily="49" charset="0"/>
              </a:rPr>
              <a:t>j</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f</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r>
              <a:rPr lang="en-US" altLang="zh-CN" sz="1200" b="0" dirty="0">
                <a:solidFill>
                  <a:srgbClr val="001080"/>
                </a:solidFill>
                <a:effectLst/>
                <a:latin typeface="Consolas" panose="020B0609020204030204" pitchFamily="49" charset="0"/>
              </a:rPr>
              <a:t>j</a:t>
            </a:r>
            <a:r>
              <a:rPr lang="en-US" altLang="zh-CN" sz="1200" b="0" dirty="0">
                <a:solidFill>
                  <a:srgbClr val="000000"/>
                </a:solidFill>
                <a:effectLst/>
                <a:latin typeface="Consolas" panose="020B0609020204030204" pitchFamily="49" charset="0"/>
              </a:rPr>
              <a:t> - </a:t>
            </a:r>
            <a:r>
              <a:rPr lang="en-US" altLang="zh-CN" sz="1200" b="0" dirty="0">
                <a:solidFill>
                  <a:srgbClr val="001080"/>
                </a:solidFill>
                <a:effectLst/>
                <a:latin typeface="Consolas" panose="020B0609020204030204" pitchFamily="49" charset="0"/>
              </a:rPr>
              <a:t>v</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 </a:t>
            </a:r>
            <a:r>
              <a:rPr lang="en-US" altLang="zh-CN" sz="1200" b="0" dirty="0">
                <a:solidFill>
                  <a:srgbClr val="001080"/>
                </a:solidFill>
                <a:effectLst/>
                <a:latin typeface="Consolas" panose="020B0609020204030204" pitchFamily="49" charset="0"/>
              </a:rPr>
              <a:t>w</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a:t>
            </a:r>
          </a:p>
          <a:p>
            <a:r>
              <a:rPr lang="en-US" altLang="zh-CN" sz="1200" b="0" dirty="0">
                <a:solidFill>
                  <a:srgbClr val="000000"/>
                </a:solidFill>
                <a:effectLst/>
                <a:latin typeface="Consolas" panose="020B0609020204030204" pitchFamily="49" charset="0"/>
              </a:rPr>
              <a:t>            }</a:t>
            </a:r>
          </a:p>
          <a:p>
            <a:r>
              <a:rPr lang="en-US" altLang="zh-CN" sz="1200" b="0" dirty="0">
                <a:solidFill>
                  <a:srgbClr val="000000"/>
                </a:solidFill>
                <a:effectLst/>
                <a:latin typeface="Consolas" panose="020B0609020204030204" pitchFamily="49" charset="0"/>
              </a:rPr>
              <a:t>        }</a:t>
            </a:r>
          </a:p>
          <a:p>
            <a:r>
              <a:rPr lang="en-US" altLang="zh-CN" sz="1200" b="0" dirty="0">
                <a:solidFill>
                  <a:srgbClr val="000000"/>
                </a:solidFill>
                <a:effectLst/>
                <a:latin typeface="Consolas" panose="020B0609020204030204" pitchFamily="49" charset="0"/>
              </a:rPr>
              <a:t>    }</a:t>
            </a:r>
          </a:p>
          <a:p>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cout</a:t>
            </a:r>
            <a:r>
              <a:rPr lang="en-US" altLang="zh-CN"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&lt;&lt;</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f</a:t>
            </a:r>
            <a:r>
              <a:rPr lang="en-US" altLang="zh-CN" sz="1200" b="0" dirty="0">
                <a:solidFill>
                  <a:srgbClr val="000000"/>
                </a:solidFill>
                <a:effectLst/>
                <a:latin typeface="Consolas" panose="020B0609020204030204" pitchFamily="49" charset="0"/>
              </a:rPr>
              <a:t>[</a:t>
            </a:r>
            <a:r>
              <a:rPr lang="en-US" altLang="zh-CN" sz="1200" b="0" dirty="0">
                <a:solidFill>
                  <a:srgbClr val="001080"/>
                </a:solidFill>
                <a:effectLst/>
                <a:latin typeface="Consolas" panose="020B0609020204030204" pitchFamily="49" charset="0"/>
              </a:rPr>
              <a:t>n</a:t>
            </a:r>
            <a:r>
              <a:rPr lang="en-US" altLang="zh-CN" sz="1200" b="0" dirty="0">
                <a:solidFill>
                  <a:srgbClr val="000000"/>
                </a:solidFill>
                <a:effectLst/>
                <a:latin typeface="Consolas" panose="020B0609020204030204" pitchFamily="49" charset="0"/>
              </a:rPr>
              <a:t>][</a:t>
            </a:r>
            <a:r>
              <a:rPr lang="en-US" altLang="zh-CN" sz="1200" b="0" dirty="0">
                <a:solidFill>
                  <a:srgbClr val="001080"/>
                </a:solidFill>
                <a:effectLst/>
                <a:latin typeface="Consolas" panose="020B0609020204030204" pitchFamily="49" charset="0"/>
              </a:rPr>
              <a:t>m</a:t>
            </a:r>
            <a:r>
              <a:rPr lang="en-US" altLang="zh-CN" sz="1200" b="0" dirty="0">
                <a:solidFill>
                  <a:srgbClr val="000000"/>
                </a:solidFill>
                <a:effectLst/>
                <a:latin typeface="Consolas" panose="020B0609020204030204" pitchFamily="49" charset="0"/>
              </a:rPr>
              <a:t>];</a:t>
            </a:r>
          </a:p>
          <a:p>
            <a:r>
              <a:rPr lang="en-US" altLang="zh-CN" sz="1200" b="0" dirty="0">
                <a:solidFill>
                  <a:srgbClr val="000000"/>
                </a:solidFill>
                <a:effectLst/>
                <a:latin typeface="Consolas" panose="020B0609020204030204" pitchFamily="49" charset="0"/>
              </a:rPr>
              <a:t>    </a:t>
            </a:r>
            <a:r>
              <a:rPr lang="en-US" altLang="zh-CN" sz="1200" b="0" dirty="0">
                <a:solidFill>
                  <a:srgbClr val="AF00DB"/>
                </a:solidFill>
                <a:effectLst/>
                <a:latin typeface="Consolas" panose="020B0609020204030204" pitchFamily="49" charset="0"/>
              </a:rPr>
              <a:t>return</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0</a:t>
            </a:r>
            <a:r>
              <a:rPr lang="en-US" altLang="zh-CN" sz="1200" b="0" dirty="0">
                <a:solidFill>
                  <a:srgbClr val="000000"/>
                </a:solidFill>
                <a:effectLst/>
                <a:latin typeface="Consolas" panose="020B0609020204030204" pitchFamily="49" charset="0"/>
              </a:rPr>
              <a:t>;</a:t>
            </a:r>
          </a:p>
          <a:p>
            <a:r>
              <a:rPr lang="en-US" altLang="zh-CN" sz="1200" b="0" dirty="0">
                <a:solidFill>
                  <a:srgbClr val="000000"/>
                </a:solidFill>
                <a:effectLst/>
                <a:latin typeface="Consolas" panose="020B0609020204030204" pitchFamily="49" charset="0"/>
              </a:rPr>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840443" y="2138092"/>
            <a:ext cx="6582334" cy="833707"/>
          </a:xfrm>
          <a:prstGeom prst="rect">
            <a:avLst/>
          </a:prstGeom>
        </p:spPr>
        <p:txBody>
          <a:bodyPr>
            <a:normAutofit/>
          </a:bodyPr>
          <a:lstStyle>
            <a:lvl1pPr algn="l" defTabSz="914400" rtl="0" eaLnBrk="1" latinLnBrk="0" hangingPunct="1">
              <a:lnSpc>
                <a:spcPct val="90000"/>
              </a:lnSpc>
              <a:spcBef>
                <a:spcPct val="0"/>
              </a:spcBef>
              <a:buNone/>
              <a:defRPr sz="4000" b="1" i="0" kern="1200">
                <a:solidFill>
                  <a:schemeClr val="bg1"/>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kumimoji="1" lang="en-US" altLang="zh-CN" sz="4400" b="0" dirty="0">
                <a:latin typeface="+mj-lt"/>
              </a:rPr>
              <a:t>3</a:t>
            </a:r>
            <a:r>
              <a:rPr kumimoji="1" lang="en-US" altLang="zh-CN" sz="3200" dirty="0">
                <a:latin typeface="+mj-lt"/>
              </a:rPr>
              <a:t>/</a:t>
            </a:r>
            <a:r>
              <a:rPr kumimoji="1" lang="zh-CN" altLang="en-US" sz="3200" dirty="0">
                <a:latin typeface="+mj-lt"/>
              </a:rPr>
              <a:t>  </a:t>
            </a:r>
            <a:r>
              <a:rPr kumimoji="1" lang="en-US" altLang="zh-CN" sz="3200" dirty="0">
                <a:latin typeface="+mj-lt"/>
              </a:rPr>
              <a:t> 01</a:t>
            </a:r>
            <a:r>
              <a:rPr kumimoji="1" lang="zh-CN" altLang="en-US" sz="3200" dirty="0">
                <a:latin typeface="+mj-lt"/>
              </a:rPr>
              <a:t>背包优化</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769620" y="445135"/>
          <a:ext cx="8046720" cy="4282440"/>
        </p:xfrm>
        <a:graphic>
          <a:graphicData uri="http://schemas.openxmlformats.org/drawingml/2006/table">
            <a:tbl>
              <a:tblPr>
                <a:tableStyleId>{5C22544A-7EE6-4342-B048-85BDC9FD1C3A}</a:tableStyleId>
              </a:tblPr>
              <a:tblGrid>
                <a:gridCol w="670560">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670560">
                  <a:extLst>
                    <a:ext uri="{9D8B030D-6E8A-4147-A177-3AD203B41FA5}">
                      <a16:colId xmlns:a16="http://schemas.microsoft.com/office/drawing/2014/main" val="20002"/>
                    </a:ext>
                  </a:extLst>
                </a:gridCol>
                <a:gridCol w="670560">
                  <a:extLst>
                    <a:ext uri="{9D8B030D-6E8A-4147-A177-3AD203B41FA5}">
                      <a16:colId xmlns:a16="http://schemas.microsoft.com/office/drawing/2014/main" val="20003"/>
                    </a:ext>
                  </a:extLst>
                </a:gridCol>
                <a:gridCol w="670560">
                  <a:extLst>
                    <a:ext uri="{9D8B030D-6E8A-4147-A177-3AD203B41FA5}">
                      <a16:colId xmlns:a16="http://schemas.microsoft.com/office/drawing/2014/main" val="20004"/>
                    </a:ext>
                  </a:extLst>
                </a:gridCol>
                <a:gridCol w="670560">
                  <a:extLst>
                    <a:ext uri="{9D8B030D-6E8A-4147-A177-3AD203B41FA5}">
                      <a16:colId xmlns:a16="http://schemas.microsoft.com/office/drawing/2014/main" val="20005"/>
                    </a:ext>
                  </a:extLst>
                </a:gridCol>
                <a:gridCol w="670560">
                  <a:extLst>
                    <a:ext uri="{9D8B030D-6E8A-4147-A177-3AD203B41FA5}">
                      <a16:colId xmlns:a16="http://schemas.microsoft.com/office/drawing/2014/main" val="20006"/>
                    </a:ext>
                  </a:extLst>
                </a:gridCol>
                <a:gridCol w="670560">
                  <a:extLst>
                    <a:ext uri="{9D8B030D-6E8A-4147-A177-3AD203B41FA5}">
                      <a16:colId xmlns:a16="http://schemas.microsoft.com/office/drawing/2014/main" val="20007"/>
                    </a:ext>
                  </a:extLst>
                </a:gridCol>
                <a:gridCol w="670560">
                  <a:extLst>
                    <a:ext uri="{9D8B030D-6E8A-4147-A177-3AD203B41FA5}">
                      <a16:colId xmlns:a16="http://schemas.microsoft.com/office/drawing/2014/main" val="20008"/>
                    </a:ext>
                  </a:extLst>
                </a:gridCol>
                <a:gridCol w="670560">
                  <a:extLst>
                    <a:ext uri="{9D8B030D-6E8A-4147-A177-3AD203B41FA5}">
                      <a16:colId xmlns:a16="http://schemas.microsoft.com/office/drawing/2014/main" val="20009"/>
                    </a:ext>
                  </a:extLst>
                </a:gridCol>
                <a:gridCol w="670560">
                  <a:extLst>
                    <a:ext uri="{9D8B030D-6E8A-4147-A177-3AD203B41FA5}">
                      <a16:colId xmlns:a16="http://schemas.microsoft.com/office/drawing/2014/main" val="20010"/>
                    </a:ext>
                  </a:extLst>
                </a:gridCol>
                <a:gridCol w="670560">
                  <a:extLst>
                    <a:ext uri="{9D8B030D-6E8A-4147-A177-3AD203B41FA5}">
                      <a16:colId xmlns:a16="http://schemas.microsoft.com/office/drawing/2014/main" val="20011"/>
                    </a:ext>
                  </a:extLst>
                </a:gridCol>
              </a:tblGrid>
              <a:tr h="713740">
                <a:tc>
                  <a:txBody>
                    <a:bodyPr/>
                    <a:lstStyle/>
                    <a:p>
                      <a:pPr algn="ctr">
                        <a:buNone/>
                      </a:pPr>
                      <a:r>
                        <a:rPr lang="en-US" altLang="zh-CN"/>
                        <a:t>DP</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noFill/>
                  </a:tcPr>
                </a:tc>
                <a:tc>
                  <a:txBody>
                    <a:bodyPr/>
                    <a:lstStyle/>
                    <a:p>
                      <a:pPr algn="ctr">
                        <a:buNone/>
                      </a:pPr>
                      <a:r>
                        <a:rPr lang="en-US" altLang="zh-CN"/>
                        <a:t>0</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1</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2</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3</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4</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5</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6</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7</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8</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9</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r>
                        <a:rPr lang="en-US" altLang="zh-CN"/>
                        <a:t>10</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0"/>
                  </a:ext>
                </a:extLst>
              </a:tr>
              <a:tr h="713740">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solidFill>
                      <a:schemeClr val="accent1">
                        <a:tint val="20000"/>
                      </a:schemeClr>
                    </a:solidFill>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1"/>
                  </a:ext>
                </a:extLst>
              </a:tr>
              <a:tr h="713740">
                <a:tc>
                  <a:txBody>
                    <a:bodyPr/>
                    <a:lstStyle/>
                    <a:p>
                      <a:pPr algn="ctr">
                        <a:buNone/>
                      </a:pPr>
                      <a:endParaRPr lang="en-US" altLang="zh-CN" sz="900"/>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en-US" altLang="zh-C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2"/>
                  </a:ext>
                </a:extLst>
              </a:tr>
              <a:tr h="713740">
                <a:tc>
                  <a:txBody>
                    <a:bodyPr/>
                    <a:lstStyle/>
                    <a:p>
                      <a:pPr algn="ctr">
                        <a:buNone/>
                      </a:pPr>
                      <a:r>
                        <a:rPr lang="zh-CN" altLang="en-US"/>
                        <a:t>①</a:t>
                      </a:r>
                      <a:r>
                        <a:rPr lang="en-US" altLang="zh-CN" sz="900"/>
                        <a:t>8,10</a:t>
                      </a:r>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en-US" altLang="zh-C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marL="71755"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3"/>
                  </a:ext>
                </a:extLst>
              </a:tr>
              <a:tr h="713740">
                <a:tc>
                  <a:txBody>
                    <a:bodyPr/>
                    <a:lstStyle/>
                    <a:p>
                      <a:pPr algn="ctr">
                        <a:buNone/>
                      </a:pPr>
                      <a:r>
                        <a:rPr lang="zh-CN" altLang="en-US"/>
                        <a:t>②</a:t>
                      </a:r>
                      <a:r>
                        <a:rPr lang="en-US" altLang="zh-CN" sz="900">
                          <a:sym typeface="+mn-ea"/>
                        </a:rPr>
                        <a:t>6,6</a:t>
                      </a: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en-US" altLang="zh-C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4"/>
                  </a:ext>
                </a:extLst>
              </a:tr>
              <a:tr h="713740">
                <a:tc>
                  <a:txBody>
                    <a:bodyPr/>
                    <a:lstStyle/>
                    <a:p>
                      <a:pPr algn="ctr">
                        <a:buNone/>
                      </a:pPr>
                      <a:r>
                        <a:rPr lang="zh-CN" altLang="en-US"/>
                        <a:t>③</a:t>
                      </a:r>
                      <a:r>
                        <a:rPr lang="en-US" altLang="zh-CN" sz="900">
                          <a:sym typeface="+mn-ea"/>
                        </a:rPr>
                        <a:t>4,6</a:t>
                      </a: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en-US" altLang="zh-C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lgn="ctr">
                        <a:buNone/>
                      </a:pPr>
                      <a:endParaRPr lang="zh-CN" altLang="en-US"/>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5"/>
                  </a:ext>
                </a:extLst>
              </a:tr>
            </a:tbl>
          </a:graphicData>
        </a:graphic>
      </p:graphicFrame>
      <p:pic>
        <p:nvPicPr>
          <p:cNvPr id="5" name="图片 4" descr="3b32313538393232393bcae9b0fc"/>
          <p:cNvPicPr>
            <a:picLocks noChangeAspect="1"/>
          </p:cNvPicPr>
          <p:nvPr>
            <p:custDataLst>
              <p:tags r:id="rId2"/>
            </p:custDataLst>
          </p:nvPr>
        </p:nvPicPr>
        <p:blipFill>
          <a:blip r:embed="rId43">
            <a:extLst>
              <a:ext uri="{96DAC541-7B7A-43D3-8B79-37D633B846F1}">
                <asvg:svgBlip xmlns:asvg="http://schemas.microsoft.com/office/drawing/2016/SVG/main" xmlns="" r:embed="rId44"/>
              </a:ext>
            </a:extLst>
          </a:blip>
          <a:stretch>
            <a:fillRect/>
          </a:stretch>
        </p:blipFill>
        <p:spPr>
          <a:xfrm>
            <a:off x="2360295" y="1608923"/>
            <a:ext cx="180000" cy="180000"/>
          </a:xfrm>
          <a:prstGeom prst="rect">
            <a:avLst/>
          </a:prstGeom>
        </p:spPr>
      </p:pic>
      <p:pic>
        <p:nvPicPr>
          <p:cNvPr id="6" name="图片 5" descr="3b32313538393232393bcae9b0fc"/>
          <p:cNvPicPr>
            <a:picLocks noChangeAspect="1"/>
          </p:cNvPicPr>
          <p:nvPr>
            <p:custDataLst>
              <p:tags r:id="rId3"/>
            </p:custDataLst>
          </p:nvPr>
        </p:nvPicPr>
        <p:blipFill>
          <a:blip r:embed="rId43">
            <a:extLst>
              <a:ext uri="{96DAC541-7B7A-43D3-8B79-37D633B846F1}">
                <asvg:svgBlip xmlns:asvg="http://schemas.microsoft.com/office/drawing/2016/SVG/main" xmlns="" r:embed="rId44"/>
              </a:ext>
            </a:extLst>
          </a:blip>
          <a:stretch>
            <a:fillRect/>
          </a:stretch>
        </p:blipFill>
        <p:spPr>
          <a:xfrm>
            <a:off x="3001940" y="1572923"/>
            <a:ext cx="215900" cy="216000"/>
          </a:xfrm>
          <a:prstGeom prst="rect">
            <a:avLst/>
          </a:prstGeom>
        </p:spPr>
      </p:pic>
      <p:pic>
        <p:nvPicPr>
          <p:cNvPr id="7" name="图片 6" descr="3b32313538393232393bcae9b0fc"/>
          <p:cNvPicPr>
            <a:picLocks noChangeAspect="1"/>
          </p:cNvPicPr>
          <p:nvPr>
            <p:custDataLst>
              <p:tags r:id="rId4"/>
            </p:custDataLst>
          </p:nvPr>
        </p:nvPicPr>
        <p:blipFill>
          <a:blip r:embed="rId43">
            <a:extLst>
              <a:ext uri="{96DAC541-7B7A-43D3-8B79-37D633B846F1}">
                <asvg:svgBlip xmlns:asvg="http://schemas.microsoft.com/office/drawing/2016/SVG/main" xmlns="" r:embed="rId44"/>
              </a:ext>
            </a:extLst>
          </a:blip>
          <a:stretch>
            <a:fillRect/>
          </a:stretch>
        </p:blipFill>
        <p:spPr>
          <a:xfrm>
            <a:off x="3679485" y="1536923"/>
            <a:ext cx="251460" cy="252000"/>
          </a:xfrm>
          <a:prstGeom prst="rect">
            <a:avLst/>
          </a:prstGeom>
        </p:spPr>
      </p:pic>
      <p:pic>
        <p:nvPicPr>
          <p:cNvPr id="8" name="图片 7" descr="3b32313538393232393bcae9b0fc"/>
          <p:cNvPicPr>
            <a:picLocks noChangeAspect="1"/>
          </p:cNvPicPr>
          <p:nvPr>
            <p:custDataLst>
              <p:tags r:id="rId5"/>
            </p:custDataLst>
          </p:nvPr>
        </p:nvPicPr>
        <p:blipFill>
          <a:blip r:embed="rId43">
            <a:extLst>
              <a:ext uri="{96DAC541-7B7A-43D3-8B79-37D633B846F1}">
                <asvg:svgBlip xmlns:asvg="http://schemas.microsoft.com/office/drawing/2016/SVG/main" xmlns="" r:embed="rId44"/>
              </a:ext>
            </a:extLst>
          </a:blip>
          <a:stretch>
            <a:fillRect/>
          </a:stretch>
        </p:blipFill>
        <p:spPr>
          <a:xfrm>
            <a:off x="4328455" y="1500922"/>
            <a:ext cx="287655" cy="288000"/>
          </a:xfrm>
          <a:prstGeom prst="rect">
            <a:avLst/>
          </a:prstGeom>
        </p:spPr>
      </p:pic>
      <p:pic>
        <p:nvPicPr>
          <p:cNvPr id="9" name="图片 8" descr="3b32313538393232393bcae9b0fc"/>
          <p:cNvPicPr>
            <a:picLocks noChangeAspect="1"/>
          </p:cNvPicPr>
          <p:nvPr>
            <p:custDataLst>
              <p:tags r:id="rId6"/>
            </p:custDataLst>
          </p:nvPr>
        </p:nvPicPr>
        <p:blipFill>
          <a:blip r:embed="rId43">
            <a:extLst>
              <a:ext uri="{96DAC541-7B7A-43D3-8B79-37D633B846F1}">
                <asvg:svgBlip xmlns:asvg="http://schemas.microsoft.com/office/drawing/2016/SVG/main" xmlns="" r:embed="rId44"/>
              </a:ext>
            </a:extLst>
          </a:blip>
          <a:stretch>
            <a:fillRect/>
          </a:stretch>
        </p:blipFill>
        <p:spPr>
          <a:xfrm>
            <a:off x="4979330" y="1464923"/>
            <a:ext cx="323850" cy="324000"/>
          </a:xfrm>
          <a:prstGeom prst="rect">
            <a:avLst/>
          </a:prstGeom>
        </p:spPr>
      </p:pic>
      <p:pic>
        <p:nvPicPr>
          <p:cNvPr id="10" name="图片 9" descr="3b32313538393232393bcae9b0fc"/>
          <p:cNvPicPr>
            <a:picLocks noChangeAspect="1"/>
          </p:cNvPicPr>
          <p:nvPr>
            <p:custDataLst>
              <p:tags r:id="rId7"/>
            </p:custDataLst>
          </p:nvPr>
        </p:nvPicPr>
        <p:blipFill>
          <a:blip r:embed="rId43">
            <a:extLst>
              <a:ext uri="{96DAC541-7B7A-43D3-8B79-37D633B846F1}">
                <asvg:svgBlip xmlns:asvg="http://schemas.microsoft.com/office/drawing/2016/SVG/main" xmlns="" r:embed="rId44"/>
              </a:ext>
            </a:extLst>
          </a:blip>
          <a:stretch>
            <a:fillRect/>
          </a:stretch>
        </p:blipFill>
        <p:spPr>
          <a:xfrm>
            <a:off x="5629570" y="1428923"/>
            <a:ext cx="359410" cy="360000"/>
          </a:xfrm>
          <a:prstGeom prst="rect">
            <a:avLst/>
          </a:prstGeom>
        </p:spPr>
      </p:pic>
      <p:pic>
        <p:nvPicPr>
          <p:cNvPr id="11" name="图片 10" descr="3b32313538393232393bcae9b0fc"/>
          <p:cNvPicPr>
            <a:picLocks noChangeAspect="1"/>
          </p:cNvPicPr>
          <p:nvPr>
            <p:custDataLst>
              <p:tags r:id="rId8"/>
            </p:custDataLst>
          </p:nvPr>
        </p:nvPicPr>
        <p:blipFill>
          <a:blip r:embed="rId43">
            <a:extLst>
              <a:ext uri="{96DAC541-7B7A-43D3-8B79-37D633B846F1}">
                <asvg:svgBlip xmlns:asvg="http://schemas.microsoft.com/office/drawing/2016/SVG/main" xmlns="" r:embed="rId44"/>
              </a:ext>
            </a:extLst>
          </a:blip>
          <a:stretch>
            <a:fillRect/>
          </a:stretch>
        </p:blipFill>
        <p:spPr>
          <a:xfrm>
            <a:off x="6289970" y="1392922"/>
            <a:ext cx="395605" cy="396000"/>
          </a:xfrm>
          <a:prstGeom prst="rect">
            <a:avLst/>
          </a:prstGeom>
        </p:spPr>
      </p:pic>
      <p:pic>
        <p:nvPicPr>
          <p:cNvPr id="12" name="图片 11" descr="3b32313538393232393bcae9b0fc"/>
          <p:cNvPicPr>
            <a:picLocks noChangeAspect="1"/>
          </p:cNvPicPr>
          <p:nvPr>
            <p:custDataLst>
              <p:tags r:id="rId9"/>
            </p:custDataLst>
          </p:nvPr>
        </p:nvPicPr>
        <p:blipFill>
          <a:blip r:embed="rId43">
            <a:extLst>
              <a:ext uri="{96DAC541-7B7A-43D3-8B79-37D633B846F1}">
                <asvg:svgBlip xmlns:asvg="http://schemas.microsoft.com/office/drawing/2016/SVG/main" xmlns="" r:embed="rId44"/>
              </a:ext>
            </a:extLst>
          </a:blip>
          <a:stretch>
            <a:fillRect/>
          </a:stretch>
        </p:blipFill>
        <p:spPr>
          <a:xfrm>
            <a:off x="6942115" y="1356923"/>
            <a:ext cx="431800" cy="432000"/>
          </a:xfrm>
          <a:prstGeom prst="rect">
            <a:avLst/>
          </a:prstGeom>
        </p:spPr>
      </p:pic>
      <p:pic>
        <p:nvPicPr>
          <p:cNvPr id="13" name="图片 12" descr="3b32313538393232393bcae9b0fc"/>
          <p:cNvPicPr>
            <a:picLocks noChangeAspect="1"/>
          </p:cNvPicPr>
          <p:nvPr>
            <p:custDataLst>
              <p:tags r:id="rId10"/>
            </p:custDataLst>
          </p:nvPr>
        </p:nvPicPr>
        <p:blipFill>
          <a:blip r:embed="rId43">
            <a:extLst>
              <a:ext uri="{96DAC541-7B7A-43D3-8B79-37D633B846F1}">
                <asvg:svgBlip xmlns:asvg="http://schemas.microsoft.com/office/drawing/2016/SVG/main" xmlns="" r:embed="rId44"/>
              </a:ext>
            </a:extLst>
          </a:blip>
          <a:stretch>
            <a:fillRect/>
          </a:stretch>
        </p:blipFill>
        <p:spPr>
          <a:xfrm>
            <a:off x="7575845" y="1320922"/>
            <a:ext cx="467995" cy="468000"/>
          </a:xfrm>
          <a:prstGeom prst="rect">
            <a:avLst/>
          </a:prstGeom>
        </p:spPr>
      </p:pic>
      <p:pic>
        <p:nvPicPr>
          <p:cNvPr id="14" name="图片 13" descr="3b32313538393232393bcae9b0fc"/>
          <p:cNvPicPr>
            <a:picLocks noChangeAspect="1"/>
          </p:cNvPicPr>
          <p:nvPr>
            <p:custDataLst>
              <p:tags r:id="rId11"/>
            </p:custDataLst>
          </p:nvPr>
        </p:nvPicPr>
        <p:blipFill>
          <a:blip r:embed="rId43">
            <a:extLst>
              <a:ext uri="{96DAC541-7B7A-43D3-8B79-37D633B846F1}">
                <asvg:svgBlip xmlns:asvg="http://schemas.microsoft.com/office/drawing/2016/SVG/main" xmlns="" r:embed="rId44"/>
              </a:ext>
            </a:extLst>
          </a:blip>
          <a:stretch>
            <a:fillRect/>
          </a:stretch>
        </p:blipFill>
        <p:spPr>
          <a:xfrm>
            <a:off x="8245770" y="1284923"/>
            <a:ext cx="503555" cy="504000"/>
          </a:xfrm>
          <a:prstGeom prst="rect">
            <a:avLst/>
          </a:prstGeom>
        </p:spPr>
      </p:pic>
      <p:sp>
        <p:nvSpPr>
          <p:cNvPr id="16" name="文本框 15"/>
          <p:cNvSpPr txBox="1"/>
          <p:nvPr/>
        </p:nvSpPr>
        <p:spPr>
          <a:xfrm>
            <a:off x="1438275" y="1868170"/>
            <a:ext cx="676275" cy="723265"/>
          </a:xfrm>
          <a:prstGeom prst="rect">
            <a:avLst/>
          </a:prstGeom>
          <a:noFill/>
        </p:spPr>
        <p:txBody>
          <a:bodyPr wrap="square" rtlCol="0" anchor="ctr" anchorCtr="0">
            <a:noAutofit/>
          </a:bodyPr>
          <a:lstStyle/>
          <a:p>
            <a:pPr algn="ctr"/>
            <a:r>
              <a:rPr lang="en-US" altLang="zh-CN"/>
              <a:t>0</a:t>
            </a:r>
          </a:p>
        </p:txBody>
      </p:sp>
      <p:sp>
        <p:nvSpPr>
          <p:cNvPr id="20" name="文本框 19"/>
          <p:cNvSpPr txBox="1"/>
          <p:nvPr/>
        </p:nvSpPr>
        <p:spPr>
          <a:xfrm>
            <a:off x="2109470" y="1868170"/>
            <a:ext cx="676275" cy="723265"/>
          </a:xfrm>
          <a:prstGeom prst="rect">
            <a:avLst/>
          </a:prstGeom>
          <a:noFill/>
        </p:spPr>
        <p:txBody>
          <a:bodyPr wrap="square" rtlCol="0" anchor="ctr" anchorCtr="0">
            <a:noAutofit/>
          </a:bodyPr>
          <a:lstStyle/>
          <a:p>
            <a:pPr algn="ctr"/>
            <a:r>
              <a:rPr lang="en-US" altLang="zh-CN"/>
              <a:t>0</a:t>
            </a:r>
          </a:p>
        </p:txBody>
      </p:sp>
      <p:sp>
        <p:nvSpPr>
          <p:cNvPr id="3" name="文本框 2"/>
          <p:cNvSpPr txBox="1"/>
          <p:nvPr/>
        </p:nvSpPr>
        <p:spPr>
          <a:xfrm>
            <a:off x="2780665" y="1868170"/>
            <a:ext cx="676275" cy="723265"/>
          </a:xfrm>
          <a:prstGeom prst="rect">
            <a:avLst/>
          </a:prstGeom>
          <a:noFill/>
        </p:spPr>
        <p:txBody>
          <a:bodyPr wrap="square" rtlCol="0" anchor="ctr" anchorCtr="0">
            <a:noAutofit/>
          </a:bodyPr>
          <a:lstStyle/>
          <a:p>
            <a:pPr algn="ctr"/>
            <a:r>
              <a:rPr lang="en-US" altLang="zh-CN"/>
              <a:t>0</a:t>
            </a:r>
          </a:p>
        </p:txBody>
      </p:sp>
      <p:sp>
        <p:nvSpPr>
          <p:cNvPr id="15" name="文本框 14"/>
          <p:cNvSpPr txBox="1"/>
          <p:nvPr/>
        </p:nvSpPr>
        <p:spPr>
          <a:xfrm>
            <a:off x="3451860" y="1868170"/>
            <a:ext cx="676275" cy="723265"/>
          </a:xfrm>
          <a:prstGeom prst="rect">
            <a:avLst/>
          </a:prstGeom>
          <a:noFill/>
        </p:spPr>
        <p:txBody>
          <a:bodyPr wrap="square" rtlCol="0" anchor="ctr" anchorCtr="0">
            <a:noAutofit/>
          </a:bodyPr>
          <a:lstStyle/>
          <a:p>
            <a:pPr algn="ctr"/>
            <a:r>
              <a:rPr lang="en-US" altLang="zh-CN"/>
              <a:t>0</a:t>
            </a:r>
          </a:p>
        </p:txBody>
      </p:sp>
      <p:sp>
        <p:nvSpPr>
          <p:cNvPr id="17" name="文本框 16"/>
          <p:cNvSpPr txBox="1"/>
          <p:nvPr/>
        </p:nvSpPr>
        <p:spPr>
          <a:xfrm>
            <a:off x="4123055" y="1868170"/>
            <a:ext cx="676275" cy="723265"/>
          </a:xfrm>
          <a:prstGeom prst="rect">
            <a:avLst/>
          </a:prstGeom>
          <a:noFill/>
        </p:spPr>
        <p:txBody>
          <a:bodyPr wrap="square" rtlCol="0" anchor="ctr" anchorCtr="0">
            <a:noAutofit/>
          </a:bodyPr>
          <a:lstStyle/>
          <a:p>
            <a:pPr algn="ctr"/>
            <a:r>
              <a:rPr lang="en-US" altLang="zh-CN"/>
              <a:t>0</a:t>
            </a:r>
          </a:p>
        </p:txBody>
      </p:sp>
      <p:sp>
        <p:nvSpPr>
          <p:cNvPr id="22" name="文本框 21"/>
          <p:cNvSpPr txBox="1"/>
          <p:nvPr/>
        </p:nvSpPr>
        <p:spPr>
          <a:xfrm>
            <a:off x="4794250" y="1868170"/>
            <a:ext cx="676275" cy="723265"/>
          </a:xfrm>
          <a:prstGeom prst="rect">
            <a:avLst/>
          </a:prstGeom>
          <a:noFill/>
        </p:spPr>
        <p:txBody>
          <a:bodyPr wrap="square" rtlCol="0" anchor="ctr" anchorCtr="0">
            <a:noAutofit/>
          </a:bodyPr>
          <a:lstStyle/>
          <a:p>
            <a:pPr algn="ctr"/>
            <a:r>
              <a:rPr lang="en-US" altLang="zh-CN"/>
              <a:t>0</a:t>
            </a:r>
          </a:p>
        </p:txBody>
      </p:sp>
      <p:sp>
        <p:nvSpPr>
          <p:cNvPr id="24" name="文本框 23"/>
          <p:cNvSpPr txBox="1"/>
          <p:nvPr/>
        </p:nvSpPr>
        <p:spPr>
          <a:xfrm>
            <a:off x="5465445" y="1868170"/>
            <a:ext cx="676275" cy="723265"/>
          </a:xfrm>
          <a:prstGeom prst="rect">
            <a:avLst/>
          </a:prstGeom>
          <a:noFill/>
        </p:spPr>
        <p:txBody>
          <a:bodyPr wrap="square" rtlCol="0" anchor="ctr" anchorCtr="0">
            <a:noAutofit/>
          </a:bodyPr>
          <a:lstStyle/>
          <a:p>
            <a:pPr algn="ctr"/>
            <a:r>
              <a:rPr lang="en-US" altLang="zh-CN"/>
              <a:t>0</a:t>
            </a:r>
          </a:p>
        </p:txBody>
      </p:sp>
      <p:sp>
        <p:nvSpPr>
          <p:cNvPr id="31" name="文本框 30"/>
          <p:cNvSpPr txBox="1"/>
          <p:nvPr/>
        </p:nvSpPr>
        <p:spPr>
          <a:xfrm>
            <a:off x="6136640" y="1868170"/>
            <a:ext cx="676275" cy="723265"/>
          </a:xfrm>
          <a:prstGeom prst="rect">
            <a:avLst/>
          </a:prstGeom>
          <a:noFill/>
        </p:spPr>
        <p:txBody>
          <a:bodyPr wrap="square" rtlCol="0" anchor="ctr" anchorCtr="0">
            <a:noAutofit/>
          </a:bodyPr>
          <a:lstStyle/>
          <a:p>
            <a:pPr algn="ctr"/>
            <a:r>
              <a:rPr lang="en-US" altLang="zh-CN"/>
              <a:t>0</a:t>
            </a:r>
          </a:p>
        </p:txBody>
      </p:sp>
      <p:sp>
        <p:nvSpPr>
          <p:cNvPr id="32" name="文本框 31"/>
          <p:cNvSpPr txBox="1"/>
          <p:nvPr/>
        </p:nvSpPr>
        <p:spPr>
          <a:xfrm>
            <a:off x="6807835" y="1868170"/>
            <a:ext cx="676275" cy="723265"/>
          </a:xfrm>
          <a:prstGeom prst="rect">
            <a:avLst/>
          </a:prstGeom>
          <a:noFill/>
        </p:spPr>
        <p:txBody>
          <a:bodyPr wrap="square" rtlCol="0" anchor="ctr" anchorCtr="0">
            <a:noAutofit/>
          </a:bodyPr>
          <a:lstStyle/>
          <a:p>
            <a:pPr algn="ctr"/>
            <a:r>
              <a:rPr lang="en-US" altLang="zh-CN"/>
              <a:t>0</a:t>
            </a:r>
          </a:p>
        </p:txBody>
      </p:sp>
      <p:sp>
        <p:nvSpPr>
          <p:cNvPr id="33" name="文本框 32"/>
          <p:cNvSpPr txBox="1"/>
          <p:nvPr/>
        </p:nvSpPr>
        <p:spPr>
          <a:xfrm>
            <a:off x="7479030" y="1868170"/>
            <a:ext cx="676275" cy="723265"/>
          </a:xfrm>
          <a:prstGeom prst="rect">
            <a:avLst/>
          </a:prstGeom>
          <a:noFill/>
        </p:spPr>
        <p:txBody>
          <a:bodyPr wrap="square" rtlCol="0" anchor="ctr" anchorCtr="0">
            <a:noAutofit/>
          </a:bodyPr>
          <a:lstStyle/>
          <a:p>
            <a:pPr algn="ctr"/>
            <a:r>
              <a:rPr lang="en-US" altLang="zh-CN"/>
              <a:t>0</a:t>
            </a:r>
          </a:p>
        </p:txBody>
      </p:sp>
      <p:sp>
        <p:nvSpPr>
          <p:cNvPr id="34" name="文本框 33"/>
          <p:cNvSpPr txBox="1"/>
          <p:nvPr/>
        </p:nvSpPr>
        <p:spPr>
          <a:xfrm>
            <a:off x="8150225" y="1868170"/>
            <a:ext cx="676275" cy="723265"/>
          </a:xfrm>
          <a:prstGeom prst="rect">
            <a:avLst/>
          </a:prstGeom>
          <a:noFill/>
        </p:spPr>
        <p:txBody>
          <a:bodyPr wrap="square" rtlCol="0" anchor="ctr" anchorCtr="0">
            <a:noAutofit/>
          </a:bodyPr>
          <a:lstStyle/>
          <a:p>
            <a:pPr algn="ctr"/>
            <a:r>
              <a:rPr lang="en-US" altLang="zh-CN"/>
              <a:t>0</a:t>
            </a:r>
          </a:p>
        </p:txBody>
      </p:sp>
      <p:sp>
        <p:nvSpPr>
          <p:cNvPr id="36" name="文本框 35"/>
          <p:cNvSpPr txBox="1"/>
          <p:nvPr/>
        </p:nvSpPr>
        <p:spPr>
          <a:xfrm>
            <a:off x="1438275" y="2579370"/>
            <a:ext cx="676275" cy="723265"/>
          </a:xfrm>
          <a:prstGeom prst="rect">
            <a:avLst/>
          </a:prstGeom>
          <a:noFill/>
        </p:spPr>
        <p:txBody>
          <a:bodyPr wrap="square" rtlCol="0" anchor="ctr" anchorCtr="0">
            <a:noAutofit/>
          </a:bodyPr>
          <a:lstStyle/>
          <a:p>
            <a:pPr algn="ctr"/>
            <a:r>
              <a:rPr lang="en-US" altLang="zh-CN"/>
              <a:t>0</a:t>
            </a:r>
          </a:p>
        </p:txBody>
      </p:sp>
      <p:sp>
        <p:nvSpPr>
          <p:cNvPr id="37" name="文本框 36"/>
          <p:cNvSpPr txBox="1"/>
          <p:nvPr>
            <p:custDataLst>
              <p:tags r:id="rId12"/>
            </p:custDataLst>
          </p:nvPr>
        </p:nvSpPr>
        <p:spPr>
          <a:xfrm>
            <a:off x="1438275" y="3290570"/>
            <a:ext cx="676275" cy="723265"/>
          </a:xfrm>
          <a:prstGeom prst="rect">
            <a:avLst/>
          </a:prstGeom>
          <a:noFill/>
        </p:spPr>
        <p:txBody>
          <a:bodyPr wrap="square" rtlCol="0" anchor="ctr" anchorCtr="0">
            <a:noAutofit/>
          </a:bodyPr>
          <a:lstStyle/>
          <a:p>
            <a:pPr algn="ctr"/>
            <a:r>
              <a:rPr lang="en-US" altLang="zh-CN"/>
              <a:t>0</a:t>
            </a:r>
          </a:p>
        </p:txBody>
      </p:sp>
      <p:sp>
        <p:nvSpPr>
          <p:cNvPr id="38" name="文本框 37"/>
          <p:cNvSpPr txBox="1"/>
          <p:nvPr>
            <p:custDataLst>
              <p:tags r:id="rId13"/>
            </p:custDataLst>
          </p:nvPr>
        </p:nvSpPr>
        <p:spPr>
          <a:xfrm>
            <a:off x="1438275" y="4001770"/>
            <a:ext cx="676275" cy="723265"/>
          </a:xfrm>
          <a:prstGeom prst="rect">
            <a:avLst/>
          </a:prstGeom>
          <a:noFill/>
        </p:spPr>
        <p:txBody>
          <a:bodyPr wrap="square" rtlCol="0" anchor="ctr" anchorCtr="0">
            <a:noAutofit/>
          </a:bodyPr>
          <a:lstStyle/>
          <a:p>
            <a:pPr algn="ctr"/>
            <a:r>
              <a:rPr lang="en-US" altLang="zh-CN"/>
              <a:t>0</a:t>
            </a:r>
          </a:p>
        </p:txBody>
      </p:sp>
      <p:sp>
        <p:nvSpPr>
          <p:cNvPr id="39" name="文本框 38"/>
          <p:cNvSpPr txBox="1"/>
          <p:nvPr/>
        </p:nvSpPr>
        <p:spPr>
          <a:xfrm>
            <a:off x="2109470" y="2579370"/>
            <a:ext cx="676275" cy="723265"/>
          </a:xfrm>
          <a:prstGeom prst="rect">
            <a:avLst/>
          </a:prstGeom>
          <a:noFill/>
        </p:spPr>
        <p:txBody>
          <a:bodyPr wrap="square" rtlCol="0" anchor="ctr" anchorCtr="0">
            <a:noAutofit/>
          </a:bodyPr>
          <a:lstStyle/>
          <a:p>
            <a:pPr algn="ctr"/>
            <a:r>
              <a:rPr lang="en-US" altLang="zh-CN"/>
              <a:t>0</a:t>
            </a:r>
          </a:p>
        </p:txBody>
      </p:sp>
      <p:sp>
        <p:nvSpPr>
          <p:cNvPr id="45" name="文本框 44"/>
          <p:cNvSpPr txBox="1"/>
          <p:nvPr/>
        </p:nvSpPr>
        <p:spPr>
          <a:xfrm>
            <a:off x="2779395" y="2579370"/>
            <a:ext cx="676275" cy="723265"/>
          </a:xfrm>
          <a:prstGeom prst="rect">
            <a:avLst/>
          </a:prstGeom>
          <a:noFill/>
        </p:spPr>
        <p:txBody>
          <a:bodyPr wrap="square" rtlCol="0" anchor="ctr" anchorCtr="0">
            <a:noAutofit/>
          </a:bodyPr>
          <a:lstStyle/>
          <a:p>
            <a:pPr algn="ctr"/>
            <a:r>
              <a:rPr lang="en-US" altLang="zh-CN"/>
              <a:t>0</a:t>
            </a:r>
          </a:p>
        </p:txBody>
      </p:sp>
      <p:sp>
        <p:nvSpPr>
          <p:cNvPr id="46" name="文本框 45"/>
          <p:cNvSpPr txBox="1"/>
          <p:nvPr/>
        </p:nvSpPr>
        <p:spPr>
          <a:xfrm>
            <a:off x="3449320" y="2579370"/>
            <a:ext cx="676275" cy="723265"/>
          </a:xfrm>
          <a:prstGeom prst="rect">
            <a:avLst/>
          </a:prstGeom>
          <a:noFill/>
        </p:spPr>
        <p:txBody>
          <a:bodyPr wrap="square" rtlCol="0" anchor="ctr" anchorCtr="0">
            <a:noAutofit/>
          </a:bodyPr>
          <a:lstStyle/>
          <a:p>
            <a:pPr algn="ctr"/>
            <a:r>
              <a:rPr lang="en-US" altLang="zh-CN"/>
              <a:t>0</a:t>
            </a:r>
          </a:p>
        </p:txBody>
      </p:sp>
      <p:sp>
        <p:nvSpPr>
          <p:cNvPr id="47" name="文本框 46"/>
          <p:cNvSpPr txBox="1"/>
          <p:nvPr/>
        </p:nvSpPr>
        <p:spPr>
          <a:xfrm>
            <a:off x="4119245" y="2579370"/>
            <a:ext cx="676275" cy="723265"/>
          </a:xfrm>
          <a:prstGeom prst="rect">
            <a:avLst/>
          </a:prstGeom>
          <a:noFill/>
        </p:spPr>
        <p:txBody>
          <a:bodyPr wrap="square" rtlCol="0" anchor="ctr" anchorCtr="0">
            <a:noAutofit/>
          </a:bodyPr>
          <a:lstStyle/>
          <a:p>
            <a:pPr algn="ctr"/>
            <a:r>
              <a:rPr lang="en-US" altLang="zh-CN"/>
              <a:t>0</a:t>
            </a:r>
          </a:p>
        </p:txBody>
      </p:sp>
      <p:sp>
        <p:nvSpPr>
          <p:cNvPr id="48" name="文本框 47"/>
          <p:cNvSpPr txBox="1"/>
          <p:nvPr/>
        </p:nvSpPr>
        <p:spPr>
          <a:xfrm>
            <a:off x="4789170" y="2579370"/>
            <a:ext cx="676275" cy="723265"/>
          </a:xfrm>
          <a:prstGeom prst="rect">
            <a:avLst/>
          </a:prstGeom>
          <a:noFill/>
        </p:spPr>
        <p:txBody>
          <a:bodyPr wrap="square" rtlCol="0" anchor="ctr" anchorCtr="0">
            <a:noAutofit/>
          </a:bodyPr>
          <a:lstStyle/>
          <a:p>
            <a:pPr algn="ctr"/>
            <a:r>
              <a:rPr lang="en-US" altLang="zh-CN"/>
              <a:t>0</a:t>
            </a:r>
          </a:p>
        </p:txBody>
      </p:sp>
      <p:sp>
        <p:nvSpPr>
          <p:cNvPr id="49" name="文本框 48"/>
          <p:cNvSpPr txBox="1"/>
          <p:nvPr/>
        </p:nvSpPr>
        <p:spPr>
          <a:xfrm>
            <a:off x="5459095" y="2579370"/>
            <a:ext cx="676275" cy="723265"/>
          </a:xfrm>
          <a:prstGeom prst="rect">
            <a:avLst/>
          </a:prstGeom>
          <a:noFill/>
        </p:spPr>
        <p:txBody>
          <a:bodyPr wrap="square" rtlCol="0" anchor="ctr" anchorCtr="0">
            <a:noAutofit/>
          </a:bodyPr>
          <a:lstStyle/>
          <a:p>
            <a:pPr algn="ctr"/>
            <a:r>
              <a:rPr lang="en-US" altLang="zh-CN"/>
              <a:t>0</a:t>
            </a:r>
          </a:p>
        </p:txBody>
      </p:sp>
      <p:sp>
        <p:nvSpPr>
          <p:cNvPr id="50" name="文本框 49"/>
          <p:cNvSpPr txBox="1"/>
          <p:nvPr/>
        </p:nvSpPr>
        <p:spPr>
          <a:xfrm>
            <a:off x="6129020" y="2579370"/>
            <a:ext cx="676275" cy="723265"/>
          </a:xfrm>
          <a:prstGeom prst="rect">
            <a:avLst/>
          </a:prstGeom>
          <a:noFill/>
        </p:spPr>
        <p:txBody>
          <a:bodyPr wrap="square" rtlCol="0" anchor="ctr" anchorCtr="0">
            <a:noAutofit/>
          </a:bodyPr>
          <a:lstStyle/>
          <a:p>
            <a:pPr algn="ctr"/>
            <a:r>
              <a:rPr lang="en-US" altLang="zh-CN"/>
              <a:t>0</a:t>
            </a:r>
          </a:p>
        </p:txBody>
      </p:sp>
      <p:sp>
        <p:nvSpPr>
          <p:cNvPr id="51" name="文本框 50"/>
          <p:cNvSpPr txBox="1"/>
          <p:nvPr/>
        </p:nvSpPr>
        <p:spPr>
          <a:xfrm>
            <a:off x="6798945" y="2579370"/>
            <a:ext cx="676275" cy="723265"/>
          </a:xfrm>
          <a:prstGeom prst="rect">
            <a:avLst/>
          </a:prstGeom>
          <a:noFill/>
        </p:spPr>
        <p:txBody>
          <a:bodyPr wrap="square" rtlCol="0" anchor="ctr" anchorCtr="0">
            <a:noAutofit/>
          </a:bodyPr>
          <a:lstStyle/>
          <a:p>
            <a:pPr algn="ctr"/>
            <a:r>
              <a:rPr lang="en-US" altLang="zh-CN"/>
              <a:t>10</a:t>
            </a:r>
          </a:p>
        </p:txBody>
      </p:sp>
      <p:sp>
        <p:nvSpPr>
          <p:cNvPr id="52" name="文本框 51"/>
          <p:cNvSpPr txBox="1"/>
          <p:nvPr/>
        </p:nvSpPr>
        <p:spPr>
          <a:xfrm>
            <a:off x="7468870" y="2579370"/>
            <a:ext cx="676275" cy="723265"/>
          </a:xfrm>
          <a:prstGeom prst="rect">
            <a:avLst/>
          </a:prstGeom>
          <a:noFill/>
        </p:spPr>
        <p:txBody>
          <a:bodyPr wrap="square" rtlCol="0" anchor="ctr" anchorCtr="0">
            <a:noAutofit/>
          </a:bodyPr>
          <a:lstStyle/>
          <a:p>
            <a:pPr algn="ctr"/>
            <a:r>
              <a:rPr lang="en-US" altLang="zh-CN"/>
              <a:t>10</a:t>
            </a:r>
          </a:p>
        </p:txBody>
      </p:sp>
      <p:sp>
        <p:nvSpPr>
          <p:cNvPr id="53" name="文本框 52"/>
          <p:cNvSpPr txBox="1"/>
          <p:nvPr/>
        </p:nvSpPr>
        <p:spPr>
          <a:xfrm>
            <a:off x="8150225" y="2579370"/>
            <a:ext cx="676275" cy="723265"/>
          </a:xfrm>
          <a:prstGeom prst="rect">
            <a:avLst/>
          </a:prstGeom>
          <a:noFill/>
        </p:spPr>
        <p:txBody>
          <a:bodyPr wrap="square" rtlCol="0" anchor="ctr" anchorCtr="0">
            <a:noAutofit/>
          </a:bodyPr>
          <a:lstStyle/>
          <a:p>
            <a:pPr algn="ctr"/>
            <a:r>
              <a:rPr lang="en-US" altLang="zh-CN"/>
              <a:t>10</a:t>
            </a:r>
          </a:p>
        </p:txBody>
      </p:sp>
      <p:sp>
        <p:nvSpPr>
          <p:cNvPr id="54" name="文本框 53"/>
          <p:cNvSpPr txBox="1"/>
          <p:nvPr>
            <p:custDataLst>
              <p:tags r:id="rId14"/>
            </p:custDataLst>
          </p:nvPr>
        </p:nvSpPr>
        <p:spPr>
          <a:xfrm>
            <a:off x="2109470" y="3302635"/>
            <a:ext cx="676275" cy="723265"/>
          </a:xfrm>
          <a:prstGeom prst="rect">
            <a:avLst/>
          </a:prstGeom>
          <a:noFill/>
        </p:spPr>
        <p:txBody>
          <a:bodyPr wrap="square" rtlCol="0" anchor="ctr" anchorCtr="0">
            <a:noAutofit/>
          </a:bodyPr>
          <a:lstStyle/>
          <a:p>
            <a:pPr algn="ctr"/>
            <a:r>
              <a:rPr lang="en-US" altLang="zh-CN"/>
              <a:t>0</a:t>
            </a:r>
          </a:p>
        </p:txBody>
      </p:sp>
      <p:sp>
        <p:nvSpPr>
          <p:cNvPr id="55" name="文本框 54"/>
          <p:cNvSpPr txBox="1"/>
          <p:nvPr>
            <p:custDataLst>
              <p:tags r:id="rId15"/>
            </p:custDataLst>
          </p:nvPr>
        </p:nvSpPr>
        <p:spPr>
          <a:xfrm>
            <a:off x="2779395" y="3290570"/>
            <a:ext cx="676275" cy="723265"/>
          </a:xfrm>
          <a:prstGeom prst="rect">
            <a:avLst/>
          </a:prstGeom>
          <a:noFill/>
        </p:spPr>
        <p:txBody>
          <a:bodyPr wrap="square" rtlCol="0" anchor="ctr" anchorCtr="0">
            <a:noAutofit/>
          </a:bodyPr>
          <a:lstStyle/>
          <a:p>
            <a:pPr algn="ctr"/>
            <a:r>
              <a:rPr lang="en-US" altLang="zh-CN"/>
              <a:t>0</a:t>
            </a:r>
          </a:p>
        </p:txBody>
      </p:sp>
      <p:sp>
        <p:nvSpPr>
          <p:cNvPr id="56" name="文本框 55"/>
          <p:cNvSpPr txBox="1"/>
          <p:nvPr>
            <p:custDataLst>
              <p:tags r:id="rId16"/>
            </p:custDataLst>
          </p:nvPr>
        </p:nvSpPr>
        <p:spPr>
          <a:xfrm>
            <a:off x="3449320" y="3290570"/>
            <a:ext cx="676275" cy="723265"/>
          </a:xfrm>
          <a:prstGeom prst="rect">
            <a:avLst/>
          </a:prstGeom>
          <a:noFill/>
        </p:spPr>
        <p:txBody>
          <a:bodyPr wrap="square" rtlCol="0" anchor="ctr" anchorCtr="0">
            <a:noAutofit/>
          </a:bodyPr>
          <a:lstStyle/>
          <a:p>
            <a:pPr algn="ctr"/>
            <a:r>
              <a:rPr lang="en-US" altLang="zh-CN"/>
              <a:t>0</a:t>
            </a:r>
          </a:p>
        </p:txBody>
      </p:sp>
      <p:sp>
        <p:nvSpPr>
          <p:cNvPr id="57" name="文本框 56"/>
          <p:cNvSpPr txBox="1"/>
          <p:nvPr>
            <p:custDataLst>
              <p:tags r:id="rId17"/>
            </p:custDataLst>
          </p:nvPr>
        </p:nvSpPr>
        <p:spPr>
          <a:xfrm>
            <a:off x="4119245" y="3290570"/>
            <a:ext cx="676275" cy="723265"/>
          </a:xfrm>
          <a:prstGeom prst="rect">
            <a:avLst/>
          </a:prstGeom>
          <a:noFill/>
        </p:spPr>
        <p:txBody>
          <a:bodyPr wrap="square" rtlCol="0" anchor="ctr" anchorCtr="0">
            <a:noAutofit/>
          </a:bodyPr>
          <a:lstStyle/>
          <a:p>
            <a:pPr algn="ctr"/>
            <a:r>
              <a:rPr lang="en-US" altLang="zh-CN"/>
              <a:t>0</a:t>
            </a:r>
          </a:p>
        </p:txBody>
      </p:sp>
      <p:sp>
        <p:nvSpPr>
          <p:cNvPr id="58" name="文本框 57"/>
          <p:cNvSpPr txBox="1"/>
          <p:nvPr>
            <p:custDataLst>
              <p:tags r:id="rId18"/>
            </p:custDataLst>
          </p:nvPr>
        </p:nvSpPr>
        <p:spPr>
          <a:xfrm>
            <a:off x="4789170" y="3290570"/>
            <a:ext cx="676275" cy="723265"/>
          </a:xfrm>
          <a:prstGeom prst="rect">
            <a:avLst/>
          </a:prstGeom>
          <a:noFill/>
        </p:spPr>
        <p:txBody>
          <a:bodyPr wrap="square" rtlCol="0" anchor="ctr" anchorCtr="0">
            <a:noAutofit/>
          </a:bodyPr>
          <a:lstStyle/>
          <a:p>
            <a:pPr algn="ctr"/>
            <a:r>
              <a:rPr lang="en-US" altLang="zh-CN"/>
              <a:t>0</a:t>
            </a:r>
          </a:p>
        </p:txBody>
      </p:sp>
      <p:sp>
        <p:nvSpPr>
          <p:cNvPr id="59" name="文本框 58"/>
          <p:cNvSpPr txBox="1"/>
          <p:nvPr>
            <p:custDataLst>
              <p:tags r:id="rId19"/>
            </p:custDataLst>
          </p:nvPr>
        </p:nvSpPr>
        <p:spPr>
          <a:xfrm>
            <a:off x="5460365" y="3290570"/>
            <a:ext cx="676275" cy="723265"/>
          </a:xfrm>
          <a:prstGeom prst="rect">
            <a:avLst/>
          </a:prstGeom>
          <a:noFill/>
        </p:spPr>
        <p:txBody>
          <a:bodyPr wrap="square" rtlCol="0" anchor="ctr" anchorCtr="0">
            <a:noAutofit/>
          </a:bodyPr>
          <a:lstStyle/>
          <a:p>
            <a:pPr algn="ctr"/>
            <a:r>
              <a:rPr lang="en-US" altLang="zh-CN"/>
              <a:t>6</a:t>
            </a:r>
          </a:p>
        </p:txBody>
      </p:sp>
      <p:sp>
        <p:nvSpPr>
          <p:cNvPr id="68" name="文本框 67"/>
          <p:cNvSpPr txBox="1"/>
          <p:nvPr>
            <p:custDataLst>
              <p:tags r:id="rId20"/>
            </p:custDataLst>
          </p:nvPr>
        </p:nvSpPr>
        <p:spPr>
          <a:xfrm>
            <a:off x="4118610" y="4021455"/>
            <a:ext cx="676275" cy="723265"/>
          </a:xfrm>
          <a:prstGeom prst="rect">
            <a:avLst/>
          </a:prstGeom>
          <a:noFill/>
        </p:spPr>
        <p:txBody>
          <a:bodyPr wrap="square" rtlCol="0" anchor="ctr" anchorCtr="0">
            <a:noAutofit/>
          </a:bodyPr>
          <a:lstStyle/>
          <a:p>
            <a:pPr algn="ctr"/>
            <a:r>
              <a:rPr lang="en-US" altLang="zh-CN"/>
              <a:t>6</a:t>
            </a:r>
          </a:p>
        </p:txBody>
      </p:sp>
      <p:sp>
        <p:nvSpPr>
          <p:cNvPr id="69" name="文本框 68"/>
          <p:cNvSpPr txBox="1"/>
          <p:nvPr>
            <p:custDataLst>
              <p:tags r:id="rId21"/>
            </p:custDataLst>
          </p:nvPr>
        </p:nvSpPr>
        <p:spPr>
          <a:xfrm>
            <a:off x="6803390" y="3290570"/>
            <a:ext cx="676275" cy="723265"/>
          </a:xfrm>
          <a:prstGeom prst="rect">
            <a:avLst/>
          </a:prstGeom>
          <a:noFill/>
        </p:spPr>
        <p:txBody>
          <a:bodyPr wrap="square" rtlCol="0" anchor="ctr" anchorCtr="0">
            <a:noAutofit/>
          </a:bodyPr>
          <a:lstStyle/>
          <a:p>
            <a:pPr algn="ctr"/>
            <a:r>
              <a:rPr lang="en-US" altLang="zh-CN"/>
              <a:t>10</a:t>
            </a:r>
          </a:p>
        </p:txBody>
      </p:sp>
      <p:sp>
        <p:nvSpPr>
          <p:cNvPr id="70" name="文本框 69"/>
          <p:cNvSpPr txBox="1"/>
          <p:nvPr>
            <p:custDataLst>
              <p:tags r:id="rId22"/>
            </p:custDataLst>
          </p:nvPr>
        </p:nvSpPr>
        <p:spPr>
          <a:xfrm>
            <a:off x="7468870" y="3290570"/>
            <a:ext cx="676275" cy="723265"/>
          </a:xfrm>
          <a:prstGeom prst="rect">
            <a:avLst/>
          </a:prstGeom>
          <a:noFill/>
        </p:spPr>
        <p:txBody>
          <a:bodyPr wrap="square" rtlCol="0" anchor="ctr" anchorCtr="0">
            <a:noAutofit/>
          </a:bodyPr>
          <a:lstStyle/>
          <a:p>
            <a:pPr algn="ctr"/>
            <a:r>
              <a:rPr lang="en-US" altLang="zh-CN"/>
              <a:t>10</a:t>
            </a:r>
          </a:p>
        </p:txBody>
      </p:sp>
      <p:sp>
        <p:nvSpPr>
          <p:cNvPr id="71" name="文本框 70"/>
          <p:cNvSpPr txBox="1"/>
          <p:nvPr>
            <p:custDataLst>
              <p:tags r:id="rId23"/>
            </p:custDataLst>
          </p:nvPr>
        </p:nvSpPr>
        <p:spPr>
          <a:xfrm>
            <a:off x="8140065" y="3290570"/>
            <a:ext cx="676275" cy="723265"/>
          </a:xfrm>
          <a:prstGeom prst="rect">
            <a:avLst/>
          </a:prstGeom>
          <a:noFill/>
        </p:spPr>
        <p:txBody>
          <a:bodyPr wrap="square" rtlCol="0" anchor="ctr" anchorCtr="0">
            <a:noAutofit/>
          </a:bodyPr>
          <a:lstStyle/>
          <a:p>
            <a:pPr algn="ctr"/>
            <a:r>
              <a:rPr lang="en-US" altLang="zh-CN"/>
              <a:t>10</a:t>
            </a:r>
          </a:p>
        </p:txBody>
      </p:sp>
      <p:sp>
        <p:nvSpPr>
          <p:cNvPr id="72" name="文本框 71"/>
          <p:cNvSpPr txBox="1"/>
          <p:nvPr>
            <p:custDataLst>
              <p:tags r:id="rId24"/>
            </p:custDataLst>
          </p:nvPr>
        </p:nvSpPr>
        <p:spPr>
          <a:xfrm>
            <a:off x="2109470" y="4001770"/>
            <a:ext cx="676275" cy="723265"/>
          </a:xfrm>
          <a:prstGeom prst="rect">
            <a:avLst/>
          </a:prstGeom>
          <a:noFill/>
        </p:spPr>
        <p:txBody>
          <a:bodyPr wrap="square" rtlCol="0" anchor="ctr" anchorCtr="0">
            <a:noAutofit/>
          </a:bodyPr>
          <a:lstStyle/>
          <a:p>
            <a:pPr algn="ctr"/>
            <a:r>
              <a:rPr lang="en-US" altLang="zh-CN"/>
              <a:t>0</a:t>
            </a:r>
          </a:p>
        </p:txBody>
      </p:sp>
      <p:sp>
        <p:nvSpPr>
          <p:cNvPr id="74" name="文本框 73"/>
          <p:cNvSpPr txBox="1"/>
          <p:nvPr>
            <p:custDataLst>
              <p:tags r:id="rId25"/>
            </p:custDataLst>
          </p:nvPr>
        </p:nvSpPr>
        <p:spPr>
          <a:xfrm>
            <a:off x="2779395" y="3989705"/>
            <a:ext cx="676275" cy="723265"/>
          </a:xfrm>
          <a:prstGeom prst="rect">
            <a:avLst/>
          </a:prstGeom>
          <a:noFill/>
        </p:spPr>
        <p:txBody>
          <a:bodyPr wrap="square" rtlCol="0" anchor="ctr" anchorCtr="0">
            <a:noAutofit/>
          </a:bodyPr>
          <a:lstStyle/>
          <a:p>
            <a:pPr algn="ctr"/>
            <a:r>
              <a:rPr lang="en-US" altLang="zh-CN"/>
              <a:t>0</a:t>
            </a:r>
          </a:p>
        </p:txBody>
      </p:sp>
      <p:sp>
        <p:nvSpPr>
          <p:cNvPr id="75" name="文本框 74"/>
          <p:cNvSpPr txBox="1"/>
          <p:nvPr>
            <p:custDataLst>
              <p:tags r:id="rId26"/>
            </p:custDataLst>
          </p:nvPr>
        </p:nvSpPr>
        <p:spPr>
          <a:xfrm>
            <a:off x="3455670" y="3989705"/>
            <a:ext cx="676275" cy="723265"/>
          </a:xfrm>
          <a:prstGeom prst="rect">
            <a:avLst/>
          </a:prstGeom>
          <a:noFill/>
        </p:spPr>
        <p:txBody>
          <a:bodyPr wrap="square" rtlCol="0" anchor="ctr" anchorCtr="0">
            <a:noAutofit/>
          </a:bodyPr>
          <a:lstStyle/>
          <a:p>
            <a:pPr algn="ctr"/>
            <a:r>
              <a:rPr lang="en-US" altLang="zh-CN"/>
              <a:t>0</a:t>
            </a:r>
          </a:p>
        </p:txBody>
      </p:sp>
      <p:pic>
        <p:nvPicPr>
          <p:cNvPr id="80" name="图片 79" descr="3b32313534343735383bcaedc6ac"/>
          <p:cNvPicPr>
            <a:picLocks noChangeAspect="1"/>
          </p:cNvPicPr>
          <p:nvPr>
            <p:custDataLst>
              <p:tags r:id="rId27"/>
            </p:custDataLst>
          </p:nvPr>
        </p:nvPicPr>
        <p:blipFill>
          <a:blip r:embed="rId45"/>
          <a:stretch>
            <a:fillRect/>
          </a:stretch>
        </p:blipFill>
        <p:spPr>
          <a:xfrm>
            <a:off x="3175" y="2472690"/>
            <a:ext cx="817880" cy="817880"/>
          </a:xfrm>
          <a:prstGeom prst="rect">
            <a:avLst/>
          </a:prstGeom>
        </p:spPr>
      </p:pic>
      <p:pic>
        <p:nvPicPr>
          <p:cNvPr id="81" name="图片 80" descr="3b32313539313533373bbfc9c0d6"/>
          <p:cNvPicPr>
            <a:picLocks noChangeAspect="1"/>
          </p:cNvPicPr>
          <p:nvPr>
            <p:custDataLst>
              <p:tags r:id="rId28"/>
            </p:custDataLst>
          </p:nvPr>
        </p:nvPicPr>
        <p:blipFill>
          <a:blip r:embed="rId46"/>
          <a:stretch>
            <a:fillRect/>
          </a:stretch>
        </p:blipFill>
        <p:spPr>
          <a:xfrm>
            <a:off x="71120" y="3341370"/>
            <a:ext cx="672465" cy="672465"/>
          </a:xfrm>
          <a:prstGeom prst="rect">
            <a:avLst/>
          </a:prstGeom>
        </p:spPr>
      </p:pic>
      <p:pic>
        <p:nvPicPr>
          <p:cNvPr id="82" name="图片 81" descr="3b32313539313534303bc7fac6e6b1fdb8c9"/>
          <p:cNvPicPr>
            <a:picLocks noChangeAspect="1"/>
          </p:cNvPicPr>
          <p:nvPr>
            <p:custDataLst>
              <p:tags r:id="rId29"/>
            </p:custDataLst>
          </p:nvPr>
        </p:nvPicPr>
        <p:blipFill>
          <a:blip r:embed="rId47"/>
          <a:stretch>
            <a:fillRect/>
          </a:stretch>
        </p:blipFill>
        <p:spPr>
          <a:xfrm>
            <a:off x="180340" y="4151630"/>
            <a:ext cx="463550" cy="463550"/>
          </a:xfrm>
          <a:prstGeom prst="rect">
            <a:avLst/>
          </a:prstGeom>
        </p:spPr>
      </p:pic>
      <p:sp>
        <p:nvSpPr>
          <p:cNvPr id="83" name="文本框 82"/>
          <p:cNvSpPr txBox="1"/>
          <p:nvPr>
            <p:custDataLst>
              <p:tags r:id="rId30"/>
            </p:custDataLst>
          </p:nvPr>
        </p:nvSpPr>
        <p:spPr>
          <a:xfrm>
            <a:off x="6141720" y="3302635"/>
            <a:ext cx="676275" cy="723265"/>
          </a:xfrm>
          <a:prstGeom prst="rect">
            <a:avLst/>
          </a:prstGeom>
          <a:noFill/>
        </p:spPr>
        <p:txBody>
          <a:bodyPr wrap="square" rtlCol="0" anchor="ctr" anchorCtr="0">
            <a:noAutofit/>
          </a:bodyPr>
          <a:lstStyle/>
          <a:p>
            <a:pPr algn="ctr"/>
            <a:r>
              <a:rPr lang="en-US" altLang="zh-CN"/>
              <a:t>6</a:t>
            </a:r>
          </a:p>
        </p:txBody>
      </p:sp>
      <p:sp>
        <p:nvSpPr>
          <p:cNvPr id="85" name="文本框 84"/>
          <p:cNvSpPr txBox="1"/>
          <p:nvPr>
            <p:custDataLst>
              <p:tags r:id="rId31"/>
            </p:custDataLst>
          </p:nvPr>
        </p:nvSpPr>
        <p:spPr>
          <a:xfrm>
            <a:off x="4778375" y="4017010"/>
            <a:ext cx="676275" cy="723265"/>
          </a:xfrm>
          <a:prstGeom prst="rect">
            <a:avLst/>
          </a:prstGeom>
          <a:noFill/>
        </p:spPr>
        <p:txBody>
          <a:bodyPr wrap="square" rtlCol="0" anchor="ctr" anchorCtr="0">
            <a:noAutofit/>
          </a:bodyPr>
          <a:lstStyle/>
          <a:p>
            <a:pPr algn="ctr"/>
            <a:r>
              <a:rPr lang="en-US" altLang="zh-CN"/>
              <a:t>6</a:t>
            </a:r>
          </a:p>
        </p:txBody>
      </p:sp>
      <p:sp>
        <p:nvSpPr>
          <p:cNvPr id="86" name="文本框 85"/>
          <p:cNvSpPr txBox="1"/>
          <p:nvPr>
            <p:custDataLst>
              <p:tags r:id="rId32"/>
            </p:custDataLst>
          </p:nvPr>
        </p:nvSpPr>
        <p:spPr>
          <a:xfrm>
            <a:off x="5459095" y="4017010"/>
            <a:ext cx="676275" cy="723265"/>
          </a:xfrm>
          <a:prstGeom prst="rect">
            <a:avLst/>
          </a:prstGeom>
          <a:noFill/>
        </p:spPr>
        <p:txBody>
          <a:bodyPr wrap="square" rtlCol="0" anchor="ctr" anchorCtr="0">
            <a:noAutofit/>
          </a:bodyPr>
          <a:lstStyle/>
          <a:p>
            <a:pPr algn="ctr"/>
            <a:r>
              <a:rPr lang="en-US" altLang="zh-CN"/>
              <a:t>6</a:t>
            </a:r>
          </a:p>
        </p:txBody>
      </p:sp>
      <p:sp>
        <p:nvSpPr>
          <p:cNvPr id="87" name="文本框 86"/>
          <p:cNvSpPr txBox="1"/>
          <p:nvPr>
            <p:custDataLst>
              <p:tags r:id="rId33"/>
            </p:custDataLst>
          </p:nvPr>
        </p:nvSpPr>
        <p:spPr>
          <a:xfrm>
            <a:off x="6127115" y="4017010"/>
            <a:ext cx="676275" cy="723265"/>
          </a:xfrm>
          <a:prstGeom prst="rect">
            <a:avLst/>
          </a:prstGeom>
          <a:noFill/>
        </p:spPr>
        <p:txBody>
          <a:bodyPr wrap="square" rtlCol="0" anchor="ctr" anchorCtr="0">
            <a:noAutofit/>
          </a:bodyPr>
          <a:lstStyle/>
          <a:p>
            <a:pPr algn="ctr"/>
            <a:r>
              <a:rPr lang="en-US" altLang="zh-CN"/>
              <a:t>6</a:t>
            </a:r>
          </a:p>
        </p:txBody>
      </p:sp>
      <p:sp>
        <p:nvSpPr>
          <p:cNvPr id="88" name="文本框 87"/>
          <p:cNvSpPr txBox="1"/>
          <p:nvPr>
            <p:custDataLst>
              <p:tags r:id="rId34"/>
            </p:custDataLst>
          </p:nvPr>
        </p:nvSpPr>
        <p:spPr>
          <a:xfrm>
            <a:off x="6817995" y="4017010"/>
            <a:ext cx="676275" cy="723265"/>
          </a:xfrm>
          <a:prstGeom prst="rect">
            <a:avLst/>
          </a:prstGeom>
          <a:noFill/>
        </p:spPr>
        <p:txBody>
          <a:bodyPr wrap="square" rtlCol="0" anchor="ctr" anchorCtr="0">
            <a:noAutofit/>
          </a:bodyPr>
          <a:lstStyle/>
          <a:p>
            <a:pPr algn="ctr"/>
            <a:r>
              <a:rPr lang="en-US" altLang="zh-CN"/>
              <a:t>10</a:t>
            </a:r>
          </a:p>
        </p:txBody>
      </p:sp>
      <p:sp>
        <p:nvSpPr>
          <p:cNvPr id="89" name="文本框 88"/>
          <p:cNvSpPr txBox="1"/>
          <p:nvPr>
            <p:custDataLst>
              <p:tags r:id="rId35"/>
            </p:custDataLst>
          </p:nvPr>
        </p:nvSpPr>
        <p:spPr>
          <a:xfrm>
            <a:off x="7463790" y="4017010"/>
            <a:ext cx="676275" cy="723265"/>
          </a:xfrm>
          <a:prstGeom prst="rect">
            <a:avLst/>
          </a:prstGeom>
          <a:noFill/>
        </p:spPr>
        <p:txBody>
          <a:bodyPr wrap="square" rtlCol="0" anchor="ctr" anchorCtr="0">
            <a:noAutofit/>
          </a:bodyPr>
          <a:lstStyle/>
          <a:p>
            <a:pPr algn="ctr"/>
            <a:r>
              <a:rPr lang="en-US" altLang="zh-CN"/>
              <a:t>10</a:t>
            </a:r>
          </a:p>
        </p:txBody>
      </p:sp>
      <p:cxnSp>
        <p:nvCxnSpPr>
          <p:cNvPr id="90" name="直接箭头连接符 89"/>
          <p:cNvCxnSpPr/>
          <p:nvPr>
            <p:custDataLst>
              <p:tags r:id="rId36"/>
            </p:custDataLst>
          </p:nvPr>
        </p:nvCxnSpPr>
        <p:spPr>
          <a:xfrm>
            <a:off x="5885815" y="3772535"/>
            <a:ext cx="2520950" cy="628650"/>
          </a:xfrm>
          <a:prstGeom prst="straightConnector1">
            <a:avLst/>
          </a:prstGeom>
          <a:ln>
            <a:solidFill>
              <a:schemeClr val="accent2"/>
            </a:solidFill>
            <a:tailEnd type="arrow" w="med" len="med"/>
          </a:ln>
        </p:spPr>
        <p:style>
          <a:lnRef idx="3">
            <a:schemeClr val="accent1"/>
          </a:lnRef>
          <a:fillRef idx="0">
            <a:srgbClr val="FFFFFF"/>
          </a:fillRef>
          <a:effectRef idx="0">
            <a:srgbClr val="FFFFFF"/>
          </a:effectRef>
          <a:fontRef idx="minor">
            <a:schemeClr val="tx1"/>
          </a:fontRef>
        </p:style>
      </p:cxnSp>
      <p:cxnSp>
        <p:nvCxnSpPr>
          <p:cNvPr id="91" name="直接箭头连接符 90"/>
          <p:cNvCxnSpPr/>
          <p:nvPr>
            <p:custDataLst>
              <p:tags r:id="rId37"/>
            </p:custDataLst>
          </p:nvPr>
        </p:nvCxnSpPr>
        <p:spPr>
          <a:xfrm>
            <a:off x="8632190" y="3801110"/>
            <a:ext cx="0" cy="375920"/>
          </a:xfrm>
          <a:prstGeom prst="straightConnector1">
            <a:avLst/>
          </a:prstGeom>
          <a:ln>
            <a:solidFill>
              <a:srgbClr val="00B0F0"/>
            </a:solidFill>
            <a:tailEnd type="arrow" w="med" len="med"/>
          </a:ln>
        </p:spPr>
        <p:style>
          <a:lnRef idx="3">
            <a:schemeClr val="accent1"/>
          </a:lnRef>
          <a:fillRef idx="0">
            <a:srgbClr val="FFFFFF"/>
          </a:fillRef>
          <a:effectRef idx="0">
            <a:srgbClr val="FFFFFF"/>
          </a:effectRef>
          <a:fontRef idx="minor">
            <a:schemeClr val="tx1"/>
          </a:fontRef>
        </p:style>
      </p:cxnSp>
      <p:sp>
        <p:nvSpPr>
          <p:cNvPr id="92" name="文本框 91"/>
          <p:cNvSpPr txBox="1"/>
          <p:nvPr>
            <p:custDataLst>
              <p:tags r:id="rId38"/>
            </p:custDataLst>
          </p:nvPr>
        </p:nvSpPr>
        <p:spPr>
          <a:xfrm>
            <a:off x="7567295" y="4394200"/>
            <a:ext cx="839470" cy="368300"/>
          </a:xfrm>
          <a:prstGeom prst="rect">
            <a:avLst/>
          </a:prstGeom>
          <a:noFill/>
        </p:spPr>
        <p:txBody>
          <a:bodyPr wrap="square" rtlCol="0">
            <a:spAutoFit/>
          </a:bodyPr>
          <a:lstStyle/>
          <a:p>
            <a:r>
              <a:rPr lang="zh-CN" altLang="en-US">
                <a:solidFill>
                  <a:schemeClr val="accent2"/>
                </a:solidFill>
              </a:rPr>
              <a:t>要</a:t>
            </a:r>
            <a:r>
              <a:rPr lang="en-US" altLang="zh-CN">
                <a:solidFill>
                  <a:schemeClr val="accent2"/>
                </a:solidFill>
              </a:rPr>
              <a:t>+6</a:t>
            </a:r>
          </a:p>
        </p:txBody>
      </p:sp>
      <p:sp>
        <p:nvSpPr>
          <p:cNvPr id="93" name="文本框 92"/>
          <p:cNvSpPr txBox="1"/>
          <p:nvPr>
            <p:custDataLst>
              <p:tags r:id="rId39"/>
            </p:custDataLst>
          </p:nvPr>
        </p:nvSpPr>
        <p:spPr>
          <a:xfrm>
            <a:off x="8546465" y="3575685"/>
            <a:ext cx="709295" cy="368300"/>
          </a:xfrm>
          <a:prstGeom prst="rect">
            <a:avLst/>
          </a:prstGeom>
          <a:noFill/>
        </p:spPr>
        <p:txBody>
          <a:bodyPr wrap="square" rtlCol="0">
            <a:spAutoFit/>
          </a:bodyPr>
          <a:lstStyle/>
          <a:p>
            <a:r>
              <a:rPr lang="zh-CN" altLang="en-US">
                <a:solidFill>
                  <a:srgbClr val="00B0F0"/>
                </a:solidFill>
              </a:rPr>
              <a:t>不要</a:t>
            </a:r>
          </a:p>
        </p:txBody>
      </p:sp>
      <p:sp>
        <p:nvSpPr>
          <p:cNvPr id="94" name="文本框 93"/>
          <p:cNvSpPr txBox="1"/>
          <p:nvPr>
            <p:custDataLst>
              <p:tags r:id="rId40"/>
            </p:custDataLst>
          </p:nvPr>
        </p:nvSpPr>
        <p:spPr>
          <a:xfrm>
            <a:off x="8140065" y="4017010"/>
            <a:ext cx="676275" cy="723265"/>
          </a:xfrm>
          <a:prstGeom prst="rect">
            <a:avLst/>
          </a:prstGeom>
          <a:noFill/>
        </p:spPr>
        <p:txBody>
          <a:bodyPr wrap="square" rtlCol="0" anchor="ctr" anchorCtr="0">
            <a:noAutofit/>
          </a:bodyPr>
          <a:lstStyle/>
          <a:p>
            <a:pPr algn="ctr"/>
            <a:r>
              <a:rPr lang="en-US" altLang="zh-CN"/>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par>
                                <p:cTn id="8" presetID="22" presetClass="exit" presetSubtype="4" fill="hold" grpId="0" nodeType="withEffect">
                                  <p:stCondLst>
                                    <p:cond delay="0"/>
                                  </p:stCondLst>
                                  <p:childTnLst>
                                    <p:animEffect transition="out" filter="wipe(down)">
                                      <p:cBhvr>
                                        <p:cTn id="9" dur="500"/>
                                        <p:tgtEl>
                                          <p:spTgt spid="20"/>
                                        </p:tgtEl>
                                      </p:cBhvr>
                                    </p:animEffect>
                                    <p:set>
                                      <p:cBhvr>
                                        <p:cTn id="10" dur="1" fill="hold">
                                          <p:stCondLst>
                                            <p:cond delay="499"/>
                                          </p:stCondLst>
                                        </p:cTn>
                                        <p:tgtEl>
                                          <p:spTgt spid="20"/>
                                        </p:tgtEl>
                                        <p:attrNameLst>
                                          <p:attrName>style.visibility</p:attrName>
                                        </p:attrNameLst>
                                      </p:cBhvr>
                                      <p:to>
                                        <p:strVal val="hidden"/>
                                      </p:to>
                                    </p:set>
                                  </p:childTnLst>
                                </p:cTn>
                              </p:par>
                              <p:par>
                                <p:cTn id="11" presetID="22" presetClass="exit" presetSubtype="4" fill="hold" grpId="0" nodeType="withEffect">
                                  <p:stCondLst>
                                    <p:cond delay="0"/>
                                  </p:stCondLst>
                                  <p:childTnLst>
                                    <p:animEffect transition="out" filter="wipe(down)">
                                      <p:cBhvr>
                                        <p:cTn id="12" dur="500"/>
                                        <p:tgtEl>
                                          <p:spTgt spid="3"/>
                                        </p:tgtEl>
                                      </p:cBhvr>
                                    </p:animEffect>
                                    <p:set>
                                      <p:cBhvr>
                                        <p:cTn id="13" dur="1" fill="hold">
                                          <p:stCondLst>
                                            <p:cond delay="499"/>
                                          </p:stCondLst>
                                        </p:cTn>
                                        <p:tgtEl>
                                          <p:spTgt spid="3"/>
                                        </p:tgtEl>
                                        <p:attrNameLst>
                                          <p:attrName>style.visibility</p:attrName>
                                        </p:attrNameLst>
                                      </p:cBhvr>
                                      <p:to>
                                        <p:strVal val="hidden"/>
                                      </p:to>
                                    </p:set>
                                  </p:childTnLst>
                                </p:cTn>
                              </p:par>
                              <p:par>
                                <p:cTn id="14" presetID="22" presetClass="exit" presetSubtype="4" fill="hold" grpId="0" nodeType="withEffect">
                                  <p:stCondLst>
                                    <p:cond delay="0"/>
                                  </p:stCondLst>
                                  <p:childTnLst>
                                    <p:animEffect transition="out" filter="wipe(down)">
                                      <p:cBhvr>
                                        <p:cTn id="15" dur="500"/>
                                        <p:tgtEl>
                                          <p:spTgt spid="15"/>
                                        </p:tgtEl>
                                      </p:cBhvr>
                                    </p:animEffect>
                                    <p:set>
                                      <p:cBhvr>
                                        <p:cTn id="16" dur="1" fill="hold">
                                          <p:stCondLst>
                                            <p:cond delay="499"/>
                                          </p:stCondLst>
                                        </p:cTn>
                                        <p:tgtEl>
                                          <p:spTgt spid="15"/>
                                        </p:tgtEl>
                                        <p:attrNameLst>
                                          <p:attrName>style.visibility</p:attrName>
                                        </p:attrNameLst>
                                      </p:cBhvr>
                                      <p:to>
                                        <p:strVal val="hidden"/>
                                      </p:to>
                                    </p:set>
                                  </p:childTnLst>
                                </p:cTn>
                              </p:par>
                              <p:par>
                                <p:cTn id="17" presetID="22" presetClass="exit" presetSubtype="4" fill="hold" grpId="0" nodeType="withEffect">
                                  <p:stCondLst>
                                    <p:cond delay="0"/>
                                  </p:stCondLst>
                                  <p:childTnLst>
                                    <p:animEffect transition="out" filter="wipe(down)">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par>
                                <p:cTn id="20" presetID="22" presetClass="exit" presetSubtype="4" fill="hold" grpId="0" nodeType="withEffect">
                                  <p:stCondLst>
                                    <p:cond delay="0"/>
                                  </p:stCondLst>
                                  <p:childTnLst>
                                    <p:animEffect transition="out" filter="wipe(down)">
                                      <p:cBhvr>
                                        <p:cTn id="21" dur="500"/>
                                        <p:tgtEl>
                                          <p:spTgt spid="22"/>
                                        </p:tgtEl>
                                      </p:cBhvr>
                                    </p:animEffect>
                                    <p:set>
                                      <p:cBhvr>
                                        <p:cTn id="22" dur="1" fill="hold">
                                          <p:stCondLst>
                                            <p:cond delay="499"/>
                                          </p:stCondLst>
                                        </p:cTn>
                                        <p:tgtEl>
                                          <p:spTgt spid="22"/>
                                        </p:tgtEl>
                                        <p:attrNameLst>
                                          <p:attrName>style.visibility</p:attrName>
                                        </p:attrNameLst>
                                      </p:cBhvr>
                                      <p:to>
                                        <p:strVal val="hidden"/>
                                      </p:to>
                                    </p:set>
                                  </p:childTnLst>
                                </p:cTn>
                              </p:par>
                              <p:par>
                                <p:cTn id="23" presetID="22" presetClass="exit" presetSubtype="4" fill="hold" grpId="0" nodeType="withEffect">
                                  <p:stCondLst>
                                    <p:cond delay="0"/>
                                  </p:stCondLst>
                                  <p:childTnLst>
                                    <p:animEffect transition="out" filter="wipe(down)">
                                      <p:cBhvr>
                                        <p:cTn id="24" dur="500"/>
                                        <p:tgtEl>
                                          <p:spTgt spid="24"/>
                                        </p:tgtEl>
                                      </p:cBhvr>
                                    </p:animEffect>
                                    <p:set>
                                      <p:cBhvr>
                                        <p:cTn id="25" dur="1" fill="hold">
                                          <p:stCondLst>
                                            <p:cond delay="499"/>
                                          </p:stCondLst>
                                        </p:cTn>
                                        <p:tgtEl>
                                          <p:spTgt spid="24"/>
                                        </p:tgtEl>
                                        <p:attrNameLst>
                                          <p:attrName>style.visibility</p:attrName>
                                        </p:attrNameLst>
                                      </p:cBhvr>
                                      <p:to>
                                        <p:strVal val="hidden"/>
                                      </p:to>
                                    </p:set>
                                  </p:childTnLst>
                                </p:cTn>
                              </p:par>
                              <p:par>
                                <p:cTn id="26" presetID="22" presetClass="exit" presetSubtype="4" fill="hold" grpId="0" nodeType="withEffect">
                                  <p:stCondLst>
                                    <p:cond delay="0"/>
                                  </p:stCondLst>
                                  <p:childTnLst>
                                    <p:animEffect transition="out" filter="wipe(down)">
                                      <p:cBhvr>
                                        <p:cTn id="27" dur="500"/>
                                        <p:tgtEl>
                                          <p:spTgt spid="31"/>
                                        </p:tgtEl>
                                      </p:cBhvr>
                                    </p:animEffect>
                                    <p:set>
                                      <p:cBhvr>
                                        <p:cTn id="28" dur="1" fill="hold">
                                          <p:stCondLst>
                                            <p:cond delay="499"/>
                                          </p:stCondLst>
                                        </p:cTn>
                                        <p:tgtEl>
                                          <p:spTgt spid="31"/>
                                        </p:tgtEl>
                                        <p:attrNameLst>
                                          <p:attrName>style.visibility</p:attrName>
                                        </p:attrNameLst>
                                      </p:cBhvr>
                                      <p:to>
                                        <p:strVal val="hidden"/>
                                      </p:to>
                                    </p:set>
                                  </p:childTnLst>
                                </p:cTn>
                              </p:par>
                              <p:par>
                                <p:cTn id="29" presetID="22" presetClass="exit" presetSubtype="4" fill="hold" grpId="0" nodeType="withEffect">
                                  <p:stCondLst>
                                    <p:cond delay="0"/>
                                  </p:stCondLst>
                                  <p:childTnLst>
                                    <p:animEffect transition="out" filter="wipe(down)">
                                      <p:cBhvr>
                                        <p:cTn id="30" dur="500"/>
                                        <p:tgtEl>
                                          <p:spTgt spid="32"/>
                                        </p:tgtEl>
                                      </p:cBhvr>
                                    </p:animEffect>
                                    <p:set>
                                      <p:cBhvr>
                                        <p:cTn id="31" dur="1" fill="hold">
                                          <p:stCondLst>
                                            <p:cond delay="499"/>
                                          </p:stCondLst>
                                        </p:cTn>
                                        <p:tgtEl>
                                          <p:spTgt spid="32"/>
                                        </p:tgtEl>
                                        <p:attrNameLst>
                                          <p:attrName>style.visibility</p:attrName>
                                        </p:attrNameLst>
                                      </p:cBhvr>
                                      <p:to>
                                        <p:strVal val="hidden"/>
                                      </p:to>
                                    </p:set>
                                  </p:childTnLst>
                                </p:cTn>
                              </p:par>
                              <p:par>
                                <p:cTn id="32" presetID="22" presetClass="exit" presetSubtype="4" fill="hold" grpId="0" nodeType="withEffect">
                                  <p:stCondLst>
                                    <p:cond delay="0"/>
                                  </p:stCondLst>
                                  <p:childTnLst>
                                    <p:animEffect transition="out" filter="wipe(down)">
                                      <p:cBhvr>
                                        <p:cTn id="33" dur="500"/>
                                        <p:tgtEl>
                                          <p:spTgt spid="33"/>
                                        </p:tgtEl>
                                      </p:cBhvr>
                                    </p:animEffect>
                                    <p:set>
                                      <p:cBhvr>
                                        <p:cTn id="34" dur="1" fill="hold">
                                          <p:stCondLst>
                                            <p:cond delay="499"/>
                                          </p:stCondLst>
                                        </p:cTn>
                                        <p:tgtEl>
                                          <p:spTgt spid="33"/>
                                        </p:tgtEl>
                                        <p:attrNameLst>
                                          <p:attrName>style.visibility</p:attrName>
                                        </p:attrNameLst>
                                      </p:cBhvr>
                                      <p:to>
                                        <p:strVal val="hidden"/>
                                      </p:to>
                                    </p:set>
                                  </p:childTnLst>
                                </p:cTn>
                              </p:par>
                              <p:par>
                                <p:cTn id="35" presetID="22" presetClass="exit" presetSubtype="4" fill="hold" grpId="0" nodeType="withEffect">
                                  <p:stCondLst>
                                    <p:cond delay="0"/>
                                  </p:stCondLst>
                                  <p:childTnLst>
                                    <p:animEffect transition="out" filter="wipe(down)">
                                      <p:cBhvr>
                                        <p:cTn id="36" dur="500"/>
                                        <p:tgtEl>
                                          <p:spTgt spid="34"/>
                                        </p:tgtEl>
                                      </p:cBhvr>
                                    </p:animEffect>
                                    <p:set>
                                      <p:cBhvr>
                                        <p:cTn id="37" dur="1" fill="hold">
                                          <p:stCondLst>
                                            <p:cond delay="499"/>
                                          </p:stCondLst>
                                        </p:cTn>
                                        <p:tgtEl>
                                          <p:spTgt spid="34"/>
                                        </p:tgtEl>
                                        <p:attrNameLst>
                                          <p:attrName>style.visibility</p:attrName>
                                        </p:attrNameLst>
                                      </p:cBhvr>
                                      <p:to>
                                        <p:strVal val="hidden"/>
                                      </p:to>
                                    </p:set>
                                  </p:childTnLst>
                                </p:cTn>
                              </p:par>
                              <p:par>
                                <p:cTn id="38" presetID="22" presetClass="exit" presetSubtype="4" fill="hold" grpId="0" nodeType="withEffect">
                                  <p:stCondLst>
                                    <p:cond delay="0"/>
                                  </p:stCondLst>
                                  <p:childTnLst>
                                    <p:animEffect transition="out" filter="wipe(down)">
                                      <p:cBhvr>
                                        <p:cTn id="39" dur="500"/>
                                        <p:tgtEl>
                                          <p:spTgt spid="36"/>
                                        </p:tgtEl>
                                      </p:cBhvr>
                                    </p:animEffect>
                                    <p:set>
                                      <p:cBhvr>
                                        <p:cTn id="40" dur="1" fill="hold">
                                          <p:stCondLst>
                                            <p:cond delay="499"/>
                                          </p:stCondLst>
                                        </p:cTn>
                                        <p:tgtEl>
                                          <p:spTgt spid="36"/>
                                        </p:tgtEl>
                                        <p:attrNameLst>
                                          <p:attrName>style.visibility</p:attrName>
                                        </p:attrNameLst>
                                      </p:cBhvr>
                                      <p:to>
                                        <p:strVal val="hidden"/>
                                      </p:to>
                                    </p:set>
                                  </p:childTnLst>
                                </p:cTn>
                              </p:par>
                              <p:par>
                                <p:cTn id="41" presetID="22" presetClass="exit" presetSubtype="4" fill="hold" grpId="0" nodeType="withEffect">
                                  <p:stCondLst>
                                    <p:cond delay="0"/>
                                  </p:stCondLst>
                                  <p:childTnLst>
                                    <p:animEffect transition="out" filter="wipe(down)">
                                      <p:cBhvr>
                                        <p:cTn id="42" dur="500"/>
                                        <p:tgtEl>
                                          <p:spTgt spid="39"/>
                                        </p:tgtEl>
                                      </p:cBhvr>
                                    </p:animEffect>
                                    <p:set>
                                      <p:cBhvr>
                                        <p:cTn id="43" dur="1" fill="hold">
                                          <p:stCondLst>
                                            <p:cond delay="499"/>
                                          </p:stCondLst>
                                        </p:cTn>
                                        <p:tgtEl>
                                          <p:spTgt spid="39"/>
                                        </p:tgtEl>
                                        <p:attrNameLst>
                                          <p:attrName>style.visibility</p:attrName>
                                        </p:attrNameLst>
                                      </p:cBhvr>
                                      <p:to>
                                        <p:strVal val="hidden"/>
                                      </p:to>
                                    </p:set>
                                  </p:childTnLst>
                                </p:cTn>
                              </p:par>
                              <p:par>
                                <p:cTn id="44" presetID="22" presetClass="exit" presetSubtype="4" fill="hold" grpId="0" nodeType="withEffect">
                                  <p:stCondLst>
                                    <p:cond delay="0"/>
                                  </p:stCondLst>
                                  <p:childTnLst>
                                    <p:animEffect transition="out" filter="wipe(down)">
                                      <p:cBhvr>
                                        <p:cTn id="45" dur="500"/>
                                        <p:tgtEl>
                                          <p:spTgt spid="45"/>
                                        </p:tgtEl>
                                      </p:cBhvr>
                                    </p:animEffect>
                                    <p:set>
                                      <p:cBhvr>
                                        <p:cTn id="46" dur="1" fill="hold">
                                          <p:stCondLst>
                                            <p:cond delay="499"/>
                                          </p:stCondLst>
                                        </p:cTn>
                                        <p:tgtEl>
                                          <p:spTgt spid="45"/>
                                        </p:tgtEl>
                                        <p:attrNameLst>
                                          <p:attrName>style.visibility</p:attrName>
                                        </p:attrNameLst>
                                      </p:cBhvr>
                                      <p:to>
                                        <p:strVal val="hidden"/>
                                      </p:to>
                                    </p:set>
                                  </p:childTnLst>
                                </p:cTn>
                              </p:par>
                              <p:par>
                                <p:cTn id="47" presetID="22" presetClass="exit" presetSubtype="4" fill="hold" grpId="0" nodeType="withEffect">
                                  <p:stCondLst>
                                    <p:cond delay="0"/>
                                  </p:stCondLst>
                                  <p:childTnLst>
                                    <p:animEffect transition="out" filter="wipe(down)">
                                      <p:cBhvr>
                                        <p:cTn id="48" dur="500"/>
                                        <p:tgtEl>
                                          <p:spTgt spid="46"/>
                                        </p:tgtEl>
                                      </p:cBhvr>
                                    </p:animEffect>
                                    <p:set>
                                      <p:cBhvr>
                                        <p:cTn id="49" dur="1" fill="hold">
                                          <p:stCondLst>
                                            <p:cond delay="499"/>
                                          </p:stCondLst>
                                        </p:cTn>
                                        <p:tgtEl>
                                          <p:spTgt spid="46"/>
                                        </p:tgtEl>
                                        <p:attrNameLst>
                                          <p:attrName>style.visibility</p:attrName>
                                        </p:attrNameLst>
                                      </p:cBhvr>
                                      <p:to>
                                        <p:strVal val="hidden"/>
                                      </p:to>
                                    </p:set>
                                  </p:childTnLst>
                                </p:cTn>
                              </p:par>
                              <p:par>
                                <p:cTn id="50" presetID="22" presetClass="exit" presetSubtype="4" fill="hold" grpId="0" nodeType="withEffect">
                                  <p:stCondLst>
                                    <p:cond delay="0"/>
                                  </p:stCondLst>
                                  <p:childTnLst>
                                    <p:animEffect transition="out" filter="wipe(down)">
                                      <p:cBhvr>
                                        <p:cTn id="51" dur="500"/>
                                        <p:tgtEl>
                                          <p:spTgt spid="47"/>
                                        </p:tgtEl>
                                      </p:cBhvr>
                                    </p:animEffect>
                                    <p:set>
                                      <p:cBhvr>
                                        <p:cTn id="52" dur="1" fill="hold">
                                          <p:stCondLst>
                                            <p:cond delay="499"/>
                                          </p:stCondLst>
                                        </p:cTn>
                                        <p:tgtEl>
                                          <p:spTgt spid="47"/>
                                        </p:tgtEl>
                                        <p:attrNameLst>
                                          <p:attrName>style.visibility</p:attrName>
                                        </p:attrNameLst>
                                      </p:cBhvr>
                                      <p:to>
                                        <p:strVal val="hidden"/>
                                      </p:to>
                                    </p:set>
                                  </p:childTnLst>
                                </p:cTn>
                              </p:par>
                              <p:par>
                                <p:cTn id="53" presetID="22" presetClass="exit" presetSubtype="4" fill="hold" grpId="0" nodeType="withEffect">
                                  <p:stCondLst>
                                    <p:cond delay="0"/>
                                  </p:stCondLst>
                                  <p:childTnLst>
                                    <p:animEffect transition="out" filter="wipe(down)">
                                      <p:cBhvr>
                                        <p:cTn id="54" dur="500"/>
                                        <p:tgtEl>
                                          <p:spTgt spid="48"/>
                                        </p:tgtEl>
                                      </p:cBhvr>
                                    </p:animEffect>
                                    <p:set>
                                      <p:cBhvr>
                                        <p:cTn id="55" dur="1" fill="hold">
                                          <p:stCondLst>
                                            <p:cond delay="499"/>
                                          </p:stCondLst>
                                        </p:cTn>
                                        <p:tgtEl>
                                          <p:spTgt spid="48"/>
                                        </p:tgtEl>
                                        <p:attrNameLst>
                                          <p:attrName>style.visibility</p:attrName>
                                        </p:attrNameLst>
                                      </p:cBhvr>
                                      <p:to>
                                        <p:strVal val="hidden"/>
                                      </p:to>
                                    </p:set>
                                  </p:childTnLst>
                                </p:cTn>
                              </p:par>
                              <p:par>
                                <p:cTn id="56" presetID="22" presetClass="exit" presetSubtype="4" fill="hold" grpId="0" nodeType="withEffect">
                                  <p:stCondLst>
                                    <p:cond delay="0"/>
                                  </p:stCondLst>
                                  <p:childTnLst>
                                    <p:animEffect transition="out" filter="wipe(down)">
                                      <p:cBhvr>
                                        <p:cTn id="57" dur="500"/>
                                        <p:tgtEl>
                                          <p:spTgt spid="49"/>
                                        </p:tgtEl>
                                      </p:cBhvr>
                                    </p:animEffect>
                                    <p:set>
                                      <p:cBhvr>
                                        <p:cTn id="58" dur="1" fill="hold">
                                          <p:stCondLst>
                                            <p:cond delay="499"/>
                                          </p:stCondLst>
                                        </p:cTn>
                                        <p:tgtEl>
                                          <p:spTgt spid="49"/>
                                        </p:tgtEl>
                                        <p:attrNameLst>
                                          <p:attrName>style.visibility</p:attrName>
                                        </p:attrNameLst>
                                      </p:cBhvr>
                                      <p:to>
                                        <p:strVal val="hidden"/>
                                      </p:to>
                                    </p:set>
                                  </p:childTnLst>
                                </p:cTn>
                              </p:par>
                              <p:par>
                                <p:cTn id="59" presetID="22" presetClass="exit" presetSubtype="4" fill="hold" grpId="0" nodeType="withEffect">
                                  <p:stCondLst>
                                    <p:cond delay="0"/>
                                  </p:stCondLst>
                                  <p:childTnLst>
                                    <p:animEffect transition="out" filter="wipe(down)">
                                      <p:cBhvr>
                                        <p:cTn id="60" dur="500"/>
                                        <p:tgtEl>
                                          <p:spTgt spid="50"/>
                                        </p:tgtEl>
                                      </p:cBhvr>
                                    </p:animEffect>
                                    <p:set>
                                      <p:cBhvr>
                                        <p:cTn id="61" dur="1" fill="hold">
                                          <p:stCondLst>
                                            <p:cond delay="499"/>
                                          </p:stCondLst>
                                        </p:cTn>
                                        <p:tgtEl>
                                          <p:spTgt spid="50"/>
                                        </p:tgtEl>
                                        <p:attrNameLst>
                                          <p:attrName>style.visibility</p:attrName>
                                        </p:attrNameLst>
                                      </p:cBhvr>
                                      <p:to>
                                        <p:strVal val="hidden"/>
                                      </p:to>
                                    </p:set>
                                  </p:childTnLst>
                                </p:cTn>
                              </p:par>
                              <p:par>
                                <p:cTn id="62" presetID="22" presetClass="exit" presetSubtype="4" fill="hold" grpId="0" nodeType="withEffect">
                                  <p:stCondLst>
                                    <p:cond delay="0"/>
                                  </p:stCondLst>
                                  <p:childTnLst>
                                    <p:animEffect transition="out" filter="wipe(down)">
                                      <p:cBhvr>
                                        <p:cTn id="63" dur="500"/>
                                        <p:tgtEl>
                                          <p:spTgt spid="51"/>
                                        </p:tgtEl>
                                      </p:cBhvr>
                                    </p:animEffect>
                                    <p:set>
                                      <p:cBhvr>
                                        <p:cTn id="64" dur="1" fill="hold">
                                          <p:stCondLst>
                                            <p:cond delay="499"/>
                                          </p:stCondLst>
                                        </p:cTn>
                                        <p:tgtEl>
                                          <p:spTgt spid="51"/>
                                        </p:tgtEl>
                                        <p:attrNameLst>
                                          <p:attrName>style.visibility</p:attrName>
                                        </p:attrNameLst>
                                      </p:cBhvr>
                                      <p:to>
                                        <p:strVal val="hidden"/>
                                      </p:to>
                                    </p:set>
                                  </p:childTnLst>
                                </p:cTn>
                              </p:par>
                              <p:par>
                                <p:cTn id="65" presetID="22" presetClass="exit" presetSubtype="4" fill="hold" grpId="0" nodeType="withEffect">
                                  <p:stCondLst>
                                    <p:cond delay="0"/>
                                  </p:stCondLst>
                                  <p:childTnLst>
                                    <p:animEffect transition="out" filter="wipe(down)">
                                      <p:cBhvr>
                                        <p:cTn id="66" dur="500"/>
                                        <p:tgtEl>
                                          <p:spTgt spid="52"/>
                                        </p:tgtEl>
                                      </p:cBhvr>
                                    </p:animEffect>
                                    <p:set>
                                      <p:cBhvr>
                                        <p:cTn id="67" dur="1" fill="hold">
                                          <p:stCondLst>
                                            <p:cond delay="499"/>
                                          </p:stCondLst>
                                        </p:cTn>
                                        <p:tgtEl>
                                          <p:spTgt spid="52"/>
                                        </p:tgtEl>
                                        <p:attrNameLst>
                                          <p:attrName>style.visibility</p:attrName>
                                        </p:attrNameLst>
                                      </p:cBhvr>
                                      <p:to>
                                        <p:strVal val="hidden"/>
                                      </p:to>
                                    </p:set>
                                  </p:childTnLst>
                                </p:cTn>
                              </p:par>
                              <p:par>
                                <p:cTn id="68" presetID="22" presetClass="exit" presetSubtype="4" fill="hold" grpId="0" nodeType="withEffect">
                                  <p:stCondLst>
                                    <p:cond delay="0"/>
                                  </p:stCondLst>
                                  <p:childTnLst>
                                    <p:animEffect transition="out" filter="wipe(down)">
                                      <p:cBhvr>
                                        <p:cTn id="69" dur="500"/>
                                        <p:tgtEl>
                                          <p:spTgt spid="53"/>
                                        </p:tgtEl>
                                      </p:cBhvr>
                                    </p:animEffect>
                                    <p:set>
                                      <p:cBhvr>
                                        <p:cTn id="70" dur="1" fill="hold">
                                          <p:stCondLst>
                                            <p:cond delay="499"/>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P spid="3" grpId="0"/>
      <p:bldP spid="15" grpId="0"/>
      <p:bldP spid="17" grpId="0"/>
      <p:bldP spid="22" grpId="0"/>
      <p:bldP spid="24" grpId="0"/>
      <p:bldP spid="31" grpId="0"/>
      <p:bldP spid="32" grpId="0"/>
      <p:bldP spid="33" grpId="0"/>
      <p:bldP spid="34" grpId="0"/>
      <p:bldP spid="36" grpId="0"/>
      <p:bldP spid="39" grpId="0"/>
      <p:bldP spid="45" grpId="0"/>
      <p:bldP spid="46" grpId="0"/>
      <p:bldP spid="47" grpId="0"/>
      <p:bldP spid="48" grpId="0"/>
      <p:bldP spid="49" grpId="0"/>
      <p:bldP spid="50" grpId="0"/>
      <p:bldP spid="51" grpId="0"/>
      <p:bldP spid="52" grpId="0"/>
      <p:bldP spid="5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custDataLst>
              <p:tags r:id="rId1"/>
            </p:custDataLst>
          </p:nvPr>
        </p:nvSpPr>
        <p:spPr>
          <a:xfrm>
            <a:off x="519675" y="368275"/>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b="1" dirty="0">
                <a:solidFill>
                  <a:srgbClr val="003CA6"/>
                </a:solidFill>
                <a:latin typeface="微软雅黑" panose="020B0503020204020204" charset="-122"/>
                <a:ea typeface="微软雅黑" panose="020B0503020204020204" charset="-122"/>
                <a:sym typeface="+mn-ea"/>
              </a:rPr>
              <a:t>01</a:t>
            </a:r>
            <a:r>
              <a:rPr lang="zh-CN" altLang="en-US" sz="2400" b="1" dirty="0">
                <a:solidFill>
                  <a:srgbClr val="003CA6"/>
                </a:solidFill>
                <a:latin typeface="微软雅黑" panose="020B0503020204020204" charset="-122"/>
                <a:ea typeface="微软雅黑" panose="020B0503020204020204" charset="-122"/>
                <a:sym typeface="+mn-ea"/>
              </a:rPr>
              <a:t>背包优化</a:t>
            </a:r>
          </a:p>
        </p:txBody>
      </p:sp>
      <p:graphicFrame>
        <p:nvGraphicFramePr>
          <p:cNvPr id="4" name="表格 3"/>
          <p:cNvGraphicFramePr/>
          <p:nvPr>
            <p:custDataLst>
              <p:tags r:id="rId2"/>
            </p:custDataLst>
          </p:nvPr>
        </p:nvGraphicFramePr>
        <p:xfrm>
          <a:off x="1371600" y="1294765"/>
          <a:ext cx="6395720" cy="746125"/>
        </p:xfrm>
        <a:graphic>
          <a:graphicData uri="http://schemas.openxmlformats.org/drawingml/2006/table">
            <a:tbl>
              <a:tblPr bandRow="1">
                <a:tableStyleId>{B301B821-A1FF-4177-AEE7-76D212191A09}</a:tableStyleId>
              </a:tblPr>
              <a:tblGrid>
                <a:gridCol w="799465">
                  <a:extLst>
                    <a:ext uri="{9D8B030D-6E8A-4147-A177-3AD203B41FA5}">
                      <a16:colId xmlns:a16="http://schemas.microsoft.com/office/drawing/2014/main" val="20000"/>
                    </a:ext>
                  </a:extLst>
                </a:gridCol>
                <a:gridCol w="799465">
                  <a:extLst>
                    <a:ext uri="{9D8B030D-6E8A-4147-A177-3AD203B41FA5}">
                      <a16:colId xmlns:a16="http://schemas.microsoft.com/office/drawing/2014/main" val="20001"/>
                    </a:ext>
                  </a:extLst>
                </a:gridCol>
                <a:gridCol w="799465">
                  <a:extLst>
                    <a:ext uri="{9D8B030D-6E8A-4147-A177-3AD203B41FA5}">
                      <a16:colId xmlns:a16="http://schemas.microsoft.com/office/drawing/2014/main" val="20002"/>
                    </a:ext>
                  </a:extLst>
                </a:gridCol>
                <a:gridCol w="799465">
                  <a:extLst>
                    <a:ext uri="{9D8B030D-6E8A-4147-A177-3AD203B41FA5}">
                      <a16:colId xmlns:a16="http://schemas.microsoft.com/office/drawing/2014/main" val="20003"/>
                    </a:ext>
                  </a:extLst>
                </a:gridCol>
                <a:gridCol w="799465">
                  <a:extLst>
                    <a:ext uri="{9D8B030D-6E8A-4147-A177-3AD203B41FA5}">
                      <a16:colId xmlns:a16="http://schemas.microsoft.com/office/drawing/2014/main" val="20004"/>
                    </a:ext>
                  </a:extLst>
                </a:gridCol>
                <a:gridCol w="799465">
                  <a:extLst>
                    <a:ext uri="{9D8B030D-6E8A-4147-A177-3AD203B41FA5}">
                      <a16:colId xmlns:a16="http://schemas.microsoft.com/office/drawing/2014/main" val="20005"/>
                    </a:ext>
                  </a:extLst>
                </a:gridCol>
                <a:gridCol w="799465">
                  <a:extLst>
                    <a:ext uri="{9D8B030D-6E8A-4147-A177-3AD203B41FA5}">
                      <a16:colId xmlns:a16="http://schemas.microsoft.com/office/drawing/2014/main" val="20006"/>
                    </a:ext>
                  </a:extLst>
                </a:gridCol>
                <a:gridCol w="799465">
                  <a:extLst>
                    <a:ext uri="{9D8B030D-6E8A-4147-A177-3AD203B41FA5}">
                      <a16:colId xmlns:a16="http://schemas.microsoft.com/office/drawing/2014/main" val="20007"/>
                    </a:ext>
                  </a:extLst>
                </a:gridCol>
              </a:tblGrid>
              <a:tr h="746125">
                <a:tc>
                  <a:txBody>
                    <a:bodyPr/>
                    <a:lstStyle/>
                    <a:p>
                      <a:pPr algn="ctr">
                        <a:buNone/>
                      </a:pPr>
                      <a:r>
                        <a:rPr lang="en-US" altLang="zh-CN" sz="3600"/>
                        <a:t>a</a:t>
                      </a:r>
                      <a:endParaRPr lang="en-US" altLang="zh-CN" sz="2400"/>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endParaRPr lang="zh-CN" altLang="en-US" sz="3600"/>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endParaRPr lang="zh-CN" altLang="en-US" sz="3600"/>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endParaRPr lang="zh-CN" altLang="en-US" sz="3600"/>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endParaRPr lang="zh-CN" altLang="en-US" sz="3600"/>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endParaRPr lang="zh-CN" altLang="en-US" sz="3600"/>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endParaRPr lang="zh-CN" altLang="en-US" sz="3600"/>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endParaRPr lang="zh-CN" altLang="en-US" sz="3600"/>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extLst>
                  <a:ext uri="{0D108BD9-81ED-4DB2-BD59-A6C34878D82A}">
                    <a16:rowId xmlns:a16="http://schemas.microsoft.com/office/drawing/2014/main" val="10000"/>
                  </a:ext>
                </a:extLst>
              </a:tr>
            </a:tbl>
          </a:graphicData>
        </a:graphic>
      </p:graphicFrame>
      <p:graphicFrame>
        <p:nvGraphicFramePr>
          <p:cNvPr id="18" name="表格 17"/>
          <p:cNvGraphicFramePr/>
          <p:nvPr>
            <p:custDataLst>
              <p:tags r:id="rId3"/>
            </p:custDataLst>
          </p:nvPr>
        </p:nvGraphicFramePr>
        <p:xfrm>
          <a:off x="1371600" y="3241040"/>
          <a:ext cx="6395720" cy="746125"/>
        </p:xfrm>
        <a:graphic>
          <a:graphicData uri="http://schemas.openxmlformats.org/drawingml/2006/table">
            <a:tbl>
              <a:tblPr bandRow="1">
                <a:tableStyleId>{B301B821-A1FF-4177-AEE7-76D212191A09}</a:tableStyleId>
              </a:tblPr>
              <a:tblGrid>
                <a:gridCol w="799465">
                  <a:extLst>
                    <a:ext uri="{9D8B030D-6E8A-4147-A177-3AD203B41FA5}">
                      <a16:colId xmlns:a16="http://schemas.microsoft.com/office/drawing/2014/main" val="20000"/>
                    </a:ext>
                  </a:extLst>
                </a:gridCol>
                <a:gridCol w="799465">
                  <a:extLst>
                    <a:ext uri="{9D8B030D-6E8A-4147-A177-3AD203B41FA5}">
                      <a16:colId xmlns:a16="http://schemas.microsoft.com/office/drawing/2014/main" val="20001"/>
                    </a:ext>
                  </a:extLst>
                </a:gridCol>
                <a:gridCol w="799465">
                  <a:extLst>
                    <a:ext uri="{9D8B030D-6E8A-4147-A177-3AD203B41FA5}">
                      <a16:colId xmlns:a16="http://schemas.microsoft.com/office/drawing/2014/main" val="20002"/>
                    </a:ext>
                  </a:extLst>
                </a:gridCol>
                <a:gridCol w="799465">
                  <a:extLst>
                    <a:ext uri="{9D8B030D-6E8A-4147-A177-3AD203B41FA5}">
                      <a16:colId xmlns:a16="http://schemas.microsoft.com/office/drawing/2014/main" val="20003"/>
                    </a:ext>
                  </a:extLst>
                </a:gridCol>
                <a:gridCol w="799465">
                  <a:extLst>
                    <a:ext uri="{9D8B030D-6E8A-4147-A177-3AD203B41FA5}">
                      <a16:colId xmlns:a16="http://schemas.microsoft.com/office/drawing/2014/main" val="20004"/>
                    </a:ext>
                  </a:extLst>
                </a:gridCol>
                <a:gridCol w="799465">
                  <a:extLst>
                    <a:ext uri="{9D8B030D-6E8A-4147-A177-3AD203B41FA5}">
                      <a16:colId xmlns:a16="http://schemas.microsoft.com/office/drawing/2014/main" val="20005"/>
                    </a:ext>
                  </a:extLst>
                </a:gridCol>
                <a:gridCol w="799465">
                  <a:extLst>
                    <a:ext uri="{9D8B030D-6E8A-4147-A177-3AD203B41FA5}">
                      <a16:colId xmlns:a16="http://schemas.microsoft.com/office/drawing/2014/main" val="20006"/>
                    </a:ext>
                  </a:extLst>
                </a:gridCol>
                <a:gridCol w="799465">
                  <a:extLst>
                    <a:ext uri="{9D8B030D-6E8A-4147-A177-3AD203B41FA5}">
                      <a16:colId xmlns:a16="http://schemas.microsoft.com/office/drawing/2014/main" val="20007"/>
                    </a:ext>
                  </a:extLst>
                </a:gridCol>
              </a:tblGrid>
              <a:tr h="746125">
                <a:tc>
                  <a:txBody>
                    <a:bodyPr/>
                    <a:lstStyle/>
                    <a:p>
                      <a:pPr algn="ctr">
                        <a:buNone/>
                      </a:pPr>
                      <a:r>
                        <a:rPr lang="en-US" altLang="zh-CN" sz="3600"/>
                        <a:t>b</a:t>
                      </a:r>
                      <a:endParaRPr lang="en-US" altLang="zh-CN" sz="2400"/>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buNone/>
                      </a:pPr>
                      <a:endParaRPr lang="zh-CN" altLang="en-US" sz="3600"/>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buNone/>
                      </a:pPr>
                      <a:endParaRPr lang="zh-CN" altLang="en-US" sz="3600"/>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buNone/>
                      </a:pPr>
                      <a:endParaRPr lang="zh-CN" altLang="en-US" sz="3600"/>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buNone/>
                      </a:pPr>
                      <a:endParaRPr lang="zh-CN" altLang="en-US" sz="3600"/>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buNone/>
                      </a:pPr>
                      <a:endParaRPr lang="zh-CN" altLang="en-US" sz="3600"/>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buNone/>
                      </a:pPr>
                      <a:endParaRPr lang="zh-CN" altLang="en-US" sz="3600"/>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buNone/>
                      </a:pPr>
                      <a:endParaRPr lang="zh-CN" altLang="en-US" sz="3600"/>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extLst>
                  <a:ext uri="{0D108BD9-81ED-4DB2-BD59-A6C34878D82A}">
                    <a16:rowId xmlns:a16="http://schemas.microsoft.com/office/drawing/2014/main" val="10000"/>
                  </a:ext>
                </a:extLst>
              </a:tr>
            </a:tbl>
          </a:graphicData>
        </a:graphic>
      </p:graphicFrame>
      <p:cxnSp>
        <p:nvCxnSpPr>
          <p:cNvPr id="21" name="直接箭头连接符 20"/>
          <p:cNvCxnSpPr/>
          <p:nvPr/>
        </p:nvCxnSpPr>
        <p:spPr>
          <a:xfrm>
            <a:off x="4571365" y="2228215"/>
            <a:ext cx="0" cy="708025"/>
          </a:xfrm>
          <a:prstGeom prst="straightConnector1">
            <a:avLst/>
          </a:prstGeom>
          <a:ln>
            <a:solidFill>
              <a:schemeClr val="accent2"/>
            </a:solidFill>
            <a:tailEnd type="arrow" w="med" len="med"/>
          </a:ln>
        </p:spPr>
        <p:style>
          <a:lnRef idx="3">
            <a:schemeClr val="accent1"/>
          </a:lnRef>
          <a:fillRef idx="0">
            <a:srgbClr val="FFFFFF"/>
          </a:fillRef>
          <a:effectRef idx="0">
            <a:srgbClr val="FFFFFF"/>
          </a:effectRef>
          <a:fontRef idx="minor">
            <a:schemeClr val="tx1"/>
          </a:fontRef>
        </p:style>
      </p:cxnSp>
      <p:grpSp>
        <p:nvGrpSpPr>
          <p:cNvPr id="43" name="组合 42"/>
          <p:cNvGrpSpPr/>
          <p:nvPr/>
        </p:nvGrpSpPr>
        <p:grpSpPr>
          <a:xfrm>
            <a:off x="4305300" y="647065"/>
            <a:ext cx="533400" cy="3970655"/>
            <a:chOff x="6780" y="1019"/>
            <a:chExt cx="840" cy="6253"/>
          </a:xfrm>
        </p:grpSpPr>
        <p:sp>
          <p:nvSpPr>
            <p:cNvPr id="30" name="文本框 29"/>
            <p:cNvSpPr txBox="1"/>
            <p:nvPr/>
          </p:nvSpPr>
          <p:spPr>
            <a:xfrm>
              <a:off x="6780" y="1019"/>
              <a:ext cx="840" cy="725"/>
            </a:xfrm>
            <a:prstGeom prst="rect">
              <a:avLst/>
            </a:prstGeom>
            <a:noFill/>
          </p:spPr>
          <p:txBody>
            <a:bodyPr wrap="square" rtlCol="0" anchor="ctr" anchorCtr="0">
              <a:spAutoFit/>
            </a:bodyPr>
            <a:lstStyle/>
            <a:p>
              <a:pPr algn="ctr"/>
              <a:r>
                <a:rPr lang="en-US" altLang="zh-CN" sz="2400"/>
                <a:t>1</a:t>
              </a:r>
            </a:p>
          </p:txBody>
        </p:sp>
        <p:sp>
          <p:nvSpPr>
            <p:cNvPr id="35" name="文本框 34"/>
            <p:cNvSpPr txBox="1"/>
            <p:nvPr>
              <p:custDataLst>
                <p:tags r:id="rId6"/>
              </p:custDataLst>
            </p:nvPr>
          </p:nvSpPr>
          <p:spPr>
            <a:xfrm>
              <a:off x="6780" y="6548"/>
              <a:ext cx="840" cy="725"/>
            </a:xfrm>
            <a:prstGeom prst="rect">
              <a:avLst/>
            </a:prstGeom>
            <a:noFill/>
          </p:spPr>
          <p:txBody>
            <a:bodyPr wrap="square" rtlCol="0" anchor="ctr" anchorCtr="0">
              <a:spAutoFit/>
            </a:bodyPr>
            <a:lstStyle/>
            <a:p>
              <a:pPr algn="ctr"/>
              <a:r>
                <a:rPr lang="en-US" altLang="zh-CN" sz="2400"/>
                <a:t>2</a:t>
              </a:r>
            </a:p>
          </p:txBody>
        </p:sp>
      </p:grpSp>
      <p:grpSp>
        <p:nvGrpSpPr>
          <p:cNvPr id="42" name="组合 41"/>
          <p:cNvGrpSpPr/>
          <p:nvPr/>
        </p:nvGrpSpPr>
        <p:grpSpPr>
          <a:xfrm>
            <a:off x="4311015" y="661035"/>
            <a:ext cx="533400" cy="3971290"/>
            <a:chOff x="8461" y="1123"/>
            <a:chExt cx="840" cy="6254"/>
          </a:xfrm>
        </p:grpSpPr>
        <p:sp>
          <p:nvSpPr>
            <p:cNvPr id="40" name="文本框 39"/>
            <p:cNvSpPr txBox="1"/>
            <p:nvPr>
              <p:custDataLst>
                <p:tags r:id="rId4"/>
              </p:custDataLst>
            </p:nvPr>
          </p:nvSpPr>
          <p:spPr>
            <a:xfrm>
              <a:off x="8461" y="1123"/>
              <a:ext cx="840" cy="725"/>
            </a:xfrm>
            <a:prstGeom prst="rect">
              <a:avLst/>
            </a:prstGeom>
            <a:noFill/>
          </p:spPr>
          <p:txBody>
            <a:bodyPr wrap="square" rtlCol="0" anchor="ctr" anchorCtr="0">
              <a:spAutoFit/>
            </a:bodyPr>
            <a:lstStyle/>
            <a:p>
              <a:pPr algn="ctr"/>
              <a:r>
                <a:rPr lang="en-US" altLang="zh-CN" sz="2400"/>
                <a:t>2</a:t>
              </a:r>
            </a:p>
          </p:txBody>
        </p:sp>
        <p:sp>
          <p:nvSpPr>
            <p:cNvPr id="41" name="文本框 40"/>
            <p:cNvSpPr txBox="1"/>
            <p:nvPr>
              <p:custDataLst>
                <p:tags r:id="rId5"/>
              </p:custDataLst>
            </p:nvPr>
          </p:nvSpPr>
          <p:spPr>
            <a:xfrm>
              <a:off x="8461" y="6652"/>
              <a:ext cx="840" cy="725"/>
            </a:xfrm>
            <a:prstGeom prst="rect">
              <a:avLst/>
            </a:prstGeom>
            <a:noFill/>
          </p:spPr>
          <p:txBody>
            <a:bodyPr wrap="square" rtlCol="0" anchor="ctr" anchorCtr="0">
              <a:spAutoFit/>
            </a:bodyPr>
            <a:lstStyle/>
            <a:p>
              <a:pPr algn="ctr"/>
              <a:r>
                <a:rPr lang="en-US" altLang="zh-CN" sz="2400"/>
                <a:t>3</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 0 L -0.174861 -0.00246914 L -0.174861 0.378519 L 0.000694444 0.378519 L 0.000694444 0.378519 " pathEditMode="relative" ptsTypes="">
                                      <p:cBhvr>
                                        <p:cTn id="6" dur="1000" fill="hold"/>
                                        <p:tgtEl>
                                          <p:spTgt spid="4"/>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174931 -0.00234568 L 0.175556 -0.378519 L -0.000625 -0.380864 L -0.000625 -0.377407 L -0.000625 -0.377407 " pathEditMode="relative" ptsTypes="">
                                      <p:cBhvr>
                                        <p:cTn id="8" dur="1000" fill="hold"/>
                                        <p:tgtEl>
                                          <p:spTgt spid="18"/>
                                        </p:tgtEl>
                                        <p:attrNameLst>
                                          <p:attrName>ppt_x</p:attrName>
                                          <p:attrName>ppt_y</p:attrName>
                                        </p:attrNameLst>
                                      </p:cBhvr>
                                    </p:animMotion>
                                  </p:childTnLst>
                                </p:cTn>
                              </p:par>
                            </p:childTnLst>
                          </p:cTn>
                        </p:par>
                        <p:par>
                          <p:cTn id="9" fill="hold">
                            <p:stCondLst>
                              <p:cond delay="1000"/>
                            </p:stCondLst>
                            <p:childTnLst>
                              <p:par>
                                <p:cTn id="10" presetID="1" presetClass="exit" presetSubtype="0" fill="hold" nodeType="afterEffect">
                                  <p:stCondLst>
                                    <p:cond delay="0"/>
                                  </p:stCondLst>
                                  <p:childTnLst>
                                    <p:set>
                                      <p:cBhvr>
                                        <p:cTn id="11" dur="1" fill="hold">
                                          <p:stCondLst>
                                            <p:cond delay="0"/>
                                          </p:stCondLst>
                                        </p:cTn>
                                        <p:tgtEl>
                                          <p:spTgt spid="43"/>
                                        </p:tgtEl>
                                        <p:attrNameLst>
                                          <p:attrName>style.visibility</p:attrName>
                                        </p:attrNameLst>
                                      </p:cBhvr>
                                      <p:to>
                                        <p:strVal val="hidden"/>
                                      </p:to>
                                    </p:set>
                                  </p:childTnLst>
                                </p:cTn>
                              </p:par>
                              <p:par>
                                <p:cTn id="12" presetID="1" presetClass="entr" presetSubtype="0" fill="hold" nodeType="withEffect">
                                  <p:stCondLst>
                                    <p:cond delay="0"/>
                                  </p:stCondLst>
                                  <p:childTnLst>
                                    <p:set>
                                      <p:cBhvr>
                                        <p:cTn id="13"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41245" y="488017"/>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sz="2400" b="1" dirty="0">
                <a:solidFill>
                  <a:srgbClr val="003CA6"/>
                </a:solidFill>
                <a:latin typeface="微软雅黑" panose="020B0503020204020204" charset="-122"/>
                <a:ea typeface="微软雅黑" panose="020B0503020204020204" charset="-122"/>
              </a:rPr>
              <a:t>交替滚动</a:t>
            </a:r>
          </a:p>
        </p:txBody>
      </p:sp>
      <p:sp>
        <p:nvSpPr>
          <p:cNvPr id="6" name="文本框 5"/>
          <p:cNvSpPr txBox="1"/>
          <p:nvPr/>
        </p:nvSpPr>
        <p:spPr>
          <a:xfrm>
            <a:off x="584835" y="855980"/>
            <a:ext cx="6970395" cy="676275"/>
          </a:xfrm>
          <a:prstGeom prst="rect">
            <a:avLst/>
          </a:prstGeom>
          <a:noFill/>
        </p:spPr>
        <p:txBody>
          <a:bodyPr wrap="none" rtlCol="0">
            <a:noAutofit/>
          </a:bodyPr>
          <a:lstStyle/>
          <a:p>
            <a:pPr>
              <a:lnSpc>
                <a:spcPct val="150000"/>
              </a:lnSpc>
            </a:pPr>
            <a:r>
              <a:rPr lang="zh-CN" altLang="en-US" dirty="0">
                <a:latin typeface="微软雅黑" panose="020B0503020204020204" charset="-122"/>
                <a:ea typeface="微软雅黑" panose="020B0503020204020204" charset="-122"/>
                <a:cs typeface="微软雅黑" panose="020B0503020204020204" charset="-122"/>
              </a:rPr>
              <a:t>定义</a:t>
            </a:r>
            <a:r>
              <a:rPr lang="en-US" altLang="zh-CN" dirty="0">
                <a:latin typeface="微软雅黑" panose="020B0503020204020204" charset="-122"/>
                <a:ea typeface="微软雅黑" panose="020B0503020204020204" charset="-122"/>
                <a:cs typeface="微软雅黑" panose="020B0503020204020204" charset="-122"/>
              </a:rPr>
              <a:t>dp[2][j]</a:t>
            </a:r>
            <a:r>
              <a:rPr lang="zh-CN" altLang="en-US" dirty="0">
                <a:latin typeface="微软雅黑" panose="020B0503020204020204" charset="-122"/>
                <a:ea typeface="微软雅黑" panose="020B0503020204020204" charset="-122"/>
                <a:cs typeface="微软雅黑" panose="020B0503020204020204" charset="-122"/>
              </a:rPr>
              <a:t>，用</a:t>
            </a:r>
            <a:r>
              <a:rPr lang="en-US" altLang="zh-CN" dirty="0">
                <a:latin typeface="微软雅黑" panose="020B0503020204020204" charset="-122"/>
                <a:ea typeface="微软雅黑" panose="020B0503020204020204" charset="-122"/>
                <a:cs typeface="微软雅黑" panose="020B0503020204020204" charset="-122"/>
              </a:rPr>
              <a:t>dp[0][]</a:t>
            </a:r>
            <a:r>
              <a:rPr lang="zh-CN" altLang="en-US" dirty="0">
                <a:latin typeface="微软雅黑" panose="020B0503020204020204" charset="-122"/>
                <a:ea typeface="微软雅黑" panose="020B0503020204020204" charset="-122"/>
                <a:cs typeface="微软雅黑" panose="020B0503020204020204" charset="-122"/>
              </a:rPr>
              <a:t>和</a:t>
            </a:r>
            <a:r>
              <a:rPr lang="en-US" altLang="zh-CN" dirty="0">
                <a:latin typeface="微软雅黑" panose="020B0503020204020204" charset="-122"/>
                <a:ea typeface="微软雅黑" panose="020B0503020204020204" charset="-122"/>
                <a:cs typeface="微软雅黑" panose="020B0503020204020204" charset="-122"/>
              </a:rPr>
              <a:t>dp[1]</a:t>
            </a:r>
            <a:r>
              <a:rPr lang="zh-CN" altLang="en-US" dirty="0">
                <a:latin typeface="微软雅黑" panose="020B0503020204020204" charset="-122"/>
                <a:ea typeface="微软雅黑" panose="020B0503020204020204" charset="-122"/>
                <a:cs typeface="微软雅黑" panose="020B0503020204020204" charset="-122"/>
              </a:rPr>
              <a:t>交替滚动。</a:t>
            </a:r>
          </a:p>
          <a:p>
            <a:pPr>
              <a:lnSpc>
                <a:spcPct val="150000"/>
              </a:lnSpc>
            </a:pP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1167130" y="1350010"/>
            <a:ext cx="6580505" cy="3543300"/>
          </a:xfrm>
          <a:prstGeom prst="rect">
            <a:avLst/>
          </a:prstGeom>
          <a:solidFill>
            <a:schemeClr val="bg2"/>
          </a:solidFill>
        </p:spPr>
        <p:txBody>
          <a:bodyPr wrap="square" rtlCol="0">
            <a:noAutofit/>
          </a:bodyPr>
          <a:lstStyle/>
          <a:p>
            <a:pPr>
              <a:lnSpc>
                <a:spcPct val="100000"/>
              </a:lnSpc>
            </a:pPr>
            <a:r>
              <a:rPr lang="en-US" altLang="zh-CN" sz="1200" dirty="0">
                <a:solidFill>
                  <a:srgbClr val="AF00DB"/>
                </a:solidFill>
                <a:effectLst/>
                <a:latin typeface="Consolas" panose="020B0609020204030204" pitchFamily="49" charset="0"/>
                <a:sym typeface="+mn-ea"/>
              </a:rPr>
              <a:t>#include</a:t>
            </a:r>
            <a:r>
              <a:rPr lang="en-US" altLang="zh-CN" sz="1200" dirty="0">
                <a:solidFill>
                  <a:srgbClr val="0000FF"/>
                </a:solidFill>
                <a:effectLst/>
                <a:latin typeface="Consolas" panose="020B0609020204030204" pitchFamily="49" charset="0"/>
                <a:sym typeface="+mn-ea"/>
              </a:rPr>
              <a:t> </a:t>
            </a:r>
            <a:r>
              <a:rPr lang="en-US" altLang="zh-CN" sz="1200" dirty="0">
                <a:solidFill>
                  <a:srgbClr val="A31515"/>
                </a:solidFill>
                <a:effectLst/>
                <a:latin typeface="Consolas" panose="020B0609020204030204" pitchFamily="49" charset="0"/>
                <a:sym typeface="+mn-ea"/>
              </a:rPr>
              <a:t>&lt;bits/</a:t>
            </a:r>
            <a:r>
              <a:rPr lang="en-US" altLang="zh-CN" sz="1200" dirty="0" err="1">
                <a:solidFill>
                  <a:srgbClr val="A31515"/>
                </a:solidFill>
                <a:effectLst/>
                <a:latin typeface="Consolas" panose="020B0609020204030204" pitchFamily="49" charset="0"/>
                <a:sym typeface="+mn-ea"/>
              </a:rPr>
              <a:t>stdc</a:t>
            </a:r>
            <a:r>
              <a:rPr lang="en-US" altLang="zh-CN" sz="1200" dirty="0">
                <a:solidFill>
                  <a:srgbClr val="A31515"/>
                </a:solidFill>
                <a:effectLst/>
                <a:latin typeface="Consolas" panose="020B0609020204030204" pitchFamily="49" charset="0"/>
                <a:sym typeface="+mn-ea"/>
              </a:rPr>
              <a:t>++.h&gt;</a:t>
            </a:r>
            <a:endParaRPr lang="en-US" altLang="zh-CN" sz="1200" b="0" dirty="0">
              <a:solidFill>
                <a:srgbClr val="000000"/>
              </a:solidFill>
              <a:effectLst/>
              <a:latin typeface="Consolas" panose="020B0609020204030204" pitchFamily="49" charset="0"/>
            </a:endParaRPr>
          </a:p>
          <a:p>
            <a:pPr>
              <a:lnSpc>
                <a:spcPct val="100000"/>
              </a:lnSpc>
            </a:pPr>
            <a:r>
              <a:rPr lang="en-US" altLang="zh-CN" sz="1200" dirty="0">
                <a:solidFill>
                  <a:srgbClr val="AF00DB"/>
                </a:solidFill>
                <a:effectLst/>
                <a:latin typeface="Consolas" panose="020B0609020204030204" pitchFamily="49" charset="0"/>
                <a:sym typeface="+mn-ea"/>
              </a:rPr>
              <a:t>using</a:t>
            </a:r>
            <a:r>
              <a:rPr lang="en-US" altLang="zh-CN" sz="1200" dirty="0">
                <a:solidFill>
                  <a:srgbClr val="000000"/>
                </a:solidFill>
                <a:effectLst/>
                <a:latin typeface="Consolas" panose="020B0609020204030204" pitchFamily="49" charset="0"/>
                <a:sym typeface="+mn-ea"/>
              </a:rPr>
              <a:t> </a:t>
            </a:r>
            <a:r>
              <a:rPr lang="en-US" altLang="zh-CN" sz="1200" dirty="0">
                <a:solidFill>
                  <a:srgbClr val="0000FF"/>
                </a:solidFill>
                <a:effectLst/>
                <a:latin typeface="Consolas" panose="020B0609020204030204" pitchFamily="49" charset="0"/>
                <a:sym typeface="+mn-ea"/>
              </a:rPr>
              <a:t>namespace</a:t>
            </a:r>
            <a:r>
              <a:rPr lang="en-US" altLang="zh-CN" sz="1200" dirty="0">
                <a:solidFill>
                  <a:srgbClr val="000000"/>
                </a:solidFill>
                <a:effectLst/>
                <a:latin typeface="Consolas" panose="020B0609020204030204" pitchFamily="49" charset="0"/>
                <a:sym typeface="+mn-ea"/>
              </a:rPr>
              <a:t> </a:t>
            </a:r>
            <a:r>
              <a:rPr lang="en-US" altLang="zh-CN" sz="1200" dirty="0">
                <a:solidFill>
                  <a:srgbClr val="267F99"/>
                </a:solidFill>
                <a:effectLst/>
                <a:latin typeface="Consolas" panose="020B0609020204030204" pitchFamily="49" charset="0"/>
                <a:sym typeface="+mn-ea"/>
              </a:rPr>
              <a:t>std</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FF"/>
                </a:solidFill>
                <a:effectLst/>
                <a:latin typeface="Consolas" panose="020B0609020204030204" pitchFamily="49" charset="0"/>
                <a:sym typeface="+mn-ea"/>
              </a:rPr>
              <a:t>int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n</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m</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w</a:t>
            </a:r>
            <a:r>
              <a:rPr lang="en-US" altLang="zh-CN" sz="1200" dirty="0">
                <a:solidFill>
                  <a:srgbClr val="000000"/>
                </a:solidFill>
                <a:effectLst/>
                <a:latin typeface="Consolas" panose="020B0609020204030204" pitchFamily="49" charset="0"/>
                <a:sym typeface="+mn-ea"/>
              </a:rPr>
              <a:t>[</a:t>
            </a:r>
            <a:r>
              <a:rPr lang="en-US" altLang="zh-CN" sz="1200" dirty="0">
                <a:solidFill>
                  <a:srgbClr val="098658"/>
                </a:solidFill>
                <a:effectLst/>
                <a:latin typeface="Consolas" panose="020B0609020204030204" pitchFamily="49" charset="0"/>
                <a:sym typeface="+mn-ea"/>
              </a:rPr>
              <a:t>3410</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d</a:t>
            </a:r>
            <a:r>
              <a:rPr lang="en-US" altLang="zh-CN" sz="1200" dirty="0">
                <a:solidFill>
                  <a:srgbClr val="000000"/>
                </a:solidFill>
                <a:effectLst/>
                <a:latin typeface="Consolas" panose="020B0609020204030204" pitchFamily="49" charset="0"/>
                <a:sym typeface="+mn-ea"/>
              </a:rPr>
              <a:t>[</a:t>
            </a:r>
            <a:r>
              <a:rPr lang="en-US" altLang="zh-CN" sz="1200" dirty="0">
                <a:solidFill>
                  <a:srgbClr val="098658"/>
                </a:solidFill>
                <a:effectLst/>
                <a:latin typeface="Consolas" panose="020B0609020204030204" pitchFamily="49" charset="0"/>
                <a:sym typeface="+mn-ea"/>
              </a:rPr>
              <a:t>3410</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98658"/>
                </a:solidFill>
                <a:effectLst/>
                <a:latin typeface="Consolas" panose="020B0609020204030204" pitchFamily="49" charset="0"/>
                <a:sym typeface="+mn-ea"/>
              </a:rPr>
              <a:t>2</a:t>
            </a:r>
            <a:r>
              <a:rPr lang="en-US" altLang="zh-CN" sz="1200" dirty="0">
                <a:solidFill>
                  <a:srgbClr val="000000"/>
                </a:solidFill>
                <a:effectLst/>
                <a:latin typeface="Consolas" panose="020B0609020204030204" pitchFamily="49" charset="0"/>
                <a:sym typeface="+mn-ea"/>
              </a:rPr>
              <a:t>][</a:t>
            </a:r>
            <a:r>
              <a:rPr lang="en-US" altLang="zh-CN" sz="1200" dirty="0">
                <a:solidFill>
                  <a:srgbClr val="098658"/>
                </a:solidFill>
                <a:effectLst/>
                <a:latin typeface="Consolas" panose="020B0609020204030204" pitchFamily="49" charset="0"/>
                <a:sym typeface="+mn-ea"/>
              </a:rPr>
              <a:t>12890</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FF"/>
                </a:solidFill>
                <a:effectLst/>
                <a:latin typeface="Consolas" panose="020B0609020204030204" pitchFamily="49" charset="0"/>
                <a:sym typeface="+mn-ea"/>
              </a:rPr>
              <a:t>int</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main</a:t>
            </a:r>
            <a:r>
              <a:rPr lang="en-US" altLang="zh-CN" sz="1200" dirty="0">
                <a:solidFill>
                  <a:srgbClr val="000000"/>
                </a:solidFill>
                <a:effectLst/>
                <a:latin typeface="Consolas" panose="020B0609020204030204" pitchFamily="49" charset="0"/>
                <a:sym typeface="+mn-ea"/>
              </a:rPr>
              <a:t>() {</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cin</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&gt;&gt;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n</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&gt;&gt;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m</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AF00DB"/>
                </a:solidFill>
                <a:effectLst/>
                <a:latin typeface="Consolas" panose="020B0609020204030204" pitchFamily="49" charset="0"/>
                <a:sym typeface="+mn-ea"/>
              </a:rPr>
              <a:t>for</a:t>
            </a:r>
            <a:r>
              <a:rPr lang="en-US" altLang="zh-CN" sz="1200" dirty="0">
                <a:solidFill>
                  <a:srgbClr val="000000"/>
                </a:solidFill>
                <a:effectLst/>
                <a:latin typeface="Consolas" panose="020B0609020204030204" pitchFamily="49" charset="0"/>
                <a:sym typeface="+mn-ea"/>
              </a:rPr>
              <a:t> (</a:t>
            </a:r>
            <a:r>
              <a:rPr lang="en-US" altLang="zh-CN" sz="1200" dirty="0">
                <a:solidFill>
                  <a:srgbClr val="0000FF"/>
                </a:solidFill>
                <a:effectLst/>
                <a:latin typeface="Consolas" panose="020B0609020204030204" pitchFamily="49" charset="0"/>
                <a:sym typeface="+mn-ea"/>
              </a:rPr>
              <a:t>int</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 </a:t>
            </a:r>
            <a:r>
              <a:rPr lang="en-US" altLang="zh-CN" sz="1200" dirty="0">
                <a:solidFill>
                  <a:srgbClr val="098658"/>
                </a:solidFill>
                <a:effectLst/>
                <a:latin typeface="Consolas" panose="020B0609020204030204" pitchFamily="49" charset="0"/>
                <a:sym typeface="+mn-ea"/>
              </a:rPr>
              <a:t>1</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&lt;= </a:t>
            </a:r>
            <a:r>
              <a:rPr lang="en-US" altLang="zh-CN" sz="1200" dirty="0">
                <a:solidFill>
                  <a:srgbClr val="001080"/>
                </a:solidFill>
                <a:effectLst/>
                <a:latin typeface="Consolas" panose="020B0609020204030204" pitchFamily="49" charset="0"/>
                <a:sym typeface="+mn-ea"/>
              </a:rPr>
              <a:t>n</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cin</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&gt;&gt;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w</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&gt;&gt;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d</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0000FF"/>
                </a:solidFill>
                <a:effectLst/>
                <a:latin typeface="Consolas" panose="020B0609020204030204" pitchFamily="49" charset="0"/>
                <a:sym typeface="+mn-ea"/>
              </a:rPr>
              <a:t>int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now</a:t>
            </a:r>
            <a:r>
              <a:rPr lang="en-US" altLang="zh-CN" sz="1200" dirty="0">
                <a:solidFill>
                  <a:srgbClr val="000000"/>
                </a:solidFill>
                <a:effectLst/>
                <a:latin typeface="Consolas" panose="020B0609020204030204" pitchFamily="49" charset="0"/>
                <a:sym typeface="+mn-ea"/>
              </a:rPr>
              <a:t> = </a:t>
            </a:r>
            <a:r>
              <a:rPr lang="en-US" altLang="zh-CN" sz="1200" dirty="0">
                <a:solidFill>
                  <a:srgbClr val="098658"/>
                </a:solidFill>
                <a:effectLst/>
                <a:latin typeface="Consolas" panose="020B0609020204030204" pitchFamily="49" charset="0"/>
                <a:sym typeface="+mn-ea"/>
              </a:rPr>
              <a:t>0</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old</a:t>
            </a:r>
            <a:r>
              <a:rPr lang="en-US" altLang="zh-CN" sz="1200" dirty="0">
                <a:solidFill>
                  <a:srgbClr val="000000"/>
                </a:solidFill>
                <a:effectLst/>
                <a:latin typeface="Consolas" panose="020B0609020204030204" pitchFamily="49" charset="0"/>
                <a:sym typeface="+mn-ea"/>
              </a:rPr>
              <a:t> = </a:t>
            </a:r>
            <a:r>
              <a:rPr lang="en-US" altLang="zh-CN" sz="1200" dirty="0">
                <a:solidFill>
                  <a:srgbClr val="098658"/>
                </a:solidFill>
                <a:effectLst/>
                <a:latin typeface="Consolas" panose="020B0609020204030204" pitchFamily="49" charset="0"/>
                <a:sym typeface="+mn-ea"/>
              </a:rPr>
              <a:t>1</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AF00DB"/>
                </a:solidFill>
                <a:effectLst/>
                <a:latin typeface="Consolas" panose="020B0609020204030204" pitchFamily="49" charset="0"/>
                <a:sym typeface="+mn-ea"/>
              </a:rPr>
              <a:t>for</a:t>
            </a:r>
            <a:r>
              <a:rPr lang="en-US" altLang="zh-CN" sz="1200" dirty="0">
                <a:solidFill>
                  <a:srgbClr val="000000"/>
                </a:solidFill>
                <a:effectLst/>
                <a:latin typeface="Consolas" panose="020B0609020204030204" pitchFamily="49" charset="0"/>
                <a:sym typeface="+mn-ea"/>
              </a:rPr>
              <a:t> (</a:t>
            </a:r>
            <a:r>
              <a:rPr lang="en-US" altLang="zh-CN" sz="1200" dirty="0">
                <a:solidFill>
                  <a:srgbClr val="0000FF"/>
                </a:solidFill>
                <a:effectLst/>
                <a:latin typeface="Consolas" panose="020B0609020204030204" pitchFamily="49" charset="0"/>
                <a:sym typeface="+mn-ea"/>
              </a:rPr>
              <a:t>int</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 </a:t>
            </a:r>
            <a:r>
              <a:rPr lang="en-US" altLang="zh-CN" sz="1200" dirty="0">
                <a:solidFill>
                  <a:srgbClr val="098658"/>
                </a:solidFill>
                <a:effectLst/>
                <a:latin typeface="Consolas" panose="020B0609020204030204" pitchFamily="49" charset="0"/>
                <a:sym typeface="+mn-ea"/>
              </a:rPr>
              <a:t>1</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&lt;= </a:t>
            </a:r>
            <a:r>
              <a:rPr lang="en-US" altLang="zh-CN" sz="1200" dirty="0">
                <a:solidFill>
                  <a:srgbClr val="001080"/>
                </a:solidFill>
                <a:effectLst/>
                <a:latin typeface="Consolas" panose="020B0609020204030204" pitchFamily="49" charset="0"/>
                <a:sym typeface="+mn-ea"/>
              </a:rPr>
              <a:t>n</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swap</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now</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old</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AF00DB"/>
                </a:solidFill>
                <a:effectLst/>
                <a:latin typeface="Consolas" panose="020B0609020204030204" pitchFamily="49" charset="0"/>
                <a:sym typeface="+mn-ea"/>
              </a:rPr>
              <a:t>for</a:t>
            </a:r>
            <a:r>
              <a:rPr lang="en-US" altLang="zh-CN" sz="1200" dirty="0">
                <a:solidFill>
                  <a:srgbClr val="000000"/>
                </a:solidFill>
                <a:effectLst/>
                <a:latin typeface="Consolas" panose="020B0609020204030204" pitchFamily="49" charset="0"/>
                <a:sym typeface="+mn-ea"/>
              </a:rPr>
              <a:t> (</a:t>
            </a:r>
            <a:r>
              <a:rPr lang="en-US" altLang="zh-CN" sz="1200" dirty="0">
                <a:solidFill>
                  <a:srgbClr val="0000FF"/>
                </a:solidFill>
                <a:effectLst/>
                <a:latin typeface="Consolas" panose="020B0609020204030204" pitchFamily="49" charset="0"/>
                <a:sym typeface="+mn-ea"/>
              </a:rPr>
              <a:t>int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 </a:t>
            </a:r>
            <a:r>
              <a:rPr lang="en-US" altLang="zh-CN" sz="1200" dirty="0">
                <a:solidFill>
                  <a:srgbClr val="098658"/>
                </a:solidFill>
                <a:effectLst/>
                <a:latin typeface="Consolas" panose="020B0609020204030204" pitchFamily="49" charset="0"/>
                <a:sym typeface="+mn-ea"/>
              </a:rPr>
              <a:t>1</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&lt;= </a:t>
            </a:r>
            <a:r>
              <a:rPr lang="en-US" altLang="zh-CN" sz="1200" dirty="0">
                <a:solidFill>
                  <a:srgbClr val="001080"/>
                </a:solidFill>
                <a:effectLst/>
                <a:latin typeface="Consolas" panose="020B0609020204030204" pitchFamily="49" charset="0"/>
                <a:sym typeface="+mn-ea"/>
              </a:rPr>
              <a:t>m</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j</a:t>
            </a:r>
            <a:r>
              <a:rPr lang="en-US" altLang="zh-CN" sz="1200" dirty="0" err="1">
                <a:solidFill>
                  <a:srgbClr val="000000"/>
                </a:solidFill>
                <a:effectLst/>
                <a:latin typeface="Consolas" panose="020B0609020204030204" pitchFamily="49" charset="0"/>
                <a:sym typeface="+mn-ea"/>
              </a:rPr>
              <a:t>++</a:t>
            </a:r>
            <a:r>
              <a:rPr lang="en-US" altLang="zh-CN" sz="1200" dirty="0">
                <a:solidFill>
                  <a:srgbClr val="000000"/>
                </a:solidFill>
                <a:effectLst/>
                <a:latin typeface="Consolas" panose="020B0609020204030204" pitchFamily="49" charset="0"/>
                <a:sym typeface="+mn-ea"/>
              </a:rPr>
              <a:t>) {</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AF00DB"/>
                </a:solidFill>
                <a:effectLst/>
                <a:latin typeface="Consolas" panose="020B0609020204030204" pitchFamily="49" charset="0"/>
                <a:sym typeface="+mn-ea"/>
              </a:rPr>
              <a:t>if</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w</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&gt; </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now</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 </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old</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AF00DB"/>
                </a:solidFill>
                <a:effectLst/>
                <a:latin typeface="Consolas" panose="020B0609020204030204" pitchFamily="49" charset="0"/>
                <a:sym typeface="+mn-ea"/>
              </a:rPr>
              <a:t>else</a:t>
            </a:r>
            <a:endParaRPr lang="en-US" altLang="zh-CN" sz="1200" b="0" dirty="0">
              <a:solidFill>
                <a:srgbClr val="000000"/>
              </a:solidFill>
              <a:effectLst/>
              <a:latin typeface="Consolas" panose="020B0609020204030204" pitchFamily="49" charset="0"/>
            </a:endParaRP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now</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 </a:t>
            </a:r>
            <a:r>
              <a:rPr lang="en-US" altLang="zh-CN" sz="1200" dirty="0">
                <a:solidFill>
                  <a:srgbClr val="795E26"/>
                </a:solidFill>
                <a:effectLst/>
                <a:latin typeface="Consolas" panose="020B0609020204030204" pitchFamily="49" charset="0"/>
                <a:sym typeface="+mn-ea"/>
              </a:rPr>
              <a:t>max</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old</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old</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 </a:t>
            </a:r>
            <a:r>
              <a:rPr lang="en-US" altLang="zh-CN" sz="1200" dirty="0">
                <a:solidFill>
                  <a:srgbClr val="001080"/>
                </a:solidFill>
                <a:effectLst/>
                <a:latin typeface="Consolas" panose="020B0609020204030204" pitchFamily="49" charset="0"/>
                <a:sym typeface="+mn-ea"/>
              </a:rPr>
              <a:t>w</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 </a:t>
            </a:r>
            <a:r>
              <a:rPr lang="en-US" altLang="zh-CN" sz="1200" dirty="0">
                <a:solidFill>
                  <a:srgbClr val="001080"/>
                </a:solidFill>
                <a:effectLst/>
                <a:latin typeface="Consolas" panose="020B0609020204030204" pitchFamily="49" charset="0"/>
                <a:sym typeface="+mn-ea"/>
              </a:rPr>
              <a:t>d</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p>
          <a:p>
            <a:pPr>
              <a:lnSpc>
                <a:spcPct val="100000"/>
              </a:lnSpc>
            </a:pPr>
            <a:r>
              <a:rPr lang="en-US" altLang="zh-CN" sz="1200" dirty="0">
                <a:solidFill>
                  <a:srgbClr val="000000"/>
                </a:solidFill>
                <a:effectLst/>
                <a:latin typeface="Consolas" panose="020B0609020204030204" pitchFamily="49" charset="0"/>
                <a:sym typeface="+mn-ea"/>
              </a:rPr>
              <a:t>    }</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cout</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&lt;&lt;</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now</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m</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AF00DB"/>
                </a:solidFill>
                <a:effectLst/>
                <a:latin typeface="Consolas" panose="020B0609020204030204" pitchFamily="49" charset="0"/>
                <a:sym typeface="+mn-ea"/>
              </a:rPr>
              <a:t>return</a:t>
            </a:r>
            <a:r>
              <a:rPr lang="en-US" altLang="zh-CN" sz="1200" dirty="0">
                <a:solidFill>
                  <a:srgbClr val="000000"/>
                </a:solidFill>
                <a:effectLst/>
                <a:latin typeface="Consolas" panose="020B0609020204030204" pitchFamily="49" charset="0"/>
                <a:sym typeface="+mn-ea"/>
              </a:rPr>
              <a:t> </a:t>
            </a:r>
            <a:r>
              <a:rPr lang="en-US" altLang="zh-CN" sz="1200" dirty="0">
                <a:solidFill>
                  <a:srgbClr val="098658"/>
                </a:solidFill>
                <a:effectLst/>
                <a:latin typeface="Consolas" panose="020B0609020204030204" pitchFamily="49" charset="0"/>
                <a:sym typeface="+mn-ea"/>
              </a:rPr>
              <a:t>0</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a:t>
            </a:r>
          </a:p>
          <a:p>
            <a:pPr>
              <a:lnSpc>
                <a:spcPct val="100000"/>
              </a:lnSpc>
            </a:pPr>
            <a:endParaRPr lang="en-US" altLang="zh-CN" sz="1200" b="0" dirty="0">
              <a:solidFill>
                <a:srgbClr val="000000"/>
              </a:solidFill>
              <a:effectLst/>
              <a:latin typeface="Consolas" panose="020B0609020204030204" pitchFamily="49" charset="0"/>
            </a:endParaRPr>
          </a:p>
        </p:txBody>
      </p:sp>
      <p:sp>
        <p:nvSpPr>
          <p:cNvPr id="4" name="矩形 3"/>
          <p:cNvSpPr/>
          <p:nvPr/>
        </p:nvSpPr>
        <p:spPr>
          <a:xfrm>
            <a:off x="3554095" y="1744345"/>
            <a:ext cx="1071880" cy="221615"/>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4"/>
          <p:cNvSpPr/>
          <p:nvPr>
            <p:custDataLst>
              <p:tags r:id="rId1"/>
            </p:custDataLst>
          </p:nvPr>
        </p:nvSpPr>
        <p:spPr>
          <a:xfrm>
            <a:off x="1576070" y="2468245"/>
            <a:ext cx="1805940" cy="221615"/>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custDataLst>
              <p:tags r:id="rId2"/>
            </p:custDataLst>
          </p:nvPr>
        </p:nvSpPr>
        <p:spPr>
          <a:xfrm>
            <a:off x="3626485" y="3392170"/>
            <a:ext cx="1071880" cy="221615"/>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custDataLst>
              <p:tags r:id="rId3"/>
            </p:custDataLst>
          </p:nvPr>
        </p:nvSpPr>
        <p:spPr>
          <a:xfrm>
            <a:off x="4003675" y="3749675"/>
            <a:ext cx="3057525" cy="221615"/>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41245" y="488017"/>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rPr>
              <a:t>滚动数组</a:t>
            </a:r>
          </a:p>
        </p:txBody>
      </p:sp>
      <p:sp>
        <p:nvSpPr>
          <p:cNvPr id="6" name="文本框 5"/>
          <p:cNvSpPr txBox="1"/>
          <p:nvPr>
            <p:custDataLst>
              <p:tags r:id="rId1"/>
            </p:custDataLst>
          </p:nvPr>
        </p:nvSpPr>
        <p:spPr>
          <a:xfrm>
            <a:off x="584835" y="897255"/>
            <a:ext cx="6970395" cy="676275"/>
          </a:xfrm>
          <a:prstGeom prst="rect">
            <a:avLst/>
          </a:prstGeom>
          <a:noFill/>
        </p:spPr>
        <p:txBody>
          <a:bodyPr wrap="none" rtlCol="0">
            <a:noAutofit/>
          </a:bodyPr>
          <a:lstStyle/>
          <a:p>
            <a:pPr>
              <a:lnSpc>
                <a:spcPct val="150000"/>
              </a:lnSpc>
            </a:pPr>
            <a:r>
              <a:rPr lang="zh-CN" dirty="0">
                <a:latin typeface="微软雅黑" panose="020B0503020204020204" charset="-122"/>
                <a:ea typeface="微软雅黑" panose="020B0503020204020204" charset="-122"/>
                <a:cs typeface="微软雅黑" panose="020B0503020204020204" charset="-122"/>
              </a:rPr>
              <a:t>还能更节省空间吗？</a:t>
            </a:r>
          </a:p>
        </p:txBody>
      </p:sp>
      <p:graphicFrame>
        <p:nvGraphicFramePr>
          <p:cNvPr id="4" name="表格 3"/>
          <p:cNvGraphicFramePr/>
          <p:nvPr>
            <p:custDataLst>
              <p:tags r:id="rId2"/>
            </p:custDataLst>
          </p:nvPr>
        </p:nvGraphicFramePr>
        <p:xfrm>
          <a:off x="1092200" y="1852930"/>
          <a:ext cx="6813550" cy="652145"/>
        </p:xfrm>
        <a:graphic>
          <a:graphicData uri="http://schemas.openxmlformats.org/drawingml/2006/table">
            <a:tbl>
              <a:tblPr bandRow="1">
                <a:tableStyleId>{B301B821-A1FF-4177-AEE7-76D212191A09}</a:tableStyleId>
              </a:tblPr>
              <a:tblGrid>
                <a:gridCol w="567690">
                  <a:extLst>
                    <a:ext uri="{9D8B030D-6E8A-4147-A177-3AD203B41FA5}">
                      <a16:colId xmlns:a16="http://schemas.microsoft.com/office/drawing/2014/main" val="20000"/>
                    </a:ext>
                  </a:extLst>
                </a:gridCol>
                <a:gridCol w="567690">
                  <a:extLst>
                    <a:ext uri="{9D8B030D-6E8A-4147-A177-3AD203B41FA5}">
                      <a16:colId xmlns:a16="http://schemas.microsoft.com/office/drawing/2014/main" val="20001"/>
                    </a:ext>
                  </a:extLst>
                </a:gridCol>
                <a:gridCol w="568325">
                  <a:extLst>
                    <a:ext uri="{9D8B030D-6E8A-4147-A177-3AD203B41FA5}">
                      <a16:colId xmlns:a16="http://schemas.microsoft.com/office/drawing/2014/main" val="20002"/>
                    </a:ext>
                  </a:extLst>
                </a:gridCol>
                <a:gridCol w="567690">
                  <a:extLst>
                    <a:ext uri="{9D8B030D-6E8A-4147-A177-3AD203B41FA5}">
                      <a16:colId xmlns:a16="http://schemas.microsoft.com/office/drawing/2014/main" val="20003"/>
                    </a:ext>
                  </a:extLst>
                </a:gridCol>
                <a:gridCol w="567690">
                  <a:extLst>
                    <a:ext uri="{9D8B030D-6E8A-4147-A177-3AD203B41FA5}">
                      <a16:colId xmlns:a16="http://schemas.microsoft.com/office/drawing/2014/main" val="20004"/>
                    </a:ext>
                  </a:extLst>
                </a:gridCol>
                <a:gridCol w="567690">
                  <a:extLst>
                    <a:ext uri="{9D8B030D-6E8A-4147-A177-3AD203B41FA5}">
                      <a16:colId xmlns:a16="http://schemas.microsoft.com/office/drawing/2014/main" val="20005"/>
                    </a:ext>
                  </a:extLst>
                </a:gridCol>
                <a:gridCol w="567690">
                  <a:extLst>
                    <a:ext uri="{9D8B030D-6E8A-4147-A177-3AD203B41FA5}">
                      <a16:colId xmlns:a16="http://schemas.microsoft.com/office/drawing/2014/main" val="20006"/>
                    </a:ext>
                  </a:extLst>
                </a:gridCol>
                <a:gridCol w="567690">
                  <a:extLst>
                    <a:ext uri="{9D8B030D-6E8A-4147-A177-3AD203B41FA5}">
                      <a16:colId xmlns:a16="http://schemas.microsoft.com/office/drawing/2014/main" val="20007"/>
                    </a:ext>
                  </a:extLst>
                </a:gridCol>
                <a:gridCol w="568325">
                  <a:extLst>
                    <a:ext uri="{9D8B030D-6E8A-4147-A177-3AD203B41FA5}">
                      <a16:colId xmlns:a16="http://schemas.microsoft.com/office/drawing/2014/main" val="20008"/>
                    </a:ext>
                  </a:extLst>
                </a:gridCol>
                <a:gridCol w="567690">
                  <a:extLst>
                    <a:ext uri="{9D8B030D-6E8A-4147-A177-3AD203B41FA5}">
                      <a16:colId xmlns:a16="http://schemas.microsoft.com/office/drawing/2014/main" val="20009"/>
                    </a:ext>
                  </a:extLst>
                </a:gridCol>
                <a:gridCol w="567690">
                  <a:extLst>
                    <a:ext uri="{9D8B030D-6E8A-4147-A177-3AD203B41FA5}">
                      <a16:colId xmlns:a16="http://schemas.microsoft.com/office/drawing/2014/main" val="20010"/>
                    </a:ext>
                  </a:extLst>
                </a:gridCol>
                <a:gridCol w="567690">
                  <a:extLst>
                    <a:ext uri="{9D8B030D-6E8A-4147-A177-3AD203B41FA5}">
                      <a16:colId xmlns:a16="http://schemas.microsoft.com/office/drawing/2014/main" val="20011"/>
                    </a:ext>
                  </a:extLst>
                </a:gridCol>
              </a:tblGrid>
              <a:tr h="652145">
                <a:tc>
                  <a:txBody>
                    <a:bodyPr/>
                    <a:lstStyle/>
                    <a:p>
                      <a:pPr algn="ctr">
                        <a:buNone/>
                      </a:pPr>
                      <a:r>
                        <a:rPr lang="en-US" altLang="zh-CN" sz="2000"/>
                        <a:t>a</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r>
                        <a:rPr lang="en-US" altLang="zh-CN" sz="2000"/>
                        <a:t>0</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r>
                        <a:rPr lang="en-US" altLang="zh-CN" sz="2000"/>
                        <a:t>0</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r>
                        <a:rPr lang="en-US" altLang="zh-CN" sz="2000"/>
                        <a:t>0</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r>
                        <a:rPr lang="en-US" altLang="zh-CN" sz="2000"/>
                        <a:t>0</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r>
                        <a:rPr lang="en-US" altLang="zh-CN" sz="2000"/>
                        <a:t>0</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r>
                        <a:rPr lang="en-US" altLang="zh-CN" sz="2000"/>
                        <a:t>0</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r>
                        <a:rPr lang="en-US" altLang="zh-CN" sz="2000"/>
                        <a:t>6</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r>
                        <a:rPr lang="en-US" altLang="zh-CN" sz="2000"/>
                        <a:t>6</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r>
                        <a:rPr lang="en-US" altLang="zh-CN" sz="2000"/>
                        <a:t>10</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r>
                        <a:rPr lang="en-US" altLang="zh-CN" sz="2000"/>
                        <a:t>10</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buNone/>
                      </a:pPr>
                      <a:r>
                        <a:rPr lang="en-US" altLang="zh-CN" sz="2000"/>
                        <a:t>10</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extLst>
                  <a:ext uri="{0D108BD9-81ED-4DB2-BD59-A6C34878D82A}">
                    <a16:rowId xmlns:a16="http://schemas.microsoft.com/office/drawing/2014/main" val="10000"/>
                  </a:ext>
                </a:extLst>
              </a:tr>
            </a:tbl>
          </a:graphicData>
        </a:graphic>
      </p:graphicFrame>
      <p:sp>
        <p:nvSpPr>
          <p:cNvPr id="37" name="文本框 36"/>
          <p:cNvSpPr txBox="1"/>
          <p:nvPr>
            <p:custDataLst>
              <p:tags r:id="rId3"/>
            </p:custDataLst>
          </p:nvPr>
        </p:nvSpPr>
        <p:spPr>
          <a:xfrm>
            <a:off x="1438275" y="3290570"/>
            <a:ext cx="676275" cy="723265"/>
          </a:xfrm>
          <a:prstGeom prst="rect">
            <a:avLst/>
          </a:prstGeom>
          <a:noFill/>
        </p:spPr>
        <p:txBody>
          <a:bodyPr wrap="square" rtlCol="0" anchor="ctr" anchorCtr="0">
            <a:noAutofit/>
          </a:bodyPr>
          <a:lstStyle/>
          <a:p>
            <a:pPr algn="ctr"/>
            <a:r>
              <a:rPr lang="en-US" altLang="zh-CN"/>
              <a:t>0</a:t>
            </a:r>
          </a:p>
        </p:txBody>
      </p:sp>
      <p:sp>
        <p:nvSpPr>
          <p:cNvPr id="38" name="文本框 37"/>
          <p:cNvSpPr txBox="1"/>
          <p:nvPr>
            <p:custDataLst>
              <p:tags r:id="rId4"/>
            </p:custDataLst>
          </p:nvPr>
        </p:nvSpPr>
        <p:spPr>
          <a:xfrm>
            <a:off x="1438275" y="4001770"/>
            <a:ext cx="676275" cy="723265"/>
          </a:xfrm>
          <a:prstGeom prst="rect">
            <a:avLst/>
          </a:prstGeom>
          <a:noFill/>
        </p:spPr>
        <p:txBody>
          <a:bodyPr wrap="square" rtlCol="0" anchor="ctr" anchorCtr="0">
            <a:noAutofit/>
          </a:bodyPr>
          <a:lstStyle/>
          <a:p>
            <a:pPr algn="ctr"/>
            <a:r>
              <a:rPr lang="en-US" altLang="zh-CN"/>
              <a:t>0</a:t>
            </a:r>
          </a:p>
        </p:txBody>
      </p:sp>
      <p:sp>
        <p:nvSpPr>
          <p:cNvPr id="54" name="文本框 53"/>
          <p:cNvSpPr txBox="1"/>
          <p:nvPr>
            <p:custDataLst>
              <p:tags r:id="rId5"/>
            </p:custDataLst>
          </p:nvPr>
        </p:nvSpPr>
        <p:spPr>
          <a:xfrm>
            <a:off x="2109470" y="3302635"/>
            <a:ext cx="676275" cy="723265"/>
          </a:xfrm>
          <a:prstGeom prst="rect">
            <a:avLst/>
          </a:prstGeom>
          <a:noFill/>
        </p:spPr>
        <p:txBody>
          <a:bodyPr wrap="square" rtlCol="0" anchor="ctr" anchorCtr="0">
            <a:noAutofit/>
          </a:bodyPr>
          <a:lstStyle/>
          <a:p>
            <a:pPr algn="ctr"/>
            <a:r>
              <a:rPr lang="en-US" altLang="zh-CN"/>
              <a:t>0</a:t>
            </a:r>
          </a:p>
        </p:txBody>
      </p:sp>
      <p:sp>
        <p:nvSpPr>
          <p:cNvPr id="55" name="文本框 54"/>
          <p:cNvSpPr txBox="1"/>
          <p:nvPr>
            <p:custDataLst>
              <p:tags r:id="rId6"/>
            </p:custDataLst>
          </p:nvPr>
        </p:nvSpPr>
        <p:spPr>
          <a:xfrm>
            <a:off x="2779395" y="3290570"/>
            <a:ext cx="676275" cy="723265"/>
          </a:xfrm>
          <a:prstGeom prst="rect">
            <a:avLst/>
          </a:prstGeom>
          <a:noFill/>
        </p:spPr>
        <p:txBody>
          <a:bodyPr wrap="square" rtlCol="0" anchor="ctr" anchorCtr="0">
            <a:noAutofit/>
          </a:bodyPr>
          <a:lstStyle/>
          <a:p>
            <a:pPr algn="ctr"/>
            <a:r>
              <a:rPr lang="en-US" altLang="zh-CN"/>
              <a:t>0</a:t>
            </a:r>
          </a:p>
        </p:txBody>
      </p:sp>
      <p:sp>
        <p:nvSpPr>
          <p:cNvPr id="56" name="文本框 55"/>
          <p:cNvSpPr txBox="1"/>
          <p:nvPr>
            <p:custDataLst>
              <p:tags r:id="rId7"/>
            </p:custDataLst>
          </p:nvPr>
        </p:nvSpPr>
        <p:spPr>
          <a:xfrm>
            <a:off x="3449320" y="3290570"/>
            <a:ext cx="676275" cy="723265"/>
          </a:xfrm>
          <a:prstGeom prst="rect">
            <a:avLst/>
          </a:prstGeom>
          <a:noFill/>
        </p:spPr>
        <p:txBody>
          <a:bodyPr wrap="square" rtlCol="0" anchor="ctr" anchorCtr="0">
            <a:noAutofit/>
          </a:bodyPr>
          <a:lstStyle/>
          <a:p>
            <a:pPr algn="ctr"/>
            <a:r>
              <a:rPr lang="en-US" altLang="zh-CN"/>
              <a:t>0</a:t>
            </a:r>
          </a:p>
        </p:txBody>
      </p:sp>
      <p:sp>
        <p:nvSpPr>
          <p:cNvPr id="57" name="文本框 56"/>
          <p:cNvSpPr txBox="1"/>
          <p:nvPr>
            <p:custDataLst>
              <p:tags r:id="rId8"/>
            </p:custDataLst>
          </p:nvPr>
        </p:nvSpPr>
        <p:spPr>
          <a:xfrm>
            <a:off x="4119245" y="3290570"/>
            <a:ext cx="676275" cy="723265"/>
          </a:xfrm>
          <a:prstGeom prst="rect">
            <a:avLst/>
          </a:prstGeom>
          <a:noFill/>
        </p:spPr>
        <p:txBody>
          <a:bodyPr wrap="square" rtlCol="0" anchor="ctr" anchorCtr="0">
            <a:noAutofit/>
          </a:bodyPr>
          <a:lstStyle/>
          <a:p>
            <a:pPr algn="ctr"/>
            <a:r>
              <a:rPr lang="en-US" altLang="zh-CN"/>
              <a:t>0</a:t>
            </a:r>
          </a:p>
        </p:txBody>
      </p:sp>
      <p:sp>
        <p:nvSpPr>
          <p:cNvPr id="58" name="文本框 57"/>
          <p:cNvSpPr txBox="1"/>
          <p:nvPr>
            <p:custDataLst>
              <p:tags r:id="rId9"/>
            </p:custDataLst>
          </p:nvPr>
        </p:nvSpPr>
        <p:spPr>
          <a:xfrm>
            <a:off x="4789170" y="3290570"/>
            <a:ext cx="676275" cy="723265"/>
          </a:xfrm>
          <a:prstGeom prst="rect">
            <a:avLst/>
          </a:prstGeom>
          <a:noFill/>
        </p:spPr>
        <p:txBody>
          <a:bodyPr wrap="square" rtlCol="0" anchor="ctr" anchorCtr="0">
            <a:noAutofit/>
          </a:bodyPr>
          <a:lstStyle/>
          <a:p>
            <a:pPr algn="ctr"/>
            <a:r>
              <a:rPr lang="en-US" altLang="zh-CN"/>
              <a:t>0</a:t>
            </a:r>
          </a:p>
        </p:txBody>
      </p:sp>
      <p:sp>
        <p:nvSpPr>
          <p:cNvPr id="59" name="文本框 58"/>
          <p:cNvSpPr txBox="1"/>
          <p:nvPr>
            <p:custDataLst>
              <p:tags r:id="rId10"/>
            </p:custDataLst>
          </p:nvPr>
        </p:nvSpPr>
        <p:spPr>
          <a:xfrm>
            <a:off x="5460365" y="3290570"/>
            <a:ext cx="676275" cy="723265"/>
          </a:xfrm>
          <a:prstGeom prst="rect">
            <a:avLst/>
          </a:prstGeom>
          <a:noFill/>
        </p:spPr>
        <p:txBody>
          <a:bodyPr wrap="square" rtlCol="0" anchor="ctr" anchorCtr="0">
            <a:noAutofit/>
          </a:bodyPr>
          <a:lstStyle/>
          <a:p>
            <a:pPr algn="ctr"/>
            <a:r>
              <a:rPr lang="en-US" altLang="zh-CN"/>
              <a:t>6</a:t>
            </a:r>
          </a:p>
        </p:txBody>
      </p:sp>
      <p:sp>
        <p:nvSpPr>
          <p:cNvPr id="68" name="文本框 67"/>
          <p:cNvSpPr txBox="1"/>
          <p:nvPr>
            <p:custDataLst>
              <p:tags r:id="rId11"/>
            </p:custDataLst>
          </p:nvPr>
        </p:nvSpPr>
        <p:spPr>
          <a:xfrm>
            <a:off x="4118610" y="4021455"/>
            <a:ext cx="676275" cy="723265"/>
          </a:xfrm>
          <a:prstGeom prst="rect">
            <a:avLst/>
          </a:prstGeom>
          <a:noFill/>
        </p:spPr>
        <p:txBody>
          <a:bodyPr wrap="square" rtlCol="0" anchor="ctr" anchorCtr="0">
            <a:noAutofit/>
          </a:bodyPr>
          <a:lstStyle/>
          <a:p>
            <a:pPr algn="ctr"/>
            <a:r>
              <a:rPr lang="en-US" altLang="zh-CN"/>
              <a:t>6</a:t>
            </a:r>
          </a:p>
        </p:txBody>
      </p:sp>
      <p:sp>
        <p:nvSpPr>
          <p:cNvPr id="69" name="文本框 68"/>
          <p:cNvSpPr txBox="1"/>
          <p:nvPr>
            <p:custDataLst>
              <p:tags r:id="rId12"/>
            </p:custDataLst>
          </p:nvPr>
        </p:nvSpPr>
        <p:spPr>
          <a:xfrm>
            <a:off x="6803390" y="3290570"/>
            <a:ext cx="676275" cy="723265"/>
          </a:xfrm>
          <a:prstGeom prst="rect">
            <a:avLst/>
          </a:prstGeom>
          <a:noFill/>
        </p:spPr>
        <p:txBody>
          <a:bodyPr wrap="square" rtlCol="0" anchor="ctr" anchorCtr="0">
            <a:noAutofit/>
          </a:bodyPr>
          <a:lstStyle/>
          <a:p>
            <a:pPr algn="ctr"/>
            <a:r>
              <a:rPr lang="en-US" altLang="zh-CN"/>
              <a:t>10</a:t>
            </a:r>
          </a:p>
        </p:txBody>
      </p:sp>
      <p:sp>
        <p:nvSpPr>
          <p:cNvPr id="70" name="文本框 69"/>
          <p:cNvSpPr txBox="1"/>
          <p:nvPr>
            <p:custDataLst>
              <p:tags r:id="rId13"/>
            </p:custDataLst>
          </p:nvPr>
        </p:nvSpPr>
        <p:spPr>
          <a:xfrm>
            <a:off x="7468870" y="3290570"/>
            <a:ext cx="676275" cy="723265"/>
          </a:xfrm>
          <a:prstGeom prst="rect">
            <a:avLst/>
          </a:prstGeom>
          <a:noFill/>
        </p:spPr>
        <p:txBody>
          <a:bodyPr wrap="square" rtlCol="0" anchor="ctr" anchorCtr="0">
            <a:noAutofit/>
          </a:bodyPr>
          <a:lstStyle/>
          <a:p>
            <a:pPr algn="ctr"/>
            <a:r>
              <a:rPr lang="en-US" altLang="zh-CN"/>
              <a:t>10</a:t>
            </a:r>
          </a:p>
        </p:txBody>
      </p:sp>
      <p:sp>
        <p:nvSpPr>
          <p:cNvPr id="71" name="文本框 70"/>
          <p:cNvSpPr txBox="1"/>
          <p:nvPr>
            <p:custDataLst>
              <p:tags r:id="rId14"/>
            </p:custDataLst>
          </p:nvPr>
        </p:nvSpPr>
        <p:spPr>
          <a:xfrm>
            <a:off x="8140065" y="3290570"/>
            <a:ext cx="676275" cy="723265"/>
          </a:xfrm>
          <a:prstGeom prst="rect">
            <a:avLst/>
          </a:prstGeom>
          <a:noFill/>
        </p:spPr>
        <p:txBody>
          <a:bodyPr wrap="square" rtlCol="0" anchor="ctr" anchorCtr="0">
            <a:noAutofit/>
          </a:bodyPr>
          <a:lstStyle/>
          <a:p>
            <a:pPr algn="ctr"/>
            <a:r>
              <a:rPr lang="en-US" altLang="zh-CN"/>
              <a:t>10</a:t>
            </a:r>
          </a:p>
        </p:txBody>
      </p:sp>
      <p:sp>
        <p:nvSpPr>
          <p:cNvPr id="72" name="文本框 71"/>
          <p:cNvSpPr txBox="1"/>
          <p:nvPr>
            <p:custDataLst>
              <p:tags r:id="rId15"/>
            </p:custDataLst>
          </p:nvPr>
        </p:nvSpPr>
        <p:spPr>
          <a:xfrm>
            <a:off x="2109470" y="4001770"/>
            <a:ext cx="676275" cy="723265"/>
          </a:xfrm>
          <a:prstGeom prst="rect">
            <a:avLst/>
          </a:prstGeom>
          <a:noFill/>
        </p:spPr>
        <p:txBody>
          <a:bodyPr wrap="square" rtlCol="0" anchor="ctr" anchorCtr="0">
            <a:noAutofit/>
          </a:bodyPr>
          <a:lstStyle/>
          <a:p>
            <a:pPr algn="ctr"/>
            <a:r>
              <a:rPr lang="en-US" altLang="zh-CN"/>
              <a:t>0</a:t>
            </a:r>
          </a:p>
        </p:txBody>
      </p:sp>
      <p:sp>
        <p:nvSpPr>
          <p:cNvPr id="74" name="文本框 73"/>
          <p:cNvSpPr txBox="1"/>
          <p:nvPr>
            <p:custDataLst>
              <p:tags r:id="rId16"/>
            </p:custDataLst>
          </p:nvPr>
        </p:nvSpPr>
        <p:spPr>
          <a:xfrm>
            <a:off x="2779395" y="3989705"/>
            <a:ext cx="676275" cy="723265"/>
          </a:xfrm>
          <a:prstGeom prst="rect">
            <a:avLst/>
          </a:prstGeom>
          <a:noFill/>
        </p:spPr>
        <p:txBody>
          <a:bodyPr wrap="square" rtlCol="0" anchor="ctr" anchorCtr="0">
            <a:noAutofit/>
          </a:bodyPr>
          <a:lstStyle/>
          <a:p>
            <a:pPr algn="ctr"/>
            <a:r>
              <a:rPr lang="en-US" altLang="zh-CN"/>
              <a:t>0</a:t>
            </a:r>
          </a:p>
        </p:txBody>
      </p:sp>
      <p:sp>
        <p:nvSpPr>
          <p:cNvPr id="75" name="文本框 74"/>
          <p:cNvSpPr txBox="1"/>
          <p:nvPr>
            <p:custDataLst>
              <p:tags r:id="rId17"/>
            </p:custDataLst>
          </p:nvPr>
        </p:nvSpPr>
        <p:spPr>
          <a:xfrm>
            <a:off x="3455670" y="3989705"/>
            <a:ext cx="676275" cy="723265"/>
          </a:xfrm>
          <a:prstGeom prst="rect">
            <a:avLst/>
          </a:prstGeom>
          <a:noFill/>
        </p:spPr>
        <p:txBody>
          <a:bodyPr wrap="square" rtlCol="0" anchor="ctr" anchorCtr="0">
            <a:noAutofit/>
          </a:bodyPr>
          <a:lstStyle/>
          <a:p>
            <a:pPr algn="ctr"/>
            <a:r>
              <a:rPr lang="en-US" altLang="zh-CN"/>
              <a:t>0</a:t>
            </a:r>
          </a:p>
        </p:txBody>
      </p:sp>
      <p:pic>
        <p:nvPicPr>
          <p:cNvPr id="81" name="图片 80" descr="3b32313539313533373bbfc9c0d6"/>
          <p:cNvPicPr>
            <a:picLocks noChangeAspect="1"/>
          </p:cNvPicPr>
          <p:nvPr>
            <p:custDataLst>
              <p:tags r:id="rId18"/>
            </p:custDataLst>
          </p:nvPr>
        </p:nvPicPr>
        <p:blipFill>
          <a:blip r:embed="rId29"/>
          <a:stretch>
            <a:fillRect/>
          </a:stretch>
        </p:blipFill>
        <p:spPr>
          <a:xfrm>
            <a:off x="71120" y="3341370"/>
            <a:ext cx="672465" cy="672465"/>
          </a:xfrm>
          <a:prstGeom prst="rect">
            <a:avLst/>
          </a:prstGeom>
        </p:spPr>
      </p:pic>
      <p:pic>
        <p:nvPicPr>
          <p:cNvPr id="82" name="图片 81" descr="3b32313539313534303bc7fac6e6b1fdb8c9"/>
          <p:cNvPicPr>
            <a:picLocks noChangeAspect="1"/>
          </p:cNvPicPr>
          <p:nvPr>
            <p:custDataLst>
              <p:tags r:id="rId19"/>
            </p:custDataLst>
          </p:nvPr>
        </p:nvPicPr>
        <p:blipFill>
          <a:blip r:embed="rId30"/>
          <a:stretch>
            <a:fillRect/>
          </a:stretch>
        </p:blipFill>
        <p:spPr>
          <a:xfrm>
            <a:off x="180340" y="4151630"/>
            <a:ext cx="463550" cy="463550"/>
          </a:xfrm>
          <a:prstGeom prst="rect">
            <a:avLst/>
          </a:prstGeom>
        </p:spPr>
      </p:pic>
      <p:sp>
        <p:nvSpPr>
          <p:cNvPr id="83" name="文本框 82"/>
          <p:cNvSpPr txBox="1"/>
          <p:nvPr>
            <p:custDataLst>
              <p:tags r:id="rId20"/>
            </p:custDataLst>
          </p:nvPr>
        </p:nvSpPr>
        <p:spPr>
          <a:xfrm>
            <a:off x="6141720" y="3302635"/>
            <a:ext cx="676275" cy="723265"/>
          </a:xfrm>
          <a:prstGeom prst="rect">
            <a:avLst/>
          </a:prstGeom>
          <a:noFill/>
        </p:spPr>
        <p:txBody>
          <a:bodyPr wrap="square" rtlCol="0" anchor="ctr" anchorCtr="0">
            <a:noAutofit/>
          </a:bodyPr>
          <a:lstStyle/>
          <a:p>
            <a:pPr algn="ctr"/>
            <a:r>
              <a:rPr lang="en-US" altLang="zh-CN"/>
              <a:t>6</a:t>
            </a:r>
          </a:p>
        </p:txBody>
      </p:sp>
      <p:sp>
        <p:nvSpPr>
          <p:cNvPr id="85" name="文本框 84"/>
          <p:cNvSpPr txBox="1"/>
          <p:nvPr>
            <p:custDataLst>
              <p:tags r:id="rId21"/>
            </p:custDataLst>
          </p:nvPr>
        </p:nvSpPr>
        <p:spPr>
          <a:xfrm>
            <a:off x="4778375" y="4017010"/>
            <a:ext cx="676275" cy="723265"/>
          </a:xfrm>
          <a:prstGeom prst="rect">
            <a:avLst/>
          </a:prstGeom>
          <a:noFill/>
        </p:spPr>
        <p:txBody>
          <a:bodyPr wrap="square" rtlCol="0" anchor="ctr" anchorCtr="0">
            <a:noAutofit/>
          </a:bodyPr>
          <a:lstStyle/>
          <a:p>
            <a:pPr algn="ctr"/>
            <a:r>
              <a:rPr lang="en-US" altLang="zh-CN"/>
              <a:t>6</a:t>
            </a:r>
          </a:p>
        </p:txBody>
      </p:sp>
      <p:sp>
        <p:nvSpPr>
          <p:cNvPr id="86" name="文本框 85"/>
          <p:cNvSpPr txBox="1"/>
          <p:nvPr>
            <p:custDataLst>
              <p:tags r:id="rId22"/>
            </p:custDataLst>
          </p:nvPr>
        </p:nvSpPr>
        <p:spPr>
          <a:xfrm>
            <a:off x="5459095" y="4017010"/>
            <a:ext cx="676275" cy="723265"/>
          </a:xfrm>
          <a:prstGeom prst="rect">
            <a:avLst/>
          </a:prstGeom>
          <a:noFill/>
        </p:spPr>
        <p:txBody>
          <a:bodyPr wrap="square" rtlCol="0" anchor="ctr" anchorCtr="0">
            <a:noAutofit/>
          </a:bodyPr>
          <a:lstStyle/>
          <a:p>
            <a:pPr algn="ctr"/>
            <a:r>
              <a:rPr lang="en-US" altLang="zh-CN"/>
              <a:t>6</a:t>
            </a:r>
          </a:p>
        </p:txBody>
      </p:sp>
      <p:sp>
        <p:nvSpPr>
          <p:cNvPr id="87" name="文本框 86"/>
          <p:cNvSpPr txBox="1"/>
          <p:nvPr>
            <p:custDataLst>
              <p:tags r:id="rId23"/>
            </p:custDataLst>
          </p:nvPr>
        </p:nvSpPr>
        <p:spPr>
          <a:xfrm>
            <a:off x="6127115" y="4017010"/>
            <a:ext cx="676275" cy="723265"/>
          </a:xfrm>
          <a:prstGeom prst="rect">
            <a:avLst/>
          </a:prstGeom>
          <a:noFill/>
        </p:spPr>
        <p:txBody>
          <a:bodyPr wrap="square" rtlCol="0" anchor="ctr" anchorCtr="0">
            <a:noAutofit/>
          </a:bodyPr>
          <a:lstStyle/>
          <a:p>
            <a:pPr algn="ctr"/>
            <a:r>
              <a:rPr lang="en-US" altLang="zh-CN"/>
              <a:t>6</a:t>
            </a:r>
          </a:p>
        </p:txBody>
      </p:sp>
      <p:sp>
        <p:nvSpPr>
          <p:cNvPr id="88" name="文本框 87"/>
          <p:cNvSpPr txBox="1"/>
          <p:nvPr>
            <p:custDataLst>
              <p:tags r:id="rId24"/>
            </p:custDataLst>
          </p:nvPr>
        </p:nvSpPr>
        <p:spPr>
          <a:xfrm>
            <a:off x="6817995" y="4017010"/>
            <a:ext cx="676275" cy="723265"/>
          </a:xfrm>
          <a:prstGeom prst="rect">
            <a:avLst/>
          </a:prstGeom>
          <a:noFill/>
        </p:spPr>
        <p:txBody>
          <a:bodyPr wrap="square" rtlCol="0" anchor="ctr" anchorCtr="0">
            <a:noAutofit/>
          </a:bodyPr>
          <a:lstStyle/>
          <a:p>
            <a:pPr algn="ctr"/>
            <a:r>
              <a:rPr lang="en-US" altLang="zh-CN"/>
              <a:t>10</a:t>
            </a:r>
          </a:p>
        </p:txBody>
      </p:sp>
      <p:sp>
        <p:nvSpPr>
          <p:cNvPr id="89" name="文本框 88"/>
          <p:cNvSpPr txBox="1"/>
          <p:nvPr>
            <p:custDataLst>
              <p:tags r:id="rId25"/>
            </p:custDataLst>
          </p:nvPr>
        </p:nvSpPr>
        <p:spPr>
          <a:xfrm>
            <a:off x="7463790" y="4017010"/>
            <a:ext cx="676275" cy="723265"/>
          </a:xfrm>
          <a:prstGeom prst="rect">
            <a:avLst/>
          </a:prstGeom>
          <a:noFill/>
        </p:spPr>
        <p:txBody>
          <a:bodyPr wrap="square" rtlCol="0" anchor="ctr" anchorCtr="0">
            <a:noAutofit/>
          </a:bodyPr>
          <a:lstStyle/>
          <a:p>
            <a:pPr algn="ctr"/>
            <a:r>
              <a:rPr lang="en-US" altLang="zh-CN"/>
              <a:t>10</a:t>
            </a:r>
          </a:p>
        </p:txBody>
      </p:sp>
      <p:sp>
        <p:nvSpPr>
          <p:cNvPr id="94" name="文本框 93"/>
          <p:cNvSpPr txBox="1"/>
          <p:nvPr>
            <p:custDataLst>
              <p:tags r:id="rId26"/>
            </p:custDataLst>
          </p:nvPr>
        </p:nvSpPr>
        <p:spPr>
          <a:xfrm>
            <a:off x="8140065" y="4017010"/>
            <a:ext cx="676275" cy="723265"/>
          </a:xfrm>
          <a:prstGeom prst="rect">
            <a:avLst/>
          </a:prstGeom>
          <a:noFill/>
        </p:spPr>
        <p:txBody>
          <a:bodyPr wrap="square" rtlCol="0" anchor="ctr" anchorCtr="0">
            <a:noAutofit/>
          </a:bodyPr>
          <a:lstStyle/>
          <a:p>
            <a:pPr algn="ctr"/>
            <a:r>
              <a:rPr lang="en-US" altLang="zh-CN"/>
              <a:t>12</a:t>
            </a:r>
          </a:p>
        </p:txBody>
      </p:sp>
      <p:cxnSp>
        <p:nvCxnSpPr>
          <p:cNvPr id="5" name="直接箭头连接符 4"/>
          <p:cNvCxnSpPr/>
          <p:nvPr/>
        </p:nvCxnSpPr>
        <p:spPr>
          <a:xfrm>
            <a:off x="7593965" y="1440180"/>
            <a:ext cx="0" cy="28829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8" name="五角星 7"/>
          <p:cNvSpPr/>
          <p:nvPr/>
        </p:nvSpPr>
        <p:spPr>
          <a:xfrm>
            <a:off x="7438390" y="2360295"/>
            <a:ext cx="85725" cy="85725"/>
          </a:xfrm>
          <a:prstGeom prst="star5">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五角星 9"/>
          <p:cNvSpPr/>
          <p:nvPr/>
        </p:nvSpPr>
        <p:spPr>
          <a:xfrm>
            <a:off x="5128895" y="2360295"/>
            <a:ext cx="85725" cy="85725"/>
          </a:xfrm>
          <a:prstGeom prst="star5">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矩形 12"/>
          <p:cNvSpPr/>
          <p:nvPr/>
        </p:nvSpPr>
        <p:spPr>
          <a:xfrm>
            <a:off x="7364095" y="1885315"/>
            <a:ext cx="490855" cy="587375"/>
          </a:xfrm>
          <a:prstGeom prst="rect">
            <a:avLst/>
          </a:prstGeom>
          <a:solidFill>
            <a:srgbClr val="E9EBF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a:solidFill>
                  <a:srgbClr val="FF0000"/>
                </a:solidFill>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0" grpId="0" animBg="1"/>
      <p:bldP spid="10" grpId="1" animBg="1"/>
      <p:bldP spid="13"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41245" y="488017"/>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rPr>
              <a:t>滚动数组</a:t>
            </a:r>
          </a:p>
        </p:txBody>
      </p:sp>
      <p:graphicFrame>
        <p:nvGraphicFramePr>
          <p:cNvPr id="7" name="表格 7"/>
          <p:cNvGraphicFramePr>
            <a:graphicFrameLocks noGrp="1"/>
          </p:cNvGraphicFramePr>
          <p:nvPr/>
        </p:nvGraphicFramePr>
        <p:xfrm>
          <a:off x="1709057" y="1345292"/>
          <a:ext cx="3744688" cy="800100"/>
        </p:xfrm>
        <a:graphic>
          <a:graphicData uri="http://schemas.openxmlformats.org/drawingml/2006/table">
            <a:tbl>
              <a:tblPr firstRow="1" bandRow="1">
                <a:tableStyleId>{5940675A-B579-460E-94D1-54222C63F5DA}</a:tableStyleId>
              </a:tblPr>
              <a:tblGrid>
                <a:gridCol w="936172">
                  <a:extLst>
                    <a:ext uri="{9D8B030D-6E8A-4147-A177-3AD203B41FA5}">
                      <a16:colId xmlns:a16="http://schemas.microsoft.com/office/drawing/2014/main" val="20000"/>
                    </a:ext>
                  </a:extLst>
                </a:gridCol>
                <a:gridCol w="936172">
                  <a:extLst>
                    <a:ext uri="{9D8B030D-6E8A-4147-A177-3AD203B41FA5}">
                      <a16:colId xmlns:a16="http://schemas.microsoft.com/office/drawing/2014/main" val="20001"/>
                    </a:ext>
                  </a:extLst>
                </a:gridCol>
                <a:gridCol w="936172">
                  <a:extLst>
                    <a:ext uri="{9D8B030D-6E8A-4147-A177-3AD203B41FA5}">
                      <a16:colId xmlns:a16="http://schemas.microsoft.com/office/drawing/2014/main" val="20002"/>
                    </a:ext>
                  </a:extLst>
                </a:gridCol>
                <a:gridCol w="936172">
                  <a:extLst>
                    <a:ext uri="{9D8B030D-6E8A-4147-A177-3AD203B41FA5}">
                      <a16:colId xmlns:a16="http://schemas.microsoft.com/office/drawing/2014/main" val="20003"/>
                    </a:ext>
                  </a:extLst>
                </a:gridCol>
              </a:tblGrid>
              <a:tr h="370840">
                <a:tc>
                  <a:txBody>
                    <a:bodyPr/>
                    <a:lstStyle/>
                    <a:p>
                      <a:pPr algn="ctr">
                        <a:lnSpc>
                          <a:spcPct val="150000"/>
                        </a:lnSpc>
                      </a:pPr>
                      <a:r>
                        <a:rPr lang="zh-CN" altLang="en-US" b="1" dirty="0">
                          <a:solidFill>
                            <a:srgbClr val="FF0000"/>
                          </a:solidFill>
                          <a:latin typeface="+mn-lt"/>
                        </a:rPr>
                        <a:t>①</a:t>
                      </a:r>
                      <a:r>
                        <a:rPr lang="zh-CN" altLang="en-US" dirty="0">
                          <a:latin typeface="+mn-lt"/>
                        </a:rPr>
                        <a:t> </a:t>
                      </a:r>
                      <a:r>
                        <a:rPr lang="en-US" altLang="zh-CN" dirty="0">
                          <a:latin typeface="+mn-lt"/>
                        </a:rPr>
                        <a:t>i-1,…</a:t>
                      </a:r>
                      <a:endParaRPr lang="zh-CN" altLang="en-US" dirty="0">
                        <a:solidFill>
                          <a:srgbClr val="FF0000"/>
                        </a:solidFill>
                        <a:latin typeface="+mn-lt"/>
                      </a:endParaRPr>
                    </a:p>
                  </a:txBody>
                  <a:tcPr/>
                </a:tc>
                <a:tc>
                  <a:txBody>
                    <a:bodyPr/>
                    <a:lstStyle/>
                    <a:p>
                      <a:pPr algn="ctr">
                        <a:lnSpc>
                          <a:spcPct val="150000"/>
                        </a:lnSpc>
                      </a:pPr>
                      <a:r>
                        <a:rPr lang="zh-CN" altLang="en-US" b="1" dirty="0">
                          <a:solidFill>
                            <a:srgbClr val="FF0000"/>
                          </a:solidFill>
                          <a:latin typeface="+mn-lt"/>
                        </a:rPr>
                        <a:t>②</a:t>
                      </a:r>
                      <a:r>
                        <a:rPr lang="en-US" altLang="zh-CN" dirty="0">
                          <a:latin typeface="+mn-lt"/>
                        </a:rPr>
                        <a:t>i-1, j-vi</a:t>
                      </a:r>
                      <a:endParaRPr lang="zh-CN" altLang="en-US" dirty="0">
                        <a:latin typeface="+mn-lt"/>
                      </a:endParaRPr>
                    </a:p>
                  </a:txBody>
                  <a:tcPr/>
                </a:tc>
                <a:tc>
                  <a:txBody>
                    <a:bodyPr/>
                    <a:lstStyle/>
                    <a:p>
                      <a:pPr algn="ctr">
                        <a:lnSpc>
                          <a:spcPct val="150000"/>
                        </a:lnSpc>
                      </a:pPr>
                      <a:r>
                        <a:rPr lang="zh-CN" altLang="en-US" b="1" dirty="0">
                          <a:solidFill>
                            <a:srgbClr val="FF0000"/>
                          </a:solidFill>
                          <a:latin typeface="+mn-lt"/>
                        </a:rPr>
                        <a:t>③</a:t>
                      </a:r>
                      <a:r>
                        <a:rPr lang="en-US" altLang="zh-CN" dirty="0">
                          <a:latin typeface="+mn-lt"/>
                        </a:rPr>
                        <a:t>……</a:t>
                      </a:r>
                      <a:endParaRPr lang="zh-CN" altLang="en-US" dirty="0">
                        <a:latin typeface="+mn-lt"/>
                      </a:endParaRPr>
                    </a:p>
                  </a:txBody>
                  <a:tcPr/>
                </a:tc>
                <a:tc>
                  <a:txBody>
                    <a:bodyPr/>
                    <a:lstStyle/>
                    <a:p>
                      <a:pPr marL="0" marR="0" lvl="0" indent="0" algn="ctr" defTabSz="685800" rtl="0" eaLnBrk="1" fontAlgn="auto" latinLnBrk="0" hangingPunct="1">
                        <a:lnSpc>
                          <a:spcPct val="150000"/>
                        </a:lnSpc>
                        <a:spcBef>
                          <a:spcPts val="0"/>
                        </a:spcBef>
                        <a:spcAft>
                          <a:spcPts val="0"/>
                        </a:spcAft>
                        <a:buClrTx/>
                        <a:buSzTx/>
                        <a:buFontTx/>
                        <a:buNone/>
                        <a:defRPr/>
                      </a:pPr>
                      <a:r>
                        <a:rPr lang="zh-CN" altLang="en-US" b="1" dirty="0">
                          <a:solidFill>
                            <a:srgbClr val="FF0000"/>
                          </a:solidFill>
                          <a:latin typeface="+mn-lt"/>
                        </a:rPr>
                        <a:t>④</a:t>
                      </a:r>
                      <a:r>
                        <a:rPr lang="en-US" altLang="zh-CN" dirty="0">
                          <a:latin typeface="+mn-lt"/>
                        </a:rPr>
                        <a:t>i-1, j</a:t>
                      </a:r>
                      <a:endParaRPr lang="zh-CN" altLang="en-US" dirty="0">
                        <a:latin typeface="+mn-lt"/>
                      </a:endParaRPr>
                    </a:p>
                  </a:txBody>
                  <a:tcPr/>
                </a:tc>
                <a:extLst>
                  <a:ext uri="{0D108BD9-81ED-4DB2-BD59-A6C34878D82A}">
                    <a16:rowId xmlns:a16="http://schemas.microsoft.com/office/drawing/2014/main" val="10000"/>
                  </a:ext>
                </a:extLst>
              </a:tr>
              <a:tr h="370840">
                <a:tc>
                  <a:txBody>
                    <a:bodyPr/>
                    <a:lstStyle/>
                    <a:p>
                      <a:pPr marL="0" marR="0" lvl="0" indent="0" algn="ctr" defTabSz="685800" rtl="0" eaLnBrk="1" fontAlgn="auto" latinLnBrk="0" hangingPunct="1">
                        <a:lnSpc>
                          <a:spcPct val="150000"/>
                        </a:lnSpc>
                        <a:spcBef>
                          <a:spcPts val="0"/>
                        </a:spcBef>
                        <a:spcAft>
                          <a:spcPts val="0"/>
                        </a:spcAft>
                        <a:buClrTx/>
                        <a:buSzTx/>
                        <a:buFontTx/>
                        <a:buNone/>
                        <a:defRPr/>
                      </a:pPr>
                      <a:r>
                        <a:rPr lang="zh-CN" altLang="en-US" b="1" dirty="0">
                          <a:solidFill>
                            <a:srgbClr val="FF0000"/>
                          </a:solidFill>
                          <a:latin typeface="+mn-lt"/>
                        </a:rPr>
                        <a:t>⑤</a:t>
                      </a:r>
                    </a:p>
                  </a:txBody>
                  <a:tcPr/>
                </a:tc>
                <a:tc>
                  <a:txBody>
                    <a:bodyPr/>
                    <a:lstStyle/>
                    <a:p>
                      <a:pPr algn="ctr">
                        <a:lnSpc>
                          <a:spcPct val="150000"/>
                        </a:lnSpc>
                      </a:pPr>
                      <a:r>
                        <a:rPr lang="zh-CN" altLang="en-US" b="1" dirty="0">
                          <a:solidFill>
                            <a:srgbClr val="FF0000"/>
                          </a:solidFill>
                          <a:latin typeface="+mn-lt"/>
                        </a:rPr>
                        <a:t>⑥</a:t>
                      </a:r>
                    </a:p>
                  </a:txBody>
                  <a:tcPr/>
                </a:tc>
                <a:tc>
                  <a:txBody>
                    <a:bodyPr/>
                    <a:lstStyle/>
                    <a:p>
                      <a:pPr algn="ctr">
                        <a:lnSpc>
                          <a:spcPct val="150000"/>
                        </a:lnSpc>
                      </a:pPr>
                      <a:r>
                        <a:rPr lang="zh-CN" altLang="en-US" b="1" dirty="0">
                          <a:solidFill>
                            <a:srgbClr val="FF0000"/>
                          </a:solidFill>
                          <a:latin typeface="+mn-lt"/>
                        </a:rPr>
                        <a:t>⑦</a:t>
                      </a:r>
                    </a:p>
                  </a:txBody>
                  <a:tcPr/>
                </a:tc>
                <a:tc>
                  <a:txBody>
                    <a:bodyPr/>
                    <a:lstStyle/>
                    <a:p>
                      <a:pPr algn="ctr">
                        <a:lnSpc>
                          <a:spcPct val="150000"/>
                        </a:lnSpc>
                      </a:pPr>
                      <a:r>
                        <a:rPr lang="zh-CN" altLang="en-US" b="1" dirty="0">
                          <a:solidFill>
                            <a:srgbClr val="FF0000"/>
                          </a:solidFill>
                          <a:latin typeface="+mn-lt"/>
                        </a:rPr>
                        <a:t>⑧</a:t>
                      </a:r>
                      <a:r>
                        <a:rPr lang="en-US" altLang="zh-CN" dirty="0" err="1">
                          <a:latin typeface="+mn-lt"/>
                        </a:rPr>
                        <a:t>i</a:t>
                      </a:r>
                      <a:r>
                        <a:rPr lang="en-US" altLang="zh-CN" dirty="0">
                          <a:latin typeface="+mn-lt"/>
                        </a:rPr>
                        <a:t>, j</a:t>
                      </a:r>
                      <a:endParaRPr lang="zh-CN" altLang="en-US" dirty="0">
                        <a:latin typeface="+mn-lt"/>
                      </a:endParaRPr>
                    </a:p>
                  </a:txBody>
                  <a:tcPr/>
                </a:tc>
                <a:extLst>
                  <a:ext uri="{0D108BD9-81ED-4DB2-BD59-A6C34878D82A}">
                    <a16:rowId xmlns:a16="http://schemas.microsoft.com/office/drawing/2014/main" val="10001"/>
                  </a:ext>
                </a:extLst>
              </a:tr>
            </a:tbl>
          </a:graphicData>
        </a:graphic>
      </p:graphicFrame>
      <p:cxnSp>
        <p:nvCxnSpPr>
          <p:cNvPr id="9" name="直接箭头连接符 8"/>
          <p:cNvCxnSpPr/>
          <p:nvPr/>
        </p:nvCxnSpPr>
        <p:spPr>
          <a:xfrm>
            <a:off x="5252357" y="1567543"/>
            <a:ext cx="0" cy="3374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3467100" y="1632857"/>
            <a:ext cx="1181100" cy="2612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表格 7"/>
          <p:cNvGraphicFramePr>
            <a:graphicFrameLocks noGrp="1"/>
          </p:cNvGraphicFramePr>
          <p:nvPr/>
        </p:nvGraphicFramePr>
        <p:xfrm>
          <a:off x="1709057" y="2901949"/>
          <a:ext cx="3744688" cy="800100"/>
        </p:xfrm>
        <a:graphic>
          <a:graphicData uri="http://schemas.openxmlformats.org/drawingml/2006/table">
            <a:tbl>
              <a:tblPr firstRow="1" bandRow="1">
                <a:tableStyleId>{5940675A-B579-460E-94D1-54222C63F5DA}</a:tableStyleId>
              </a:tblPr>
              <a:tblGrid>
                <a:gridCol w="936172">
                  <a:extLst>
                    <a:ext uri="{9D8B030D-6E8A-4147-A177-3AD203B41FA5}">
                      <a16:colId xmlns:a16="http://schemas.microsoft.com/office/drawing/2014/main" val="20000"/>
                    </a:ext>
                  </a:extLst>
                </a:gridCol>
                <a:gridCol w="936172">
                  <a:extLst>
                    <a:ext uri="{9D8B030D-6E8A-4147-A177-3AD203B41FA5}">
                      <a16:colId xmlns:a16="http://schemas.microsoft.com/office/drawing/2014/main" val="20001"/>
                    </a:ext>
                  </a:extLst>
                </a:gridCol>
                <a:gridCol w="936172">
                  <a:extLst>
                    <a:ext uri="{9D8B030D-6E8A-4147-A177-3AD203B41FA5}">
                      <a16:colId xmlns:a16="http://schemas.microsoft.com/office/drawing/2014/main" val="20002"/>
                    </a:ext>
                  </a:extLst>
                </a:gridCol>
                <a:gridCol w="936172">
                  <a:extLst>
                    <a:ext uri="{9D8B030D-6E8A-4147-A177-3AD203B41FA5}">
                      <a16:colId xmlns:a16="http://schemas.microsoft.com/office/drawing/2014/main" val="20003"/>
                    </a:ext>
                  </a:extLst>
                </a:gridCol>
              </a:tblGrid>
              <a:tr h="370840">
                <a:tc>
                  <a:txBody>
                    <a:bodyPr/>
                    <a:lstStyle/>
                    <a:p>
                      <a:pPr algn="ctr">
                        <a:lnSpc>
                          <a:spcPct val="150000"/>
                        </a:lnSpc>
                      </a:pPr>
                      <a:r>
                        <a:rPr lang="en-US" altLang="zh-CN" dirty="0">
                          <a:latin typeface="+mn-lt"/>
                        </a:rPr>
                        <a:t>i-1,…</a:t>
                      </a:r>
                      <a:endParaRPr lang="zh-CN" altLang="en-US" dirty="0">
                        <a:latin typeface="+mn-lt"/>
                      </a:endParaRPr>
                    </a:p>
                  </a:txBody>
                  <a:tcPr>
                    <a:lnB w="12700" cap="flat" cmpd="sng" algn="ctr">
                      <a:solidFill>
                        <a:schemeClr val="tx1"/>
                      </a:solidFill>
                      <a:prstDash val="sysDot"/>
                      <a:round/>
                      <a:headEnd type="none" w="med" len="med"/>
                      <a:tailEnd type="none" w="med" len="med"/>
                    </a:lnB>
                  </a:tcPr>
                </a:tc>
                <a:tc>
                  <a:txBody>
                    <a:bodyPr/>
                    <a:lstStyle/>
                    <a:p>
                      <a:pPr algn="ctr">
                        <a:lnSpc>
                          <a:spcPct val="150000"/>
                        </a:lnSpc>
                      </a:pPr>
                      <a:r>
                        <a:rPr lang="en-US" altLang="zh-CN" dirty="0">
                          <a:latin typeface="+mn-lt"/>
                        </a:rPr>
                        <a:t>i-1, j-vi</a:t>
                      </a:r>
                      <a:endParaRPr lang="zh-CN" altLang="en-US" dirty="0">
                        <a:latin typeface="+mn-lt"/>
                      </a:endParaRPr>
                    </a:p>
                  </a:txBody>
                  <a:tcPr>
                    <a:lnB w="12700" cap="flat" cmpd="sng" algn="ctr">
                      <a:solidFill>
                        <a:schemeClr val="tx1"/>
                      </a:solidFill>
                      <a:prstDash val="sysDot"/>
                      <a:round/>
                      <a:headEnd type="none" w="med" len="med"/>
                      <a:tailEnd type="none" w="med" len="med"/>
                    </a:lnB>
                  </a:tcPr>
                </a:tc>
                <a:tc>
                  <a:txBody>
                    <a:bodyPr/>
                    <a:lstStyle/>
                    <a:p>
                      <a:pPr algn="ctr">
                        <a:lnSpc>
                          <a:spcPct val="150000"/>
                        </a:lnSpc>
                      </a:pPr>
                      <a:r>
                        <a:rPr lang="en-US" altLang="zh-CN" dirty="0">
                          <a:latin typeface="+mn-lt"/>
                        </a:rPr>
                        <a:t>……</a:t>
                      </a:r>
                      <a:endParaRPr lang="zh-CN" altLang="en-US" dirty="0">
                        <a:latin typeface="+mn-lt"/>
                      </a:endParaRPr>
                    </a:p>
                  </a:txBody>
                  <a:tcPr>
                    <a:lnB w="12700" cap="flat" cmpd="sng" algn="ctr">
                      <a:solidFill>
                        <a:schemeClr val="tx1"/>
                      </a:solidFill>
                      <a:prstDash val="sysDot"/>
                      <a:round/>
                      <a:headEnd type="none" w="med" len="med"/>
                      <a:tailEnd type="none" w="med" len="med"/>
                    </a:lnB>
                  </a:tcPr>
                </a:tc>
                <a:tc>
                  <a:txBody>
                    <a:bodyPr/>
                    <a:lstStyle/>
                    <a:p>
                      <a:pPr algn="ctr">
                        <a:lnSpc>
                          <a:spcPct val="150000"/>
                        </a:lnSpc>
                      </a:pPr>
                      <a:r>
                        <a:rPr lang="en-US" altLang="zh-CN" dirty="0">
                          <a:latin typeface="+mn-lt"/>
                        </a:rPr>
                        <a:t>i-1, j</a:t>
                      </a:r>
                      <a:endParaRPr lang="zh-CN" altLang="en-US" dirty="0">
                        <a:latin typeface="+mn-lt"/>
                      </a:endParaRPr>
                    </a:p>
                  </a:txBody>
                  <a:tcPr>
                    <a:lnB w="12700"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0"/>
                  </a:ext>
                </a:extLst>
              </a:tr>
              <a:tr h="370840">
                <a:tc>
                  <a:txBody>
                    <a:bodyPr/>
                    <a:lstStyle/>
                    <a:p>
                      <a:pPr algn="ctr">
                        <a:lnSpc>
                          <a:spcPct val="150000"/>
                        </a:lnSpc>
                      </a:pPr>
                      <a:r>
                        <a:rPr lang="zh-CN" altLang="en-US" b="1" dirty="0">
                          <a:solidFill>
                            <a:srgbClr val="FF0000"/>
                          </a:solidFill>
                          <a:latin typeface="+mn-lt"/>
                        </a:rPr>
                        <a:t>①</a:t>
                      </a:r>
                      <a:endParaRPr lang="zh-CN" altLang="en-US" dirty="0">
                        <a:latin typeface="+mn-lt"/>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BlToTr w="12700" cap="flat" cmpd="sng" algn="ctr">
                      <a:noFill/>
                      <a:prstDash val="sysDot"/>
                      <a:round/>
                      <a:headEnd type="none" w="med" len="med"/>
                      <a:tailEnd type="none" w="med" len="med"/>
                    </a:lnBlToTr>
                  </a:tcPr>
                </a:tc>
                <a:tc>
                  <a:txBody>
                    <a:bodyPr/>
                    <a:lstStyle/>
                    <a:p>
                      <a:pPr algn="ctr">
                        <a:lnSpc>
                          <a:spcPct val="150000"/>
                        </a:lnSpc>
                      </a:pPr>
                      <a:r>
                        <a:rPr lang="zh-CN" altLang="en-US" b="1" dirty="0">
                          <a:solidFill>
                            <a:srgbClr val="FF0000"/>
                          </a:solidFill>
                          <a:latin typeface="+mn-lt"/>
                        </a:rPr>
                        <a:t>②</a:t>
                      </a:r>
                      <a:endParaRPr lang="zh-CN" altLang="en-US" dirty="0">
                        <a:latin typeface="+mn-lt"/>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BlToTr w="12700" cap="flat" cmpd="sng" algn="ctr">
                      <a:noFill/>
                      <a:prstDash val="sysDot"/>
                      <a:round/>
                      <a:headEnd type="none" w="med" len="med"/>
                      <a:tailEnd type="none" w="med" len="med"/>
                    </a:lnBlToTr>
                  </a:tcPr>
                </a:tc>
                <a:tc>
                  <a:txBody>
                    <a:bodyPr/>
                    <a:lstStyle/>
                    <a:p>
                      <a:pPr algn="ctr">
                        <a:lnSpc>
                          <a:spcPct val="150000"/>
                        </a:lnSpc>
                      </a:pPr>
                      <a:r>
                        <a:rPr lang="zh-CN" altLang="en-US" b="1" dirty="0">
                          <a:solidFill>
                            <a:srgbClr val="FF0000"/>
                          </a:solidFill>
                          <a:latin typeface="+mn-lt"/>
                        </a:rPr>
                        <a:t>③</a:t>
                      </a:r>
                      <a:endParaRPr lang="zh-CN" altLang="en-US" dirty="0">
                        <a:latin typeface="+mn-lt"/>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BlToTr w="12700" cap="flat" cmpd="sng" algn="ctr">
                      <a:noFill/>
                      <a:prstDash val="sysDot"/>
                      <a:round/>
                      <a:headEnd type="none" w="med" len="med"/>
                      <a:tailEnd type="none" w="med" len="med"/>
                    </a:lnBlToTr>
                  </a:tcPr>
                </a:tc>
                <a:tc>
                  <a:txBody>
                    <a:bodyPr/>
                    <a:lstStyle/>
                    <a:p>
                      <a:pPr algn="ctr">
                        <a:lnSpc>
                          <a:spcPct val="150000"/>
                        </a:lnSpc>
                      </a:pPr>
                      <a:r>
                        <a:rPr lang="zh-CN" altLang="en-US" b="1" dirty="0">
                          <a:solidFill>
                            <a:srgbClr val="FF0000"/>
                          </a:solidFill>
                          <a:latin typeface="+mn-lt"/>
                        </a:rPr>
                        <a:t>④</a:t>
                      </a:r>
                      <a:r>
                        <a:rPr lang="en-US" altLang="zh-CN" dirty="0" err="1">
                          <a:latin typeface="+mn-lt"/>
                        </a:rPr>
                        <a:t>i</a:t>
                      </a:r>
                      <a:r>
                        <a:rPr lang="en-US" altLang="zh-CN" dirty="0">
                          <a:latin typeface="+mn-lt"/>
                        </a:rPr>
                        <a:t>, j</a:t>
                      </a:r>
                      <a:endParaRPr lang="zh-CN" altLang="en-US" dirty="0">
                        <a:latin typeface="+mn-lt"/>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BlToTr w="12700" cap="flat" cmpd="sng" algn="ctr">
                      <a:noFill/>
                      <a:prstDash val="sysDot"/>
                      <a:round/>
                      <a:headEnd type="none" w="med" len="med"/>
                      <a:tailEnd type="none" w="med" len="med"/>
                    </a:lnBlToTr>
                  </a:tcPr>
                </a:tc>
                <a:extLst>
                  <a:ext uri="{0D108BD9-81ED-4DB2-BD59-A6C34878D82A}">
                    <a16:rowId xmlns:a16="http://schemas.microsoft.com/office/drawing/2014/main" val="10001"/>
                  </a:ext>
                </a:extLst>
              </a:tr>
            </a:tbl>
          </a:graphicData>
        </a:graphic>
      </p:graphicFrame>
      <p:cxnSp>
        <p:nvCxnSpPr>
          <p:cNvPr id="14" name="直接箭头连接符 13"/>
          <p:cNvCxnSpPr/>
          <p:nvPr/>
        </p:nvCxnSpPr>
        <p:spPr>
          <a:xfrm>
            <a:off x="3467100" y="3401785"/>
            <a:ext cx="11811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对话气泡: 矩形 16"/>
          <p:cNvSpPr/>
          <p:nvPr/>
        </p:nvSpPr>
        <p:spPr>
          <a:xfrm>
            <a:off x="3216729" y="3744686"/>
            <a:ext cx="1475014" cy="674914"/>
          </a:xfrm>
          <a:prstGeom prst="wedgeRectCallout">
            <a:avLst>
              <a:gd name="adj1" fmla="val -47770"/>
              <a:gd name="adj2" fmla="val -79435"/>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3216729" y="3820533"/>
            <a:ext cx="1551215" cy="523220"/>
          </a:xfrm>
          <a:prstGeom prst="rect">
            <a:avLst/>
          </a:prstGeom>
          <a:noFill/>
        </p:spPr>
        <p:txBody>
          <a:bodyPr wrap="square" rtlCol="0">
            <a:spAutoFit/>
          </a:bodyPr>
          <a:lstStyle/>
          <a:p>
            <a:r>
              <a:rPr lang="zh-CN" altLang="en-US" sz="1400" dirty="0"/>
              <a:t>已经被更新，不再是</a:t>
            </a:r>
            <a:r>
              <a:rPr lang="en-US" altLang="zh-CN" sz="1400" dirty="0"/>
              <a:t>i-1</a:t>
            </a:r>
            <a:r>
              <a:rPr lang="zh-CN" altLang="en-US" sz="1400" dirty="0"/>
              <a:t>轮的结果</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41245" y="488017"/>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rPr>
              <a:t>滚动数组</a:t>
            </a:r>
          </a:p>
        </p:txBody>
      </p:sp>
      <p:graphicFrame>
        <p:nvGraphicFramePr>
          <p:cNvPr id="12" name="表格 7"/>
          <p:cNvGraphicFramePr>
            <a:graphicFrameLocks noGrp="1"/>
          </p:cNvGraphicFramePr>
          <p:nvPr/>
        </p:nvGraphicFramePr>
        <p:xfrm>
          <a:off x="2394857" y="1945639"/>
          <a:ext cx="3744688" cy="800100"/>
        </p:xfrm>
        <a:graphic>
          <a:graphicData uri="http://schemas.openxmlformats.org/drawingml/2006/table">
            <a:tbl>
              <a:tblPr firstRow="1" bandRow="1">
                <a:tableStyleId>{5940675A-B579-460E-94D1-54222C63F5DA}</a:tableStyleId>
              </a:tblPr>
              <a:tblGrid>
                <a:gridCol w="936172">
                  <a:extLst>
                    <a:ext uri="{9D8B030D-6E8A-4147-A177-3AD203B41FA5}">
                      <a16:colId xmlns:a16="http://schemas.microsoft.com/office/drawing/2014/main" val="20000"/>
                    </a:ext>
                  </a:extLst>
                </a:gridCol>
                <a:gridCol w="936172">
                  <a:extLst>
                    <a:ext uri="{9D8B030D-6E8A-4147-A177-3AD203B41FA5}">
                      <a16:colId xmlns:a16="http://schemas.microsoft.com/office/drawing/2014/main" val="20001"/>
                    </a:ext>
                  </a:extLst>
                </a:gridCol>
                <a:gridCol w="936172">
                  <a:extLst>
                    <a:ext uri="{9D8B030D-6E8A-4147-A177-3AD203B41FA5}">
                      <a16:colId xmlns:a16="http://schemas.microsoft.com/office/drawing/2014/main" val="20002"/>
                    </a:ext>
                  </a:extLst>
                </a:gridCol>
                <a:gridCol w="936172">
                  <a:extLst>
                    <a:ext uri="{9D8B030D-6E8A-4147-A177-3AD203B41FA5}">
                      <a16:colId xmlns:a16="http://schemas.microsoft.com/office/drawing/2014/main" val="20003"/>
                    </a:ext>
                  </a:extLst>
                </a:gridCol>
              </a:tblGrid>
              <a:tr h="370840">
                <a:tc>
                  <a:txBody>
                    <a:bodyPr/>
                    <a:lstStyle/>
                    <a:p>
                      <a:pPr algn="ctr">
                        <a:lnSpc>
                          <a:spcPct val="150000"/>
                        </a:lnSpc>
                      </a:pPr>
                      <a:r>
                        <a:rPr lang="en-US" altLang="zh-CN" dirty="0">
                          <a:latin typeface="+mn-lt"/>
                        </a:rPr>
                        <a:t>i-1,…</a:t>
                      </a:r>
                      <a:endParaRPr lang="zh-CN" altLang="en-US" dirty="0">
                        <a:latin typeface="+mn-lt"/>
                      </a:endParaRPr>
                    </a:p>
                  </a:txBody>
                  <a:tcPr>
                    <a:lnB w="12700" cap="flat" cmpd="sng" algn="ctr">
                      <a:solidFill>
                        <a:schemeClr val="tx1"/>
                      </a:solidFill>
                      <a:prstDash val="sysDot"/>
                      <a:round/>
                      <a:headEnd type="none" w="med" len="med"/>
                      <a:tailEnd type="none" w="med" len="med"/>
                    </a:lnB>
                  </a:tcPr>
                </a:tc>
                <a:tc>
                  <a:txBody>
                    <a:bodyPr/>
                    <a:lstStyle/>
                    <a:p>
                      <a:pPr algn="ctr">
                        <a:lnSpc>
                          <a:spcPct val="150000"/>
                        </a:lnSpc>
                      </a:pPr>
                      <a:r>
                        <a:rPr lang="en-US" altLang="zh-CN" dirty="0">
                          <a:latin typeface="+mn-lt"/>
                        </a:rPr>
                        <a:t>i-1, j-vi</a:t>
                      </a:r>
                      <a:endParaRPr lang="zh-CN" altLang="en-US" dirty="0">
                        <a:latin typeface="+mn-lt"/>
                      </a:endParaRPr>
                    </a:p>
                  </a:txBody>
                  <a:tcPr>
                    <a:lnB w="12700" cap="flat" cmpd="sng" algn="ctr">
                      <a:solidFill>
                        <a:schemeClr val="tx1"/>
                      </a:solidFill>
                      <a:prstDash val="sysDot"/>
                      <a:round/>
                      <a:headEnd type="none" w="med" len="med"/>
                      <a:tailEnd type="none" w="med" len="med"/>
                    </a:lnB>
                  </a:tcPr>
                </a:tc>
                <a:tc>
                  <a:txBody>
                    <a:bodyPr/>
                    <a:lstStyle/>
                    <a:p>
                      <a:pPr algn="ctr">
                        <a:lnSpc>
                          <a:spcPct val="150000"/>
                        </a:lnSpc>
                      </a:pPr>
                      <a:r>
                        <a:rPr lang="en-US" altLang="zh-CN" dirty="0">
                          <a:latin typeface="+mn-lt"/>
                        </a:rPr>
                        <a:t>……</a:t>
                      </a:r>
                      <a:endParaRPr lang="zh-CN" altLang="en-US" dirty="0">
                        <a:latin typeface="+mn-lt"/>
                      </a:endParaRPr>
                    </a:p>
                  </a:txBody>
                  <a:tcPr>
                    <a:lnB w="12700" cap="flat" cmpd="sng" algn="ctr">
                      <a:solidFill>
                        <a:schemeClr val="tx1"/>
                      </a:solidFill>
                      <a:prstDash val="sysDot"/>
                      <a:round/>
                      <a:headEnd type="none" w="med" len="med"/>
                      <a:tailEnd type="none" w="med" len="med"/>
                    </a:lnB>
                  </a:tcPr>
                </a:tc>
                <a:tc>
                  <a:txBody>
                    <a:bodyPr/>
                    <a:lstStyle/>
                    <a:p>
                      <a:pPr algn="ctr">
                        <a:lnSpc>
                          <a:spcPct val="150000"/>
                        </a:lnSpc>
                      </a:pPr>
                      <a:r>
                        <a:rPr lang="en-US" altLang="zh-CN" dirty="0">
                          <a:latin typeface="+mn-lt"/>
                        </a:rPr>
                        <a:t>i-1, j</a:t>
                      </a:r>
                      <a:endParaRPr lang="zh-CN" altLang="en-US" dirty="0">
                        <a:latin typeface="+mn-lt"/>
                      </a:endParaRPr>
                    </a:p>
                  </a:txBody>
                  <a:tcPr>
                    <a:lnB w="12700"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0"/>
                  </a:ext>
                </a:extLst>
              </a:tr>
              <a:tr h="370840">
                <a:tc>
                  <a:txBody>
                    <a:bodyPr/>
                    <a:lstStyle/>
                    <a:p>
                      <a:pPr algn="ctr">
                        <a:lnSpc>
                          <a:spcPct val="150000"/>
                        </a:lnSpc>
                      </a:pPr>
                      <a:r>
                        <a:rPr lang="zh-CN" altLang="en-US" b="1" dirty="0">
                          <a:solidFill>
                            <a:srgbClr val="FF0000"/>
                          </a:solidFill>
                          <a:latin typeface="+mn-lt"/>
                        </a:rPr>
                        <a:t>④</a:t>
                      </a:r>
                      <a:endParaRPr lang="zh-CN" altLang="en-US" dirty="0">
                        <a:latin typeface="+mn-lt"/>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BlToTr w="12700" cap="flat" cmpd="sng" algn="ctr">
                      <a:noFill/>
                      <a:prstDash val="sysDot"/>
                      <a:round/>
                      <a:headEnd type="none" w="med" len="med"/>
                      <a:tailEnd type="none" w="med" len="med"/>
                    </a:lnBlToTr>
                  </a:tcPr>
                </a:tc>
                <a:tc>
                  <a:txBody>
                    <a:bodyPr/>
                    <a:lstStyle/>
                    <a:p>
                      <a:pPr algn="ctr">
                        <a:lnSpc>
                          <a:spcPct val="150000"/>
                        </a:lnSpc>
                      </a:pPr>
                      <a:r>
                        <a:rPr lang="zh-CN" altLang="en-US" b="1" dirty="0">
                          <a:solidFill>
                            <a:srgbClr val="FF0000"/>
                          </a:solidFill>
                          <a:latin typeface="+mn-lt"/>
                        </a:rPr>
                        <a:t>③</a:t>
                      </a:r>
                      <a:endParaRPr lang="zh-CN" altLang="en-US" dirty="0">
                        <a:latin typeface="+mn-lt"/>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BlToTr w="12700" cap="flat" cmpd="sng" algn="ctr">
                      <a:noFill/>
                      <a:prstDash val="sysDot"/>
                      <a:round/>
                      <a:headEnd type="none" w="med" len="med"/>
                      <a:tailEnd type="none" w="med" len="med"/>
                    </a:lnBlToTr>
                  </a:tcPr>
                </a:tc>
                <a:tc>
                  <a:txBody>
                    <a:bodyPr/>
                    <a:lstStyle/>
                    <a:p>
                      <a:pPr marL="0" marR="0" lvl="0" indent="0" algn="ctr" defTabSz="685800" rtl="0" eaLnBrk="1" fontAlgn="auto" latinLnBrk="0" hangingPunct="1">
                        <a:lnSpc>
                          <a:spcPct val="150000"/>
                        </a:lnSpc>
                        <a:spcBef>
                          <a:spcPts val="0"/>
                        </a:spcBef>
                        <a:spcAft>
                          <a:spcPts val="0"/>
                        </a:spcAft>
                        <a:buClrTx/>
                        <a:buSzTx/>
                        <a:buFontTx/>
                        <a:buNone/>
                        <a:defRPr/>
                      </a:pPr>
                      <a:r>
                        <a:rPr lang="zh-CN" altLang="en-US" b="1" dirty="0">
                          <a:solidFill>
                            <a:srgbClr val="FF0000"/>
                          </a:solidFill>
                          <a:latin typeface="+mn-lt"/>
                        </a:rPr>
                        <a:t>②</a:t>
                      </a:r>
                      <a:endParaRPr lang="zh-CN" altLang="en-US" dirty="0">
                        <a:latin typeface="+mn-lt"/>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BlToTr w="12700" cap="flat" cmpd="sng" algn="ctr">
                      <a:noFill/>
                      <a:prstDash val="sysDot"/>
                      <a:round/>
                      <a:headEnd type="none" w="med" len="med"/>
                      <a:tailEnd type="none" w="med" len="med"/>
                    </a:lnBlToTr>
                  </a:tcPr>
                </a:tc>
                <a:tc>
                  <a:txBody>
                    <a:bodyPr/>
                    <a:lstStyle/>
                    <a:p>
                      <a:pPr marL="0" marR="0" lvl="0" indent="0" algn="ctr" defTabSz="685800" rtl="0" eaLnBrk="1" fontAlgn="auto" latinLnBrk="0" hangingPunct="1">
                        <a:lnSpc>
                          <a:spcPct val="150000"/>
                        </a:lnSpc>
                        <a:spcBef>
                          <a:spcPts val="0"/>
                        </a:spcBef>
                        <a:spcAft>
                          <a:spcPts val="0"/>
                        </a:spcAft>
                        <a:buClrTx/>
                        <a:buSzTx/>
                        <a:buFontTx/>
                        <a:buNone/>
                        <a:defRPr/>
                      </a:pPr>
                      <a:r>
                        <a:rPr lang="zh-CN" altLang="en-US" b="1" dirty="0">
                          <a:solidFill>
                            <a:srgbClr val="FF0000"/>
                          </a:solidFill>
                          <a:latin typeface="+mn-lt"/>
                        </a:rPr>
                        <a:t>①</a:t>
                      </a:r>
                      <a:r>
                        <a:rPr lang="en-US" altLang="zh-CN" dirty="0" err="1">
                          <a:latin typeface="+mn-lt"/>
                        </a:rPr>
                        <a:t>i</a:t>
                      </a:r>
                      <a:r>
                        <a:rPr lang="en-US" altLang="zh-CN" dirty="0">
                          <a:latin typeface="+mn-lt"/>
                        </a:rPr>
                        <a:t>, j</a:t>
                      </a:r>
                      <a:endParaRPr lang="zh-CN" altLang="en-US" dirty="0">
                        <a:latin typeface="+mn-lt"/>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BlToTr w="12700" cap="flat" cmpd="sng" algn="ctr">
                      <a:noFill/>
                      <a:prstDash val="sysDot"/>
                      <a:round/>
                      <a:headEnd type="none" w="med" len="med"/>
                      <a:tailEnd type="none" w="med" len="med"/>
                    </a:lnBlToTr>
                  </a:tcPr>
                </a:tc>
                <a:extLst>
                  <a:ext uri="{0D108BD9-81ED-4DB2-BD59-A6C34878D82A}">
                    <a16:rowId xmlns:a16="http://schemas.microsoft.com/office/drawing/2014/main" val="10001"/>
                  </a:ext>
                </a:extLst>
              </a:tr>
            </a:tbl>
          </a:graphicData>
        </a:graphic>
      </p:graphicFrame>
      <p:cxnSp>
        <p:nvCxnSpPr>
          <p:cNvPr id="14" name="直接箭头连接符 13"/>
          <p:cNvCxnSpPr/>
          <p:nvPr/>
        </p:nvCxnSpPr>
        <p:spPr>
          <a:xfrm>
            <a:off x="4152900" y="2449285"/>
            <a:ext cx="11811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对话气泡: 矩形 16"/>
          <p:cNvSpPr/>
          <p:nvPr/>
        </p:nvSpPr>
        <p:spPr>
          <a:xfrm>
            <a:off x="3902529" y="2792186"/>
            <a:ext cx="1475014" cy="674914"/>
          </a:xfrm>
          <a:prstGeom prst="wedgeRectCallout">
            <a:avLst>
              <a:gd name="adj1" fmla="val -47770"/>
              <a:gd name="adj2" fmla="val -79435"/>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3902529" y="2868033"/>
            <a:ext cx="1551215" cy="523220"/>
          </a:xfrm>
          <a:prstGeom prst="rect">
            <a:avLst/>
          </a:prstGeom>
          <a:noFill/>
        </p:spPr>
        <p:txBody>
          <a:bodyPr wrap="square" rtlCol="0">
            <a:spAutoFit/>
          </a:bodyPr>
          <a:lstStyle/>
          <a:p>
            <a:r>
              <a:rPr lang="zh-CN" altLang="en-US" sz="1400" dirty="0"/>
              <a:t>还没有被更新，还是</a:t>
            </a:r>
            <a:r>
              <a:rPr lang="en-US" altLang="zh-CN" sz="1400" dirty="0"/>
              <a:t>i-1</a:t>
            </a:r>
            <a:r>
              <a:rPr lang="zh-CN" altLang="en-US" sz="1400" dirty="0"/>
              <a:t>轮的结果</a:t>
            </a:r>
          </a:p>
        </p:txBody>
      </p:sp>
      <p:sp>
        <p:nvSpPr>
          <p:cNvPr id="2" name="文本框 1"/>
          <p:cNvSpPr txBox="1"/>
          <p:nvPr/>
        </p:nvSpPr>
        <p:spPr>
          <a:xfrm>
            <a:off x="1153886" y="1232151"/>
            <a:ext cx="3418114" cy="307777"/>
          </a:xfrm>
          <a:prstGeom prst="rect">
            <a:avLst/>
          </a:prstGeom>
          <a:noFill/>
        </p:spPr>
        <p:txBody>
          <a:bodyPr wrap="square" rtlCol="0">
            <a:spAutoFit/>
          </a:bodyPr>
          <a:lstStyle/>
          <a:p>
            <a:r>
              <a:rPr lang="zh-CN" altLang="en-US" sz="1400" dirty="0"/>
              <a:t>如果将 </a:t>
            </a:r>
            <a:r>
              <a:rPr lang="en-US" altLang="zh-CN" sz="1400" dirty="0"/>
              <a:t>j </a:t>
            </a:r>
            <a:r>
              <a:rPr lang="zh-CN" altLang="en-US" sz="1400" dirty="0"/>
              <a:t>的遍历方向反过来</a:t>
            </a:r>
            <a:r>
              <a:rPr lang="en-US" altLang="zh-CN" sz="1400" dirty="0"/>
              <a:t> </a:t>
            </a:r>
            <a:endParaRPr lang="zh-CN" altLang="en-US" sz="1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41245" y="488017"/>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sz="2400" b="1" dirty="0">
                <a:solidFill>
                  <a:srgbClr val="003CA6"/>
                </a:solidFill>
                <a:latin typeface="微软雅黑" panose="020B0503020204020204" charset="-122"/>
                <a:ea typeface="微软雅黑" panose="020B0503020204020204" charset="-122"/>
              </a:rPr>
              <a:t>自我滚动</a:t>
            </a:r>
          </a:p>
        </p:txBody>
      </p:sp>
      <p:sp>
        <p:nvSpPr>
          <p:cNvPr id="9" name="文本框 8"/>
          <p:cNvSpPr txBox="1"/>
          <p:nvPr>
            <p:custDataLst>
              <p:tags r:id="rId1"/>
            </p:custDataLst>
          </p:nvPr>
        </p:nvSpPr>
        <p:spPr>
          <a:xfrm>
            <a:off x="1167130" y="1350010"/>
            <a:ext cx="4712970" cy="2694305"/>
          </a:xfrm>
          <a:prstGeom prst="rect">
            <a:avLst/>
          </a:prstGeom>
          <a:solidFill>
            <a:schemeClr val="bg2"/>
          </a:solidFill>
        </p:spPr>
        <p:txBody>
          <a:bodyPr wrap="square" rtlCol="0">
            <a:noAutofit/>
          </a:bodyPr>
          <a:lstStyle/>
          <a:p>
            <a:pPr>
              <a:lnSpc>
                <a:spcPct val="100000"/>
              </a:lnSpc>
            </a:pPr>
            <a:r>
              <a:rPr lang="en-US" altLang="zh-CN" sz="1200" dirty="0">
                <a:solidFill>
                  <a:srgbClr val="AF00DB"/>
                </a:solidFill>
                <a:effectLst/>
                <a:latin typeface="Consolas" panose="020B0609020204030204" pitchFamily="49" charset="0"/>
                <a:sym typeface="+mn-ea"/>
              </a:rPr>
              <a:t>#include</a:t>
            </a:r>
            <a:r>
              <a:rPr lang="en-US" altLang="zh-CN" sz="1200" dirty="0">
                <a:solidFill>
                  <a:srgbClr val="0000FF"/>
                </a:solidFill>
                <a:effectLst/>
                <a:latin typeface="Consolas" panose="020B0609020204030204" pitchFamily="49" charset="0"/>
                <a:sym typeface="+mn-ea"/>
              </a:rPr>
              <a:t> </a:t>
            </a:r>
            <a:r>
              <a:rPr lang="en-US" altLang="zh-CN" sz="1200" dirty="0">
                <a:solidFill>
                  <a:srgbClr val="A31515"/>
                </a:solidFill>
                <a:effectLst/>
                <a:latin typeface="Consolas" panose="020B0609020204030204" pitchFamily="49" charset="0"/>
                <a:sym typeface="+mn-ea"/>
              </a:rPr>
              <a:t>&lt;bits/</a:t>
            </a:r>
            <a:r>
              <a:rPr lang="en-US" altLang="zh-CN" sz="1200" dirty="0" err="1">
                <a:solidFill>
                  <a:srgbClr val="A31515"/>
                </a:solidFill>
                <a:effectLst/>
                <a:latin typeface="Consolas" panose="020B0609020204030204" pitchFamily="49" charset="0"/>
                <a:sym typeface="+mn-ea"/>
              </a:rPr>
              <a:t>stdc</a:t>
            </a:r>
            <a:r>
              <a:rPr lang="en-US" altLang="zh-CN" sz="1200" dirty="0">
                <a:solidFill>
                  <a:srgbClr val="A31515"/>
                </a:solidFill>
                <a:effectLst/>
                <a:latin typeface="Consolas" panose="020B0609020204030204" pitchFamily="49" charset="0"/>
                <a:sym typeface="+mn-ea"/>
              </a:rPr>
              <a:t>++.h&gt;</a:t>
            </a:r>
            <a:endParaRPr lang="en-US" altLang="zh-CN" sz="1200" b="0" dirty="0">
              <a:solidFill>
                <a:srgbClr val="000000"/>
              </a:solidFill>
              <a:effectLst/>
              <a:latin typeface="Consolas" panose="020B0609020204030204" pitchFamily="49" charset="0"/>
            </a:endParaRPr>
          </a:p>
          <a:p>
            <a:pPr>
              <a:lnSpc>
                <a:spcPct val="100000"/>
              </a:lnSpc>
            </a:pPr>
            <a:r>
              <a:rPr lang="en-US" altLang="zh-CN" sz="1200" dirty="0">
                <a:solidFill>
                  <a:srgbClr val="AF00DB"/>
                </a:solidFill>
                <a:effectLst/>
                <a:latin typeface="Consolas" panose="020B0609020204030204" pitchFamily="49" charset="0"/>
                <a:sym typeface="+mn-ea"/>
              </a:rPr>
              <a:t>using</a:t>
            </a:r>
            <a:r>
              <a:rPr lang="en-US" altLang="zh-CN" sz="1200" dirty="0">
                <a:solidFill>
                  <a:srgbClr val="000000"/>
                </a:solidFill>
                <a:effectLst/>
                <a:latin typeface="Consolas" panose="020B0609020204030204" pitchFamily="49" charset="0"/>
                <a:sym typeface="+mn-ea"/>
              </a:rPr>
              <a:t> </a:t>
            </a:r>
            <a:r>
              <a:rPr lang="en-US" altLang="zh-CN" sz="1200" dirty="0">
                <a:solidFill>
                  <a:srgbClr val="0000FF"/>
                </a:solidFill>
                <a:effectLst/>
                <a:latin typeface="Consolas" panose="020B0609020204030204" pitchFamily="49" charset="0"/>
                <a:sym typeface="+mn-ea"/>
              </a:rPr>
              <a:t>namespace</a:t>
            </a:r>
            <a:r>
              <a:rPr lang="en-US" altLang="zh-CN" sz="1200" dirty="0">
                <a:solidFill>
                  <a:srgbClr val="000000"/>
                </a:solidFill>
                <a:effectLst/>
                <a:latin typeface="Consolas" panose="020B0609020204030204" pitchFamily="49" charset="0"/>
                <a:sym typeface="+mn-ea"/>
              </a:rPr>
              <a:t> </a:t>
            </a:r>
            <a:r>
              <a:rPr lang="en-US" altLang="zh-CN" sz="1200" dirty="0">
                <a:solidFill>
                  <a:srgbClr val="267F99"/>
                </a:solidFill>
                <a:effectLst/>
                <a:latin typeface="Consolas" panose="020B0609020204030204" pitchFamily="49" charset="0"/>
                <a:sym typeface="+mn-ea"/>
              </a:rPr>
              <a:t>std</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FF"/>
                </a:solidFill>
                <a:effectLst/>
                <a:latin typeface="Consolas" panose="020B0609020204030204" pitchFamily="49" charset="0"/>
                <a:sym typeface="+mn-ea"/>
              </a:rPr>
              <a:t>int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n</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m</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w</a:t>
            </a:r>
            <a:r>
              <a:rPr lang="en-US" altLang="zh-CN" sz="1200" dirty="0">
                <a:solidFill>
                  <a:srgbClr val="000000"/>
                </a:solidFill>
                <a:effectLst/>
                <a:latin typeface="Consolas" panose="020B0609020204030204" pitchFamily="49" charset="0"/>
                <a:sym typeface="+mn-ea"/>
              </a:rPr>
              <a:t>[</a:t>
            </a:r>
            <a:r>
              <a:rPr lang="en-US" altLang="zh-CN" sz="1200" dirty="0">
                <a:solidFill>
                  <a:srgbClr val="098658"/>
                </a:solidFill>
                <a:effectLst/>
                <a:latin typeface="Consolas" panose="020B0609020204030204" pitchFamily="49" charset="0"/>
                <a:sym typeface="+mn-ea"/>
              </a:rPr>
              <a:t>3410</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d</a:t>
            </a:r>
            <a:r>
              <a:rPr lang="en-US" altLang="zh-CN" sz="1200" dirty="0">
                <a:solidFill>
                  <a:srgbClr val="000000"/>
                </a:solidFill>
                <a:effectLst/>
                <a:latin typeface="Consolas" panose="020B0609020204030204" pitchFamily="49" charset="0"/>
                <a:sym typeface="+mn-ea"/>
              </a:rPr>
              <a:t>[</a:t>
            </a:r>
            <a:r>
              <a:rPr lang="en-US" altLang="zh-CN" sz="1200" dirty="0">
                <a:solidFill>
                  <a:srgbClr val="098658"/>
                </a:solidFill>
                <a:effectLst/>
                <a:latin typeface="Consolas" panose="020B0609020204030204" pitchFamily="49" charset="0"/>
                <a:sym typeface="+mn-ea"/>
              </a:rPr>
              <a:t>3410</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98658"/>
                </a:solidFill>
                <a:effectLst/>
                <a:latin typeface="Consolas" panose="020B0609020204030204" pitchFamily="49" charset="0"/>
                <a:sym typeface="+mn-ea"/>
              </a:rPr>
              <a:t>12890</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FF"/>
                </a:solidFill>
                <a:effectLst/>
                <a:latin typeface="Consolas" panose="020B0609020204030204" pitchFamily="49" charset="0"/>
                <a:sym typeface="+mn-ea"/>
              </a:rPr>
              <a:t>int</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main</a:t>
            </a:r>
            <a:r>
              <a:rPr lang="en-US" altLang="zh-CN" sz="1200" dirty="0">
                <a:solidFill>
                  <a:srgbClr val="000000"/>
                </a:solidFill>
                <a:effectLst/>
                <a:latin typeface="Consolas" panose="020B0609020204030204" pitchFamily="49" charset="0"/>
                <a:sym typeface="+mn-ea"/>
              </a:rPr>
              <a:t>() {</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cin</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&gt;&gt;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n</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&gt;&gt;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m</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AF00DB"/>
                </a:solidFill>
                <a:effectLst/>
                <a:latin typeface="Consolas" panose="020B0609020204030204" pitchFamily="49" charset="0"/>
                <a:sym typeface="+mn-ea"/>
              </a:rPr>
              <a:t>for</a:t>
            </a:r>
            <a:r>
              <a:rPr lang="en-US" altLang="zh-CN" sz="1200" dirty="0">
                <a:solidFill>
                  <a:srgbClr val="000000"/>
                </a:solidFill>
                <a:effectLst/>
                <a:latin typeface="Consolas" panose="020B0609020204030204" pitchFamily="49" charset="0"/>
                <a:sym typeface="+mn-ea"/>
              </a:rPr>
              <a:t> (</a:t>
            </a:r>
            <a:r>
              <a:rPr lang="en-US" altLang="zh-CN" sz="1200" dirty="0">
                <a:solidFill>
                  <a:srgbClr val="0000FF"/>
                </a:solidFill>
                <a:effectLst/>
                <a:latin typeface="Consolas" panose="020B0609020204030204" pitchFamily="49" charset="0"/>
                <a:sym typeface="+mn-ea"/>
              </a:rPr>
              <a:t>int</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 </a:t>
            </a:r>
            <a:r>
              <a:rPr lang="en-US" altLang="zh-CN" sz="1200" dirty="0">
                <a:solidFill>
                  <a:srgbClr val="098658"/>
                </a:solidFill>
                <a:effectLst/>
                <a:latin typeface="Consolas" panose="020B0609020204030204" pitchFamily="49" charset="0"/>
                <a:sym typeface="+mn-ea"/>
              </a:rPr>
              <a:t>1</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&lt;= </a:t>
            </a:r>
            <a:r>
              <a:rPr lang="en-US" altLang="zh-CN" sz="1200" dirty="0">
                <a:solidFill>
                  <a:srgbClr val="001080"/>
                </a:solidFill>
                <a:effectLst/>
                <a:latin typeface="Consolas" panose="020B0609020204030204" pitchFamily="49" charset="0"/>
                <a:sym typeface="+mn-ea"/>
              </a:rPr>
              <a:t>n</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cin</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&gt;&gt;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w</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&gt;&gt;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d</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AF00DB"/>
                </a:solidFill>
                <a:effectLst/>
                <a:latin typeface="Consolas" panose="020B0609020204030204" pitchFamily="49" charset="0"/>
                <a:sym typeface="+mn-ea"/>
              </a:rPr>
              <a:t>for</a:t>
            </a:r>
            <a:r>
              <a:rPr lang="en-US" altLang="zh-CN" sz="1200" dirty="0">
                <a:solidFill>
                  <a:srgbClr val="000000"/>
                </a:solidFill>
                <a:effectLst/>
                <a:latin typeface="Consolas" panose="020B0609020204030204" pitchFamily="49" charset="0"/>
                <a:sym typeface="+mn-ea"/>
              </a:rPr>
              <a:t> (</a:t>
            </a:r>
            <a:r>
              <a:rPr lang="en-US" altLang="zh-CN" sz="1200" dirty="0">
                <a:solidFill>
                  <a:srgbClr val="0000FF"/>
                </a:solidFill>
                <a:effectLst/>
                <a:latin typeface="Consolas" panose="020B0609020204030204" pitchFamily="49" charset="0"/>
                <a:sym typeface="+mn-ea"/>
              </a:rPr>
              <a:t>int</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 </a:t>
            </a:r>
            <a:r>
              <a:rPr lang="en-US" altLang="zh-CN" sz="1200" dirty="0">
                <a:solidFill>
                  <a:srgbClr val="098658"/>
                </a:solidFill>
                <a:effectLst/>
                <a:latin typeface="Consolas" panose="020B0609020204030204" pitchFamily="49" charset="0"/>
                <a:sym typeface="+mn-ea"/>
              </a:rPr>
              <a:t>1</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&lt;= </a:t>
            </a:r>
            <a:r>
              <a:rPr lang="en-US" altLang="zh-CN" sz="1200" dirty="0">
                <a:solidFill>
                  <a:srgbClr val="001080"/>
                </a:solidFill>
                <a:effectLst/>
                <a:latin typeface="Consolas" panose="020B0609020204030204" pitchFamily="49" charset="0"/>
                <a:sym typeface="+mn-ea"/>
              </a:rPr>
              <a:t>n</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AF00DB"/>
                </a:solidFill>
                <a:effectLst/>
                <a:latin typeface="Consolas" panose="020B0609020204030204" pitchFamily="49" charset="0"/>
                <a:sym typeface="+mn-ea"/>
              </a:rPr>
              <a:t>for</a:t>
            </a:r>
            <a:r>
              <a:rPr lang="en-US" altLang="zh-CN" sz="1200" dirty="0">
                <a:solidFill>
                  <a:srgbClr val="000000"/>
                </a:solidFill>
                <a:effectLst/>
                <a:latin typeface="Consolas" panose="020B0609020204030204" pitchFamily="49" charset="0"/>
                <a:sym typeface="+mn-ea"/>
              </a:rPr>
              <a:t> (</a:t>
            </a:r>
            <a:r>
              <a:rPr lang="en-US" altLang="zh-CN" sz="1200" dirty="0">
                <a:solidFill>
                  <a:srgbClr val="0000FF"/>
                </a:solidFill>
                <a:effectLst/>
                <a:latin typeface="Consolas" panose="020B0609020204030204" pitchFamily="49" charset="0"/>
                <a:sym typeface="+mn-ea"/>
              </a:rPr>
              <a:t>int</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 </a:t>
            </a:r>
            <a:r>
              <a:rPr lang="en-US" altLang="zh-CN" sz="1200" dirty="0">
                <a:solidFill>
                  <a:srgbClr val="001080"/>
                </a:solidFill>
                <a:effectLst/>
                <a:latin typeface="Consolas" panose="020B0609020204030204" pitchFamily="49" charset="0"/>
                <a:sym typeface="+mn-ea"/>
              </a:rPr>
              <a:t>m</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&gt;= </a:t>
            </a:r>
            <a:r>
              <a:rPr lang="en-US" altLang="zh-CN" sz="1200" dirty="0">
                <a:solidFill>
                  <a:srgbClr val="001080"/>
                </a:solidFill>
                <a:effectLst/>
                <a:latin typeface="Consolas" panose="020B0609020204030204" pitchFamily="49" charset="0"/>
                <a:sym typeface="+mn-ea"/>
              </a:rPr>
              <a:t>w</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 </a:t>
            </a:r>
            <a:r>
              <a:rPr lang="en-US" altLang="zh-CN" sz="1200" dirty="0">
                <a:solidFill>
                  <a:srgbClr val="795E26"/>
                </a:solidFill>
                <a:effectLst/>
                <a:latin typeface="Consolas" panose="020B0609020204030204" pitchFamily="49" charset="0"/>
                <a:sym typeface="+mn-ea"/>
              </a:rPr>
              <a:t>max</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j</a:t>
            </a:r>
            <a:r>
              <a:rPr lang="en-US" altLang="zh-CN" sz="1200" dirty="0">
                <a:solidFill>
                  <a:srgbClr val="000000"/>
                </a:solidFill>
                <a:effectLst/>
                <a:latin typeface="Consolas" panose="020B0609020204030204" pitchFamily="49" charset="0"/>
                <a:sym typeface="+mn-ea"/>
              </a:rPr>
              <a:t> - </a:t>
            </a:r>
            <a:r>
              <a:rPr lang="en-US" altLang="zh-CN" sz="1200" dirty="0">
                <a:solidFill>
                  <a:srgbClr val="001080"/>
                </a:solidFill>
                <a:effectLst/>
                <a:latin typeface="Consolas" panose="020B0609020204030204" pitchFamily="49" charset="0"/>
                <a:sym typeface="+mn-ea"/>
              </a:rPr>
              <a:t>w</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 + </a:t>
            </a:r>
            <a:r>
              <a:rPr lang="en-US" altLang="zh-CN" sz="1200" dirty="0">
                <a:solidFill>
                  <a:srgbClr val="001080"/>
                </a:solidFill>
                <a:effectLst/>
                <a:latin typeface="Consolas" panose="020B0609020204030204" pitchFamily="49" charset="0"/>
                <a:sym typeface="+mn-ea"/>
              </a:rPr>
              <a:t>d</a:t>
            </a:r>
            <a:r>
              <a:rPr lang="en-US" altLang="zh-CN" sz="1200" dirty="0">
                <a:solidFill>
                  <a:srgbClr val="000000"/>
                </a:solidFill>
                <a:effectLst/>
                <a:latin typeface="Consolas" panose="020B0609020204030204" pitchFamily="49" charset="0"/>
                <a:sym typeface="+mn-ea"/>
              </a:rPr>
              <a:t>[</a:t>
            </a:r>
            <a:r>
              <a:rPr lang="en-US" altLang="zh-CN" sz="1200" dirty="0" err="1">
                <a:solidFill>
                  <a:srgbClr val="001080"/>
                </a:solidFill>
                <a:effectLst/>
                <a:latin typeface="Consolas" panose="020B0609020204030204" pitchFamily="49" charset="0"/>
                <a:sym typeface="+mn-ea"/>
              </a:rPr>
              <a:t>i</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p>
          <a:p>
            <a:pPr>
              <a:lnSpc>
                <a:spcPct val="100000"/>
              </a:lnSpc>
            </a:pPr>
            <a:r>
              <a:rPr lang="en-US" altLang="zh-CN" sz="1200" dirty="0">
                <a:solidFill>
                  <a:srgbClr val="000000"/>
                </a:solidFill>
                <a:effectLst/>
                <a:latin typeface="Consolas" panose="020B0609020204030204" pitchFamily="49" charset="0"/>
                <a:sym typeface="+mn-ea"/>
              </a:rPr>
              <a:t>    }</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cout</a:t>
            </a:r>
            <a:r>
              <a:rPr lang="en-US" altLang="zh-CN" sz="1200" dirty="0">
                <a:solidFill>
                  <a:srgbClr val="000000"/>
                </a:solidFill>
                <a:effectLst/>
                <a:latin typeface="Consolas" panose="020B0609020204030204" pitchFamily="49" charset="0"/>
                <a:sym typeface="+mn-ea"/>
              </a:rPr>
              <a:t> </a:t>
            </a:r>
            <a:r>
              <a:rPr lang="en-US" altLang="zh-CN" sz="1200" dirty="0">
                <a:solidFill>
                  <a:srgbClr val="795E26"/>
                </a:solidFill>
                <a:effectLst/>
                <a:latin typeface="Consolas" panose="020B0609020204030204" pitchFamily="49" charset="0"/>
                <a:sym typeface="+mn-ea"/>
              </a:rPr>
              <a:t>&lt;&lt;</a:t>
            </a:r>
            <a:r>
              <a:rPr lang="en-US" altLang="zh-CN" sz="1200" dirty="0">
                <a:solidFill>
                  <a:srgbClr val="000000"/>
                </a:solidFill>
                <a:effectLst/>
                <a:latin typeface="Consolas" panose="020B0609020204030204" pitchFamily="49" charset="0"/>
                <a:sym typeface="+mn-ea"/>
              </a:rPr>
              <a:t> </a:t>
            </a:r>
            <a:r>
              <a:rPr lang="en-US" altLang="zh-CN" sz="1200" dirty="0" err="1">
                <a:solidFill>
                  <a:srgbClr val="001080"/>
                </a:solidFill>
                <a:effectLst/>
                <a:latin typeface="Consolas" panose="020B0609020204030204" pitchFamily="49" charset="0"/>
                <a:sym typeface="+mn-ea"/>
              </a:rPr>
              <a:t>dp</a:t>
            </a:r>
            <a:r>
              <a:rPr lang="en-US" altLang="zh-CN" sz="1200" dirty="0">
                <a:solidFill>
                  <a:srgbClr val="000000"/>
                </a:solidFill>
                <a:effectLst/>
                <a:latin typeface="Consolas" panose="020B0609020204030204" pitchFamily="49" charset="0"/>
                <a:sym typeface="+mn-ea"/>
              </a:rPr>
              <a:t>[</a:t>
            </a:r>
            <a:r>
              <a:rPr lang="en-US" altLang="zh-CN" sz="1200" dirty="0">
                <a:solidFill>
                  <a:srgbClr val="001080"/>
                </a:solidFill>
                <a:effectLst/>
                <a:latin typeface="Consolas" panose="020B0609020204030204" pitchFamily="49" charset="0"/>
                <a:sym typeface="+mn-ea"/>
              </a:rPr>
              <a:t>m</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t>
            </a:r>
            <a:r>
              <a:rPr lang="en-US" altLang="zh-CN" sz="1200" dirty="0">
                <a:solidFill>
                  <a:srgbClr val="AF00DB"/>
                </a:solidFill>
                <a:effectLst/>
                <a:latin typeface="Consolas" panose="020B0609020204030204" pitchFamily="49" charset="0"/>
                <a:sym typeface="+mn-ea"/>
              </a:rPr>
              <a:t>return</a:t>
            </a:r>
            <a:r>
              <a:rPr lang="en-US" altLang="zh-CN" sz="1200" dirty="0">
                <a:solidFill>
                  <a:srgbClr val="000000"/>
                </a:solidFill>
                <a:effectLst/>
                <a:latin typeface="Consolas" panose="020B0609020204030204" pitchFamily="49" charset="0"/>
                <a:sym typeface="+mn-ea"/>
              </a:rPr>
              <a:t> </a:t>
            </a:r>
            <a:r>
              <a:rPr lang="en-US" altLang="zh-CN" sz="1200" dirty="0">
                <a:solidFill>
                  <a:srgbClr val="098658"/>
                </a:solidFill>
                <a:effectLst/>
                <a:latin typeface="Consolas" panose="020B0609020204030204" pitchFamily="49" charset="0"/>
                <a:sym typeface="+mn-ea"/>
              </a:rPr>
              <a:t>0</a:t>
            </a: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a:t>
            </a:r>
          </a:p>
          <a:p>
            <a:pPr>
              <a:lnSpc>
                <a:spcPct val="100000"/>
              </a:lnSpc>
            </a:pPr>
            <a:r>
              <a:rPr lang="en-US" altLang="zh-CN" sz="1200" dirty="0">
                <a:solidFill>
                  <a:srgbClr val="000000"/>
                </a:solidFill>
                <a:effectLst/>
                <a:latin typeface="Consolas" panose="020B0609020204030204" pitchFamily="49" charset="0"/>
                <a:sym typeface="+mn-ea"/>
              </a:rPr>
              <a:t/>
            </a:r>
            <a:br>
              <a:rPr lang="en-US" altLang="zh-CN" sz="1200" dirty="0">
                <a:solidFill>
                  <a:srgbClr val="000000"/>
                </a:solidFill>
                <a:effectLst/>
                <a:latin typeface="Consolas" panose="020B0609020204030204" pitchFamily="49" charset="0"/>
                <a:sym typeface="+mn-ea"/>
              </a:rPr>
            </a:br>
            <a:endParaRPr lang="en-US" altLang="zh-CN" sz="1200" b="0" dirty="0">
              <a:solidFill>
                <a:srgbClr val="000000"/>
              </a:solidFill>
              <a:effectLst/>
              <a:latin typeface="Consolas" panose="020B0609020204030204" pitchFamily="49" charset="0"/>
            </a:endParaRPr>
          </a:p>
        </p:txBody>
      </p:sp>
      <p:sp>
        <p:nvSpPr>
          <p:cNvPr id="10" name="矩形 9"/>
          <p:cNvSpPr/>
          <p:nvPr>
            <p:custDataLst>
              <p:tags r:id="rId2"/>
            </p:custDataLst>
          </p:nvPr>
        </p:nvSpPr>
        <p:spPr>
          <a:xfrm>
            <a:off x="3554095" y="1744345"/>
            <a:ext cx="1071880" cy="221615"/>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矩形 10"/>
          <p:cNvSpPr/>
          <p:nvPr>
            <p:custDataLst>
              <p:tags r:id="rId3"/>
            </p:custDataLst>
          </p:nvPr>
        </p:nvSpPr>
        <p:spPr>
          <a:xfrm>
            <a:off x="1932305" y="2680335"/>
            <a:ext cx="2679065" cy="198755"/>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custDataLst>
              <p:tags r:id="rId1"/>
            </p:custDataLst>
          </p:nvPr>
        </p:nvSpPr>
        <p:spPr>
          <a:xfrm>
            <a:off x="189230" y="243205"/>
            <a:ext cx="8566150" cy="677545"/>
          </a:xfrm>
          <a:prstGeom prst="rect">
            <a:avLst/>
          </a:prstGeom>
        </p:spPr>
        <p:txBody>
          <a:bodyPr vert="horz" lIns="68580" tIns="34290" rIns="68580" bIns="34290" rtlCol="0" anchor="ctr">
            <a:normAutofit/>
          </a:bodyPr>
          <a:lstStyle>
            <a:lvl1pPr algn="l" defTabSz="914400" rtl="0" eaLnBrk="1" latinLnBrk="0" hangingPunct="1">
              <a:lnSpc>
                <a:spcPct val="85000"/>
              </a:lnSpc>
              <a:spcBef>
                <a:spcPct val="0"/>
              </a:spcBef>
              <a:buNone/>
              <a:defRPr sz="4000" kern="1200" spc="-50" baseline="0">
                <a:solidFill>
                  <a:schemeClr val="tx1">
                    <a:lumMod val="75000"/>
                    <a:lumOff val="25000"/>
                  </a:schemeClr>
                </a:solidFill>
                <a:latin typeface="微软雅黑" panose="020B0503020204020204" charset="-122"/>
                <a:ea typeface="微软雅黑" panose="020B0503020204020204" charset="-122"/>
                <a:cs typeface="+mj-cs"/>
              </a:defRPr>
            </a:lvl1pPr>
          </a:lstStyle>
          <a:p>
            <a:pPr algn="l"/>
            <a:r>
              <a:rPr lang="en-US" altLang="zh-CN" sz="2400" b="1" dirty="0">
                <a:solidFill>
                  <a:srgbClr val="003CA6"/>
                </a:solidFill>
                <a:sym typeface="+mn-ea"/>
              </a:rPr>
              <a:t>P2925 [USACO08DEC]Hay For Sale S</a:t>
            </a:r>
            <a:endParaRPr lang="zh-CN" altLang="en-US" sz="2400" b="1" spc="0" dirty="0">
              <a:solidFill>
                <a:srgbClr val="003CA6"/>
              </a:solidFill>
            </a:endParaRPr>
          </a:p>
        </p:txBody>
      </p:sp>
      <p:sp>
        <p:nvSpPr>
          <p:cNvPr id="3" name="文本框 2"/>
          <p:cNvSpPr txBox="1"/>
          <p:nvPr/>
        </p:nvSpPr>
        <p:spPr>
          <a:xfrm>
            <a:off x="295075" y="822104"/>
            <a:ext cx="8552580" cy="3923030"/>
          </a:xfrm>
          <a:prstGeom prst="rect">
            <a:avLst/>
          </a:prstGeom>
          <a:noFill/>
        </p:spPr>
        <p:txBody>
          <a:bodyPr wrap="square">
            <a:spAutoFit/>
          </a:bodyPr>
          <a:lstStyle/>
          <a:p>
            <a:pPr>
              <a:lnSpc>
                <a:spcPct val="150000"/>
              </a:lnSpc>
            </a:pPr>
            <a:r>
              <a:rPr lang="zh-CN" altLang="en-US" sz="1400" b="1" dirty="0">
                <a:latin typeface="微软雅黑" panose="020B0503020204020204" charset="-122"/>
                <a:ea typeface="微软雅黑" panose="020B0503020204020204" charset="-122"/>
              </a:rPr>
              <a:t>题目描述</a:t>
            </a:r>
            <a:endParaRPr lang="en-US" altLang="zh-CN" sz="1400" dirty="0">
              <a:effectLst/>
              <a:latin typeface="微软雅黑" panose="020B0503020204020204" charset="-122"/>
              <a:ea typeface="微软雅黑" panose="020B0503020204020204" charset="-122"/>
            </a:endParaRPr>
          </a:p>
          <a:p>
            <a:pPr marL="0" indent="0" algn="l" fontAlgn="auto">
              <a:lnSpc>
                <a:spcPct val="150000"/>
              </a:lnSpc>
              <a:spcBef>
                <a:spcPts val="0"/>
              </a:spcBef>
              <a:buNone/>
            </a:pPr>
            <a:r>
              <a:rPr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农民john面临一个很可怕的事实，因为防范失措他存储的所有稻草给澳大利亚蟑螂吃光了，他将面临没有稻草喂养奶牛的局面。在奶牛断粮之前，john拉着他的马车到农民Don的农场中买一些稻草给奶牛过冬。已知john的马车可以装的下C(1 &lt;= C &lt;=50,000)立方的稻草。</a:t>
            </a:r>
          </a:p>
          <a:p>
            <a:pPr marL="0" indent="0" algn="l" fontAlgn="auto">
              <a:lnSpc>
                <a:spcPct val="150000"/>
              </a:lnSpc>
              <a:spcBef>
                <a:spcPts val="0"/>
              </a:spcBef>
              <a:buNone/>
            </a:pPr>
            <a:r>
              <a:rPr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农民Don有H(1 &lt;= H &lt;= 5,000)捆体积不同的稻草可供购买，每一捆稻草有它自己的体积(1 &lt;= V_i &lt;= C)。面对这些稻草john认真的计算如何充分利用马车的空间购买尽量多的稻草给他的奶牛过冬。</a:t>
            </a:r>
          </a:p>
          <a:p>
            <a:pPr marL="0" indent="0" algn="l" fontAlgn="auto">
              <a:lnSpc>
                <a:spcPct val="150000"/>
              </a:lnSpc>
              <a:spcBef>
                <a:spcPts val="0"/>
              </a:spcBef>
              <a:buNone/>
            </a:pPr>
            <a:r>
              <a:rPr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现在给定马车的最大容积C和每一捆稻草的体积Vi，john如何在不超过马车最大容积的情况下买到最大体积的稻草？他不可以把一捆稻草分开来买。</a:t>
            </a:r>
          </a:p>
          <a:p>
            <a:pPr>
              <a:lnSpc>
                <a:spcPct val="150000"/>
              </a:lnSpc>
            </a:pPr>
            <a:r>
              <a:rPr lang="zh-CN" altLang="en-US" sz="1400" b="1" dirty="0">
                <a:latin typeface="微软雅黑" panose="020B0503020204020204" charset="-122"/>
                <a:ea typeface="微软雅黑" panose="020B0503020204020204" charset="-122"/>
              </a:rPr>
              <a:t>输入</a:t>
            </a:r>
          </a:p>
          <a:p>
            <a:pPr marL="0" indent="0" algn="l" fontAlgn="auto">
              <a:lnSpc>
                <a:spcPct val="150000"/>
              </a:lnSpc>
              <a:spcBef>
                <a:spcPts val="0"/>
              </a:spcBef>
              <a:buNone/>
            </a:pPr>
            <a:r>
              <a:rPr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第一行两个整数，分别为C和H</a:t>
            </a:r>
          </a:p>
          <a:p>
            <a:pPr marL="0" indent="0" algn="l" fontAlgn="auto">
              <a:lnSpc>
                <a:spcPct val="150000"/>
              </a:lnSpc>
              <a:spcBef>
                <a:spcPts val="0"/>
              </a:spcBef>
              <a:buNone/>
            </a:pPr>
            <a:r>
              <a:rPr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第2..H+1行:每一行一个整数代表第i捆稻草的体积Vi</a:t>
            </a:r>
          </a:p>
          <a:p>
            <a:pPr>
              <a:lnSpc>
                <a:spcPct val="150000"/>
              </a:lnSpc>
            </a:pPr>
            <a:r>
              <a:rPr lang="zh-CN" altLang="en-US" sz="1400" b="1" dirty="0">
                <a:latin typeface="微软雅黑" panose="020B0503020204020204" charset="-122"/>
                <a:ea typeface="微软雅黑" panose="020B0503020204020204" charset="-122"/>
              </a:rPr>
              <a:t>输出</a:t>
            </a:r>
          </a:p>
          <a:p>
            <a:pPr>
              <a:lnSpc>
                <a:spcPct val="150000"/>
              </a:lnSpc>
            </a:pPr>
            <a:r>
              <a:rPr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一个整数，为john能买到的稻草的体积。</a:t>
            </a:r>
          </a:p>
          <a:p>
            <a:pPr>
              <a:lnSpc>
                <a:spcPct val="150000"/>
              </a:lnSpc>
            </a:pPr>
            <a:r>
              <a:rPr lang="zh-CN" altLang="en-US" sz="1400" b="1" dirty="0">
                <a:latin typeface="微软雅黑" panose="020B0503020204020204" charset="-122"/>
                <a:ea typeface="微软雅黑" panose="020B0503020204020204" charset="-122"/>
              </a:rPr>
              <a:t>数据范围</a:t>
            </a:r>
            <a:r>
              <a:rPr lang="zh-CN" altLang="en-US" sz="1400" dirty="0">
                <a:solidFill>
                  <a:srgbClr val="3091F2"/>
                </a:solidFill>
                <a:latin typeface="微软雅黑" panose="020B0503020204020204" charset="-122"/>
                <a:ea typeface="微软雅黑" panose="020B0503020204020204" charset="-122"/>
              </a:rPr>
              <a:t>  </a:t>
            </a:r>
            <a:endParaRPr lang="en-US" altLang="zh-CN" sz="1400" dirty="0">
              <a:solidFill>
                <a:srgbClr val="3091F2"/>
              </a:solidFill>
              <a:latin typeface="微软雅黑" panose="020B0503020204020204" charset="-122"/>
              <a:ea typeface="微软雅黑" panose="020B0503020204020204" charset="-122"/>
            </a:endParaRPr>
          </a:p>
          <a:p>
            <a:pPr>
              <a:lnSpc>
                <a:spcPct val="150000"/>
              </a:lnSpc>
            </a:pPr>
            <a:r>
              <a:rPr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 &lt;= C &lt;=50,000</a:t>
            </a:r>
          </a:p>
          <a:p>
            <a:pPr>
              <a:lnSpc>
                <a:spcPct val="150000"/>
              </a:lnSpc>
            </a:pPr>
            <a:r>
              <a:rPr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 &lt;= H &lt;= 5,000</a:t>
            </a:r>
          </a:p>
          <a:p>
            <a:pPr>
              <a:lnSpc>
                <a:spcPct val="150000"/>
              </a:lnSpc>
            </a:pPr>
            <a:r>
              <a:rPr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 &lt;= V_i &lt;= C</a:t>
            </a:r>
            <a:endParaRPr lang="en-US" altLang="zh-CN" sz="1000" dirty="0">
              <a:latin typeface="微软雅黑" panose="020B0503020204020204" charset="-122"/>
              <a:ea typeface="微软雅黑" panose="020B0503020204020204" charset="-122"/>
            </a:endParaRPr>
          </a:p>
        </p:txBody>
      </p:sp>
      <p:sp>
        <p:nvSpPr>
          <p:cNvPr id="4" name="文本框 3"/>
          <p:cNvSpPr txBox="1"/>
          <p:nvPr/>
        </p:nvSpPr>
        <p:spPr>
          <a:xfrm>
            <a:off x="6861810" y="2827655"/>
            <a:ext cx="1546225" cy="1383665"/>
          </a:xfrm>
          <a:prstGeom prst="rect">
            <a:avLst/>
          </a:prstGeom>
          <a:noFill/>
        </p:spPr>
        <p:txBody>
          <a:bodyPr wrap="square">
            <a:spAutoFit/>
          </a:bodyPr>
          <a:lstStyle/>
          <a:p>
            <a:r>
              <a:rPr lang="zh-CN" altLang="en-US" sz="1200" b="1" dirty="0">
                <a:latin typeface="微软雅黑" panose="020B0503020204020204" charset="-122"/>
                <a:ea typeface="微软雅黑" panose="020B0503020204020204" charset="-122"/>
              </a:rPr>
              <a:t>输入样例</a:t>
            </a:r>
            <a:r>
              <a:rPr lang="en-US" altLang="zh-CN" sz="1200" b="1" dirty="0">
                <a:latin typeface="微软雅黑" panose="020B0503020204020204" charset="-122"/>
                <a:ea typeface="微软雅黑" panose="020B0503020204020204" charset="-122"/>
              </a:rPr>
              <a:t>1</a:t>
            </a:r>
          </a:p>
          <a:p>
            <a:r>
              <a:rPr lang="zh-CN" altLang="en-US" sz="1200" dirty="0">
                <a:latin typeface="微软雅黑" panose="020B0503020204020204" charset="-122"/>
                <a:ea typeface="微软雅黑" panose="020B0503020204020204" charset="-122"/>
                <a:cs typeface="微软雅黑" panose="020B0503020204020204" charset="-122"/>
                <a:sym typeface="+mn-ea"/>
              </a:rPr>
              <a:t>7 3</a:t>
            </a:r>
            <a:endParaRPr lang="zh-CN" altLang="en-US" sz="1200" dirty="0">
              <a:latin typeface="微软雅黑" panose="020B0503020204020204" charset="-122"/>
              <a:ea typeface="微软雅黑" panose="020B0503020204020204" charset="-122"/>
              <a:cs typeface="微软雅黑" panose="020B0503020204020204" charset="-122"/>
            </a:endParaRPr>
          </a:p>
          <a:p>
            <a:r>
              <a:rPr lang="zh-CN" altLang="en-US" sz="1200" dirty="0">
                <a:latin typeface="微软雅黑" panose="020B0503020204020204" charset="-122"/>
                <a:ea typeface="微软雅黑" panose="020B0503020204020204" charset="-122"/>
                <a:cs typeface="微软雅黑" panose="020B0503020204020204" charset="-122"/>
                <a:sym typeface="+mn-ea"/>
              </a:rPr>
              <a:t>2</a:t>
            </a:r>
            <a:endParaRPr lang="zh-CN" altLang="en-US" sz="1200" dirty="0">
              <a:latin typeface="微软雅黑" panose="020B0503020204020204" charset="-122"/>
              <a:ea typeface="微软雅黑" panose="020B0503020204020204" charset="-122"/>
              <a:cs typeface="微软雅黑" panose="020B0503020204020204" charset="-122"/>
            </a:endParaRPr>
          </a:p>
          <a:p>
            <a:r>
              <a:rPr lang="zh-CN" altLang="en-US" sz="1200" dirty="0">
                <a:latin typeface="微软雅黑" panose="020B0503020204020204" charset="-122"/>
                <a:ea typeface="微软雅黑" panose="020B0503020204020204" charset="-122"/>
                <a:cs typeface="微软雅黑" panose="020B0503020204020204" charset="-122"/>
                <a:sym typeface="+mn-ea"/>
              </a:rPr>
              <a:t>6</a:t>
            </a:r>
            <a:endParaRPr lang="zh-CN" altLang="en-US" sz="1200" dirty="0">
              <a:latin typeface="微软雅黑" panose="020B0503020204020204" charset="-122"/>
              <a:ea typeface="微软雅黑" panose="020B0503020204020204" charset="-122"/>
              <a:cs typeface="微软雅黑" panose="020B0503020204020204" charset="-122"/>
            </a:endParaRPr>
          </a:p>
          <a:p>
            <a:r>
              <a:rPr lang="zh-CN" altLang="en-US" sz="1200" dirty="0">
                <a:latin typeface="微软雅黑" panose="020B0503020204020204" charset="-122"/>
                <a:ea typeface="微软雅黑" panose="020B0503020204020204" charset="-122"/>
                <a:cs typeface="微软雅黑" panose="020B0503020204020204" charset="-122"/>
                <a:sym typeface="+mn-ea"/>
              </a:rPr>
              <a:t>5</a:t>
            </a:r>
            <a:endParaRPr lang="zh-CN" altLang="en-US" sz="1200" dirty="0">
              <a:latin typeface="微软雅黑" panose="020B0503020204020204" charset="-122"/>
              <a:ea typeface="微软雅黑" panose="020B0503020204020204" charset="-122"/>
              <a:cs typeface="微软雅黑" panose="020B0503020204020204" charset="-122"/>
            </a:endParaRPr>
          </a:p>
          <a:p>
            <a:r>
              <a:rPr lang="zh-CN" altLang="en-US" sz="1200" b="1" i="0" dirty="0">
                <a:effectLst/>
                <a:latin typeface="微软雅黑" panose="020B0503020204020204" charset="-122"/>
                <a:ea typeface="微软雅黑" panose="020B0503020204020204" charset="-122"/>
              </a:rPr>
              <a:t>输出样例</a:t>
            </a:r>
            <a:r>
              <a:rPr lang="en-US" altLang="zh-CN" sz="1200" b="1" i="0" dirty="0">
                <a:effectLst/>
                <a:latin typeface="微软雅黑" panose="020B0503020204020204" charset="-122"/>
                <a:ea typeface="微软雅黑" panose="020B0503020204020204" charset="-122"/>
              </a:rPr>
              <a:t>1</a:t>
            </a:r>
          </a:p>
          <a:p>
            <a:r>
              <a:rPr lang="zh-CN" altLang="en-US" sz="1200" dirty="0">
                <a:latin typeface="微软雅黑" panose="020B0503020204020204" charset="-122"/>
                <a:ea typeface="微软雅黑" panose="020B0503020204020204" charset="-122"/>
                <a:cs typeface="微软雅黑" panose="020B0503020204020204" charset="-122"/>
                <a:sym typeface="+mn-ea"/>
              </a:rPr>
              <a:t>7</a:t>
            </a:r>
            <a:endParaRPr lang="en-US" altLang="zh-CN" sz="12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41245" y="488017"/>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b="1" dirty="0">
                <a:solidFill>
                  <a:srgbClr val="003CA6"/>
                </a:solidFill>
                <a:latin typeface="微软雅黑" panose="020B0503020204020204" charset="-122"/>
                <a:ea typeface="微软雅黑" panose="020B0503020204020204" charset="-122"/>
              </a:rPr>
              <a:t>P2925 [USACO08DEC]Hay For Sale S</a:t>
            </a:r>
            <a:endParaRPr lang="zh-CN" altLang="en-US" sz="2400" b="1" dirty="0">
              <a:solidFill>
                <a:srgbClr val="003CA6"/>
              </a:solidFill>
              <a:latin typeface="微软雅黑" panose="020B0503020204020204" charset="-122"/>
              <a:ea typeface="微软雅黑" panose="020B0503020204020204" charset="-122"/>
            </a:endParaRPr>
          </a:p>
        </p:txBody>
      </p:sp>
      <p:sp>
        <p:nvSpPr>
          <p:cNvPr id="4" name="TextBox 6"/>
          <p:cNvSpPr txBox="1">
            <a:spLocks noChangeArrowheads="1"/>
          </p:cNvSpPr>
          <p:nvPr>
            <p:custDataLst>
              <p:tags r:id="rId1"/>
            </p:custDataLst>
          </p:nvPr>
        </p:nvSpPr>
        <p:spPr bwMode="auto">
          <a:xfrm>
            <a:off x="1039959" y="1575707"/>
            <a:ext cx="8261509" cy="167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marL="0" indent="0" algn="l" fontAlgn="auto">
              <a:lnSpc>
                <a:spcPct val="200000"/>
              </a:lnSpc>
              <a:spcBef>
                <a:spcPts val="0"/>
              </a:spcBef>
              <a:buNone/>
            </a:pP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一共有</a:t>
            </a: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H</a:t>
            </a: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个物品，背包容量为</a:t>
            </a: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C</a:t>
            </a:r>
          </a:p>
          <a:p>
            <a:pPr marL="0" indent="0" algn="l" fontAlgn="auto">
              <a:lnSpc>
                <a:spcPct val="200000"/>
              </a:lnSpc>
              <a:spcBef>
                <a:spcPts val="0"/>
              </a:spcBef>
              <a:buNone/>
            </a:pP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每个物品只有体积 </a:t>
            </a: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Vi </a:t>
            </a: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一个属性</a:t>
            </a:r>
            <a:endPar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indent="0" algn="l" fontAlgn="auto">
              <a:lnSpc>
                <a:spcPct val="200000"/>
              </a:lnSpc>
              <a:spcBef>
                <a:spcPts val="0"/>
              </a:spcBef>
              <a:buNone/>
            </a:pP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每个物品只有 要（</a:t>
            </a: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）和 不要（</a:t>
            </a:r>
            <a:r>
              <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0</a:t>
            </a:r>
            <a:r>
              <a:rPr lang="zh-CN" altLang="en-US"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）两种状态</a:t>
            </a:r>
            <a:endParaRPr lang="en-US" altLang="zh-CN" sz="1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321502" y="277256"/>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b="1" dirty="0">
                <a:solidFill>
                  <a:srgbClr val="003CA6"/>
                </a:solidFill>
                <a:latin typeface="微软雅黑" panose="020B0503020204020204" charset="-122"/>
                <a:ea typeface="微软雅黑" panose="020B0503020204020204" charset="-122"/>
              </a:rPr>
              <a:t>P2925 [USACO08DEC]Hay For Sale S</a:t>
            </a:r>
            <a:endParaRPr lang="zh-CN" altLang="en-US" sz="2400" b="1" dirty="0">
              <a:solidFill>
                <a:srgbClr val="003CA6"/>
              </a:solidFill>
              <a:latin typeface="微软雅黑" panose="020B0503020204020204" charset="-122"/>
              <a:ea typeface="微软雅黑" panose="020B0503020204020204" charset="-122"/>
            </a:endParaRPr>
          </a:p>
        </p:txBody>
      </p:sp>
      <p:sp>
        <p:nvSpPr>
          <p:cNvPr id="5" name="文本框 4"/>
          <p:cNvSpPr txBox="1"/>
          <p:nvPr>
            <p:custDataLst>
              <p:tags r:id="rId1"/>
            </p:custDataLst>
          </p:nvPr>
        </p:nvSpPr>
        <p:spPr>
          <a:xfrm>
            <a:off x="1216025" y="818515"/>
            <a:ext cx="6204585" cy="3966845"/>
          </a:xfrm>
          <a:prstGeom prst="rect">
            <a:avLst/>
          </a:prstGeom>
          <a:solidFill>
            <a:schemeClr val="bg1">
              <a:lumMod val="85000"/>
            </a:schemeClr>
          </a:solid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0" dirty="0">
                <a:solidFill>
                  <a:srgbClr val="AF00DB"/>
                </a:solidFill>
                <a:effectLst/>
                <a:latin typeface="Consolas" panose="020B0609020204030204" pitchFamily="49" charset="0"/>
              </a:rPr>
              <a:t>#include</a:t>
            </a:r>
            <a:r>
              <a:rPr lang="en-US" altLang="zh-CN" sz="1600" b="0" dirty="0">
                <a:solidFill>
                  <a:srgbClr val="0000FF"/>
                </a:solidFill>
                <a:effectLst/>
                <a:latin typeface="Consolas" panose="020B0609020204030204" pitchFamily="49" charset="0"/>
              </a:rPr>
              <a:t> </a:t>
            </a:r>
            <a:r>
              <a:rPr lang="en-US" altLang="zh-CN" sz="1600" b="0" dirty="0">
                <a:solidFill>
                  <a:srgbClr val="A31515"/>
                </a:solidFill>
                <a:effectLst/>
                <a:latin typeface="Consolas" panose="020B0609020204030204" pitchFamily="49" charset="0"/>
              </a:rPr>
              <a:t>&lt;bits/</a:t>
            </a:r>
            <a:r>
              <a:rPr lang="en-US" altLang="zh-CN" sz="1600" b="0" dirty="0" err="1">
                <a:solidFill>
                  <a:srgbClr val="A31515"/>
                </a:solidFill>
                <a:effectLst/>
                <a:latin typeface="Consolas" panose="020B0609020204030204" pitchFamily="49" charset="0"/>
              </a:rPr>
              <a:t>stdc</a:t>
            </a:r>
            <a:r>
              <a:rPr lang="en-US" altLang="zh-CN" sz="1600" b="0" dirty="0">
                <a:solidFill>
                  <a:srgbClr val="A31515"/>
                </a:solidFill>
                <a:effectLst/>
                <a:latin typeface="Consolas" panose="020B0609020204030204" pitchFamily="49" charset="0"/>
              </a:rPr>
              <a:t>++.h&gt;</a:t>
            </a:r>
            <a:endParaRPr lang="en-US" altLang="zh-CN" sz="1600" b="0" dirty="0">
              <a:solidFill>
                <a:srgbClr val="000000"/>
              </a:solidFill>
              <a:effectLst/>
              <a:latin typeface="Consolas" panose="020B0609020204030204" pitchFamily="49" charset="0"/>
            </a:endParaRPr>
          </a:p>
          <a:p>
            <a:r>
              <a:rPr lang="en-US" altLang="zh-CN" sz="1600" b="0" dirty="0">
                <a:solidFill>
                  <a:srgbClr val="AF00DB"/>
                </a:solidFill>
                <a:effectLst/>
                <a:latin typeface="Consolas" panose="020B0609020204030204" pitchFamily="49" charset="0"/>
              </a:rPr>
              <a:t>using</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namespace</a:t>
            </a:r>
            <a:r>
              <a:rPr lang="en-US" altLang="zh-CN" sz="1600" b="0" dirty="0">
                <a:solidFill>
                  <a:srgbClr val="000000"/>
                </a:solidFill>
                <a:effectLst/>
                <a:latin typeface="Consolas" panose="020B0609020204030204" pitchFamily="49" charset="0"/>
              </a:rPr>
              <a:t> </a:t>
            </a:r>
            <a:r>
              <a:rPr lang="en-US" altLang="zh-CN" sz="1600" b="0" dirty="0">
                <a:solidFill>
                  <a:srgbClr val="267F99"/>
                </a:solidFill>
                <a:effectLst/>
                <a:latin typeface="Consolas" panose="020B0609020204030204" pitchFamily="49" charset="0"/>
              </a:rPr>
              <a:t>std</a:t>
            </a:r>
            <a:r>
              <a:rPr lang="en-US" altLang="zh-CN" sz="1600" b="0" dirty="0">
                <a:solidFill>
                  <a:srgbClr val="000000"/>
                </a:solidFill>
                <a:effectLst/>
                <a:latin typeface="Consolas" panose="020B0609020204030204" pitchFamily="49" charset="0"/>
              </a:rPr>
              <a:t>;</a:t>
            </a:r>
          </a:p>
          <a:p>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f</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1005</a:t>
            </a:r>
            <a:r>
              <a:rPr lang="en-US" altLang="zh-CN" sz="1600" b="0" dirty="0">
                <a:solidFill>
                  <a:srgbClr val="000000"/>
                </a:solidFill>
                <a:effectLst/>
                <a:latin typeface="Consolas" panose="020B0609020204030204" pitchFamily="49" charset="0"/>
              </a:rPr>
              <a:t>];</a:t>
            </a:r>
          </a:p>
          <a:p>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a</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1005</a:t>
            </a:r>
            <a:r>
              <a:rPr lang="en-US" altLang="zh-CN" sz="1600" b="0" dirty="0">
                <a:solidFill>
                  <a:srgbClr val="000000"/>
                </a:solidFill>
                <a:effectLst/>
                <a:latin typeface="Consolas" panose="020B0609020204030204" pitchFamily="49" charset="0"/>
              </a:rPr>
              <a:t>];</a:t>
            </a:r>
          </a:p>
          <a:p>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main</a:t>
            </a:r>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C</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H</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cin</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&gt;&gt;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C</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&gt;&gt;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H</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&lt;= </a:t>
            </a:r>
            <a:r>
              <a:rPr lang="en-US" altLang="zh-CN" sz="1600" b="0" dirty="0">
                <a:solidFill>
                  <a:srgbClr val="001080"/>
                </a:solidFill>
                <a:effectLst/>
                <a:latin typeface="Consolas" panose="020B0609020204030204" pitchFamily="49" charset="0"/>
              </a:rPr>
              <a:t>H</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cin</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&gt;&gt;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a</a:t>
            </a:r>
            <a:r>
              <a:rPr lang="en-US" altLang="zh-CN" sz="1600" b="0" dirty="0">
                <a:solidFill>
                  <a:srgbClr val="000000"/>
                </a:solidFill>
                <a:effectLst/>
                <a:latin typeface="Consolas" panose="020B0609020204030204" pitchFamily="49" charset="0"/>
              </a:rPr>
              <a:t>[</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&lt;= </a:t>
            </a:r>
            <a:r>
              <a:rPr lang="en-US" altLang="zh-CN" sz="1600" b="0" dirty="0">
                <a:solidFill>
                  <a:srgbClr val="001080"/>
                </a:solidFill>
                <a:effectLst/>
                <a:latin typeface="Consolas" panose="020B0609020204030204" pitchFamily="49" charset="0"/>
              </a:rPr>
              <a:t>H</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 </a:t>
            </a:r>
            <a:r>
              <a:rPr lang="en-US" altLang="zh-CN" sz="1600" b="0" dirty="0">
                <a:solidFill>
                  <a:srgbClr val="001080"/>
                </a:solidFill>
                <a:effectLst/>
                <a:latin typeface="Consolas" panose="020B0609020204030204" pitchFamily="49" charset="0"/>
              </a:rPr>
              <a:t>C</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&gt;= </a:t>
            </a:r>
            <a:r>
              <a:rPr lang="en-US" altLang="zh-CN" sz="1600" b="0" dirty="0">
                <a:solidFill>
                  <a:srgbClr val="001080"/>
                </a:solidFill>
                <a:effectLst/>
                <a:latin typeface="Consolas" panose="020B0609020204030204" pitchFamily="49" charset="0"/>
              </a:rPr>
              <a:t>a</a:t>
            </a:r>
            <a:r>
              <a:rPr lang="en-US" altLang="zh-CN" sz="1600" b="0" dirty="0">
                <a:solidFill>
                  <a:srgbClr val="000000"/>
                </a:solidFill>
                <a:effectLst/>
                <a:latin typeface="Consolas" panose="020B0609020204030204" pitchFamily="49" charset="0"/>
              </a:rPr>
              <a:t>[</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f</a:t>
            </a:r>
            <a:r>
              <a:rPr lang="en-US" altLang="zh-CN" sz="1600" b="0" dirty="0">
                <a:solidFill>
                  <a:srgbClr val="000000"/>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 </a:t>
            </a:r>
            <a:r>
              <a:rPr lang="en-US" altLang="zh-CN" sz="1600" b="0" dirty="0">
                <a:solidFill>
                  <a:srgbClr val="795E26"/>
                </a:solidFill>
                <a:effectLst/>
                <a:latin typeface="Consolas" panose="020B0609020204030204" pitchFamily="49" charset="0"/>
              </a:rPr>
              <a:t>max</a:t>
            </a:r>
            <a:r>
              <a:rPr lang="en-US" altLang="zh-CN" sz="1600" b="0" dirty="0">
                <a:solidFill>
                  <a:srgbClr val="000000"/>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f</a:t>
            </a:r>
            <a:r>
              <a:rPr lang="en-US" altLang="zh-CN" sz="1600" b="0" dirty="0">
                <a:solidFill>
                  <a:srgbClr val="000000"/>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f</a:t>
            </a:r>
            <a:r>
              <a:rPr lang="en-US" altLang="zh-CN" sz="1600" b="0" dirty="0">
                <a:solidFill>
                  <a:srgbClr val="000000"/>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 </a:t>
            </a:r>
            <a:r>
              <a:rPr lang="en-US" altLang="zh-CN" sz="1600" b="0" dirty="0">
                <a:solidFill>
                  <a:srgbClr val="001080"/>
                </a:solidFill>
                <a:effectLst/>
                <a:latin typeface="Consolas" panose="020B0609020204030204" pitchFamily="49" charset="0"/>
              </a:rPr>
              <a:t>a</a:t>
            </a:r>
            <a:r>
              <a:rPr lang="en-US" altLang="zh-CN" sz="1600" b="0" dirty="0">
                <a:solidFill>
                  <a:srgbClr val="000000"/>
                </a:solidFill>
                <a:effectLst/>
                <a:latin typeface="Consolas" panose="020B0609020204030204" pitchFamily="49" charset="0"/>
              </a:rPr>
              <a:t>[</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 </a:t>
            </a:r>
            <a:r>
              <a:rPr lang="en-US" altLang="zh-CN" sz="1600" b="0" dirty="0">
                <a:solidFill>
                  <a:srgbClr val="001080"/>
                </a:solidFill>
                <a:effectLst/>
                <a:latin typeface="Consolas" panose="020B0609020204030204" pitchFamily="49" charset="0"/>
              </a:rPr>
              <a:t>a</a:t>
            </a:r>
            <a:r>
              <a:rPr lang="en-US" altLang="zh-CN" sz="1600" b="0" dirty="0">
                <a:solidFill>
                  <a:srgbClr val="000000"/>
                </a:solidFill>
                <a:effectLst/>
                <a:latin typeface="Consolas" panose="020B0609020204030204" pitchFamily="49" charset="0"/>
              </a:rPr>
              <a:t>[</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cout</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&lt;&lt;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f</a:t>
            </a:r>
            <a:r>
              <a:rPr lang="en-US" altLang="zh-CN" sz="1600" b="0" dirty="0">
                <a:solidFill>
                  <a:srgbClr val="000000"/>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C</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return</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custDataLst>
              <p:tags r:id="rId1"/>
            </p:custDataLst>
          </p:nvPr>
        </p:nvSpPr>
        <p:spPr>
          <a:xfrm>
            <a:off x="189230" y="243205"/>
            <a:ext cx="8566150" cy="677545"/>
          </a:xfrm>
          <a:prstGeom prst="rect">
            <a:avLst/>
          </a:prstGeom>
        </p:spPr>
        <p:txBody>
          <a:bodyPr vert="horz" lIns="68580" tIns="34290" rIns="68580" bIns="34290" rtlCol="0" anchor="ctr">
            <a:normAutofit/>
          </a:bodyPr>
          <a:lstStyle>
            <a:lvl1pPr algn="l" defTabSz="914400" rtl="0" eaLnBrk="1" latinLnBrk="0" hangingPunct="1">
              <a:lnSpc>
                <a:spcPct val="85000"/>
              </a:lnSpc>
              <a:spcBef>
                <a:spcPct val="0"/>
              </a:spcBef>
              <a:buNone/>
              <a:defRPr sz="4000" kern="1200" spc="-50" baseline="0">
                <a:solidFill>
                  <a:schemeClr val="tx1">
                    <a:lumMod val="75000"/>
                    <a:lumOff val="25000"/>
                  </a:schemeClr>
                </a:solidFill>
                <a:latin typeface="微软雅黑" panose="020B0503020204020204" charset="-122"/>
                <a:ea typeface="微软雅黑" panose="020B0503020204020204" charset="-122"/>
                <a:cs typeface="+mj-cs"/>
              </a:defRPr>
            </a:lvl1pPr>
          </a:lstStyle>
          <a:p>
            <a:pPr algn="l"/>
            <a:r>
              <a:rPr lang="en-US" altLang="zh-CN" sz="2400" b="1" dirty="0">
                <a:solidFill>
                  <a:srgbClr val="003CA6"/>
                </a:solidFill>
                <a:sym typeface="+mn-ea"/>
              </a:rPr>
              <a:t>P1048 [NOIP2005 </a:t>
            </a:r>
            <a:r>
              <a:rPr lang="zh-CN" altLang="en-US" sz="2400" b="1" dirty="0">
                <a:solidFill>
                  <a:srgbClr val="003CA6"/>
                </a:solidFill>
                <a:sym typeface="+mn-ea"/>
              </a:rPr>
              <a:t>普及组</a:t>
            </a:r>
            <a:r>
              <a:rPr lang="en-US" altLang="zh-CN" sz="2400" b="1" dirty="0">
                <a:solidFill>
                  <a:srgbClr val="003CA6"/>
                </a:solidFill>
                <a:sym typeface="+mn-ea"/>
              </a:rPr>
              <a:t>] </a:t>
            </a:r>
            <a:r>
              <a:rPr lang="zh-CN" altLang="en-US" sz="2400" b="1" dirty="0">
                <a:solidFill>
                  <a:srgbClr val="003CA6"/>
                </a:solidFill>
                <a:sym typeface="+mn-ea"/>
              </a:rPr>
              <a:t>采药</a:t>
            </a:r>
            <a:endParaRPr lang="zh-CN" altLang="en-US" sz="2400" b="1" spc="0" dirty="0">
              <a:solidFill>
                <a:srgbClr val="003CA6"/>
              </a:solidFill>
            </a:endParaRPr>
          </a:p>
        </p:txBody>
      </p:sp>
      <p:sp>
        <p:nvSpPr>
          <p:cNvPr id="3" name="文本框 2"/>
          <p:cNvSpPr txBox="1"/>
          <p:nvPr/>
        </p:nvSpPr>
        <p:spPr>
          <a:xfrm>
            <a:off x="295075" y="822104"/>
            <a:ext cx="8552580" cy="3923030"/>
          </a:xfrm>
          <a:prstGeom prst="rect">
            <a:avLst/>
          </a:prstGeom>
          <a:noFill/>
        </p:spPr>
        <p:txBody>
          <a:bodyPr wrap="square">
            <a:spAutoFit/>
          </a:bodyPr>
          <a:lstStyle/>
          <a:p>
            <a:pPr>
              <a:lnSpc>
                <a:spcPct val="150000"/>
              </a:lnSpc>
            </a:pPr>
            <a:r>
              <a:rPr lang="zh-CN" altLang="en-US" sz="1400" b="1" dirty="0">
                <a:latin typeface="微软雅黑" panose="020B0503020204020204" charset="-122"/>
                <a:ea typeface="微软雅黑" panose="020B0503020204020204" charset="-122"/>
              </a:rPr>
              <a:t>题目描述</a:t>
            </a:r>
            <a:endParaRPr lang="en-US" altLang="zh-CN" sz="1400" dirty="0">
              <a:effectLst/>
              <a:latin typeface="微软雅黑" panose="020B0503020204020204" charset="-122"/>
              <a:ea typeface="微软雅黑" panose="020B0503020204020204" charset="-122"/>
            </a:endParaRPr>
          </a:p>
          <a:p>
            <a:pPr marL="0" indent="0" algn="l" fontAlgn="auto">
              <a:lnSpc>
                <a:spcPct val="150000"/>
              </a:lnSpc>
              <a:spcBef>
                <a:spcPts val="0"/>
              </a:spcBef>
              <a:buNone/>
            </a:pP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辰辰是个天资聪颖的孩子，他的梦想是成为世界上最伟大的医师。为此，他想拜附近最有威望的医师为师。医师为了判断他的资质，给他出了一个难题。医师把他带到一个到处都是草药的山洞里对他说：“孩子，这个山洞里有一些不同的草药，采每一株都需要一些时间，每一株也有它自身的价值。我会给你一段时间，在这段时间里，你可以采到一些草药。如果你是一个聪明的孩子，你应该可以让采到的草药的总价值最大。”</a:t>
            </a:r>
          </a:p>
          <a:p>
            <a:pPr marL="0" indent="0" algn="l" fontAlgn="auto">
              <a:lnSpc>
                <a:spcPct val="150000"/>
              </a:lnSpc>
              <a:spcBef>
                <a:spcPts val="0"/>
              </a:spcBef>
              <a:buNone/>
            </a:pP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indent="0" algn="l" fontAlgn="auto">
              <a:lnSpc>
                <a:spcPct val="150000"/>
              </a:lnSpc>
              <a:spcBef>
                <a:spcPts val="0"/>
              </a:spcBef>
              <a:buNone/>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如果你是辰辰，你能完成这个任务吗？</a:t>
            </a:r>
            <a:endPar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1400" b="1" dirty="0">
                <a:latin typeface="微软雅黑" panose="020B0503020204020204" charset="-122"/>
                <a:ea typeface="微软雅黑" panose="020B0503020204020204" charset="-122"/>
              </a:rPr>
              <a:t>输入</a:t>
            </a:r>
          </a:p>
          <a:p>
            <a:pPr marL="0" indent="0" algn="l" fontAlgn="auto">
              <a:lnSpc>
                <a:spcPct val="150000"/>
              </a:lnSpc>
              <a:spcBef>
                <a:spcPts val="0"/>
              </a:spcBef>
              <a:buNone/>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第一行有</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个整数，</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T(1&lt;=T&lt;=1000)</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和 </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M(1&lt;=M</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&lt;=100),</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用一个空格隔开，</a:t>
            </a:r>
          </a:p>
          <a:p>
            <a:pPr marL="0" indent="0" algn="l" fontAlgn="auto">
              <a:lnSpc>
                <a:spcPct val="150000"/>
              </a:lnSpc>
              <a:spcBef>
                <a:spcPts val="0"/>
              </a:spcBef>
              <a:buNone/>
            </a:pP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T</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代表总共能用来采药的时间，</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M</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代表山洞里草药的数目。</a:t>
            </a:r>
          </a:p>
          <a:p>
            <a:pPr marL="0" indent="0" algn="l" fontAlgn="auto">
              <a:lnSpc>
                <a:spcPct val="150000"/>
              </a:lnSpc>
              <a:spcBef>
                <a:spcPts val="0"/>
              </a:spcBef>
              <a:buNone/>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接下来的</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M</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行，每行包括两个在</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1~100</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之间的整数，分别表示采摘某株草药的时间和这株草药的价值。</a:t>
            </a:r>
            <a:endPar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endParaRPr>
          </a:p>
          <a:p>
            <a:pPr>
              <a:lnSpc>
                <a:spcPct val="150000"/>
              </a:lnSpc>
            </a:pPr>
            <a:r>
              <a:rPr lang="zh-CN" altLang="en-US" sz="1400" b="1" dirty="0">
                <a:latin typeface="微软雅黑" panose="020B0503020204020204" charset="-122"/>
                <a:ea typeface="微软雅黑" panose="020B0503020204020204" charset="-122"/>
              </a:rPr>
              <a:t>输出</a:t>
            </a:r>
          </a:p>
          <a:p>
            <a:pPr>
              <a:lnSpc>
                <a:spcPct val="150000"/>
              </a:lnSpc>
            </a:pP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输出规定时间内可以采到的草药的最大总价值。</a:t>
            </a:r>
            <a:endPar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sz="1400" b="1" dirty="0">
                <a:latin typeface="微软雅黑" panose="020B0503020204020204" charset="-122"/>
                <a:ea typeface="微软雅黑" panose="020B0503020204020204" charset="-122"/>
              </a:rPr>
              <a:t>数据范围</a:t>
            </a:r>
            <a:r>
              <a:rPr lang="zh-CN" altLang="en-US" sz="1400" dirty="0">
                <a:solidFill>
                  <a:srgbClr val="3091F2"/>
                </a:solidFill>
                <a:latin typeface="微软雅黑" panose="020B0503020204020204" charset="-122"/>
                <a:ea typeface="微软雅黑" panose="020B0503020204020204" charset="-122"/>
              </a:rPr>
              <a:t>  </a:t>
            </a:r>
            <a:endParaRPr lang="en-US" altLang="zh-CN" sz="1400" dirty="0">
              <a:solidFill>
                <a:srgbClr val="3091F2"/>
              </a:solidFill>
              <a:latin typeface="微软雅黑" panose="020B0503020204020204" charset="-122"/>
              <a:ea typeface="微软雅黑" panose="020B0503020204020204" charset="-122"/>
            </a:endParaRPr>
          </a:p>
          <a:p>
            <a:pPr>
              <a:lnSpc>
                <a:spcPct val="150000"/>
              </a:lnSpc>
            </a:pP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1&lt;=T&lt;=1000</a:t>
            </a:r>
          </a:p>
          <a:p>
            <a:pPr>
              <a:lnSpc>
                <a:spcPct val="150000"/>
              </a:lnSpc>
            </a:pP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1&lt;=M</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&lt;=100</a:t>
            </a:r>
            <a:endParaRPr lang="en-US" altLang="zh-CN" sz="1000" dirty="0">
              <a:latin typeface="微软雅黑" panose="020B0503020204020204" charset="-122"/>
              <a:ea typeface="微软雅黑" panose="020B0503020204020204" charset="-122"/>
            </a:endParaRPr>
          </a:p>
        </p:txBody>
      </p:sp>
      <p:sp>
        <p:nvSpPr>
          <p:cNvPr id="4" name="文本框 3"/>
          <p:cNvSpPr txBox="1"/>
          <p:nvPr/>
        </p:nvSpPr>
        <p:spPr>
          <a:xfrm>
            <a:off x="6861810" y="2827655"/>
            <a:ext cx="1546225" cy="1845310"/>
          </a:xfrm>
          <a:prstGeom prst="rect">
            <a:avLst/>
          </a:prstGeom>
          <a:noFill/>
        </p:spPr>
        <p:txBody>
          <a:bodyPr wrap="square">
            <a:spAutoFit/>
          </a:bodyPr>
          <a:lstStyle/>
          <a:p>
            <a:r>
              <a:rPr lang="zh-CN" altLang="en-US" sz="1200" b="1" dirty="0">
                <a:latin typeface="微软雅黑" panose="020B0503020204020204" charset="-122"/>
                <a:ea typeface="微软雅黑" panose="020B0503020204020204" charset="-122"/>
              </a:rPr>
              <a:t>输入样例</a:t>
            </a:r>
            <a:r>
              <a:rPr lang="en-US" altLang="zh-CN" sz="1200" b="1" dirty="0">
                <a:latin typeface="微软雅黑" panose="020B0503020204020204" charset="-122"/>
                <a:ea typeface="微软雅黑" panose="020B0503020204020204" charset="-122"/>
              </a:rPr>
              <a:t>1</a:t>
            </a:r>
          </a:p>
          <a:p>
            <a:pPr>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70 3</a:t>
            </a:r>
            <a:endParaRPr lang="en-US" altLang="zh-CN" sz="1200" dirty="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71 100</a:t>
            </a:r>
            <a:endParaRPr lang="en-US" altLang="zh-CN" sz="1200" dirty="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69 1</a:t>
            </a:r>
            <a:endParaRPr lang="en-US" altLang="zh-CN" sz="1200" dirty="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1 2</a:t>
            </a:r>
            <a:endParaRPr lang="en-US" altLang="zh-CN" sz="1200" dirty="0">
              <a:latin typeface="微软雅黑" panose="020B0503020204020204" charset="-122"/>
              <a:ea typeface="微软雅黑" panose="020B0503020204020204" charset="-122"/>
              <a:cs typeface="微软雅黑" panose="020B0503020204020204" charset="-122"/>
            </a:endParaRPr>
          </a:p>
          <a:p>
            <a:r>
              <a:rPr lang="zh-CN" altLang="en-US" sz="1200" b="1" i="0" dirty="0">
                <a:effectLst/>
                <a:latin typeface="微软雅黑" panose="020B0503020204020204" charset="-122"/>
                <a:ea typeface="微软雅黑" panose="020B0503020204020204" charset="-122"/>
              </a:rPr>
              <a:t>输出样例</a:t>
            </a:r>
            <a:r>
              <a:rPr lang="en-US" altLang="zh-CN" sz="1200" b="1" i="0" dirty="0">
                <a:effectLst/>
                <a:latin typeface="微软雅黑" panose="020B0503020204020204" charset="-122"/>
                <a:ea typeface="微软雅黑" panose="020B0503020204020204" charset="-122"/>
              </a:rPr>
              <a:t>1</a:t>
            </a:r>
          </a:p>
          <a:p>
            <a:pPr>
              <a:lnSpc>
                <a:spcPct val="150000"/>
              </a:lnSpc>
            </a:pPr>
            <a:r>
              <a:rPr lang="en-US" altLang="zh-CN" sz="1200" dirty="0">
                <a:latin typeface="微软雅黑" panose="020B0503020204020204" charset="-122"/>
                <a:ea typeface="微软雅黑" panose="020B0503020204020204" charset="-122"/>
                <a:cs typeface="微软雅黑" panose="020B0503020204020204" charset="-122"/>
                <a:sym typeface="+mn-ea"/>
              </a:rPr>
              <a:t>3</a:t>
            </a:r>
            <a:endParaRPr lang="en-US" altLang="zh-CN" sz="12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14031" y="319124"/>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b="1" dirty="0">
                <a:solidFill>
                  <a:srgbClr val="003CA6"/>
                </a:solidFill>
                <a:latin typeface="微软雅黑" panose="020B0503020204020204" charset="-122"/>
                <a:ea typeface="微软雅黑" panose="020B0503020204020204" charset="-122"/>
              </a:rPr>
              <a:t>01</a:t>
            </a:r>
            <a:r>
              <a:rPr lang="zh-CN" altLang="en-US" sz="2400" b="1" dirty="0">
                <a:solidFill>
                  <a:srgbClr val="003CA6"/>
                </a:solidFill>
                <a:latin typeface="微软雅黑" panose="020B0503020204020204" charset="-122"/>
                <a:ea typeface="微软雅黑" panose="020B0503020204020204" charset="-122"/>
              </a:rPr>
              <a:t>背包</a:t>
            </a:r>
          </a:p>
        </p:txBody>
      </p:sp>
      <p:sp>
        <p:nvSpPr>
          <p:cNvPr id="2" name="文本框 1"/>
          <p:cNvSpPr txBox="1"/>
          <p:nvPr>
            <p:custDataLst>
              <p:tags r:id="rId1"/>
            </p:custDataLst>
          </p:nvPr>
        </p:nvSpPr>
        <p:spPr>
          <a:xfrm>
            <a:off x="896620" y="820420"/>
            <a:ext cx="7047865" cy="4045585"/>
          </a:xfrm>
          <a:prstGeom prst="rect">
            <a:avLst/>
          </a:prstGeom>
          <a:solidFill>
            <a:schemeClr val="bg1">
              <a:lumMod val="85000"/>
            </a:schemeClr>
          </a:solidFill>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0" dirty="0">
                <a:solidFill>
                  <a:srgbClr val="AF00DB"/>
                </a:solidFill>
                <a:effectLst/>
                <a:latin typeface="Consolas" panose="020B0609020204030204" pitchFamily="49" charset="0"/>
              </a:rPr>
              <a:t>#include</a:t>
            </a:r>
            <a:r>
              <a:rPr lang="en-US" altLang="zh-CN" sz="1600" b="0" dirty="0">
                <a:solidFill>
                  <a:srgbClr val="0000FF"/>
                </a:solidFill>
                <a:effectLst/>
                <a:latin typeface="Consolas" panose="020B0609020204030204" pitchFamily="49" charset="0"/>
              </a:rPr>
              <a:t> </a:t>
            </a:r>
            <a:r>
              <a:rPr lang="en-US" altLang="zh-CN" sz="1600" b="0" dirty="0">
                <a:solidFill>
                  <a:srgbClr val="A31515"/>
                </a:solidFill>
                <a:effectLst/>
                <a:latin typeface="Consolas" panose="020B0609020204030204" pitchFamily="49" charset="0"/>
              </a:rPr>
              <a:t>&lt;bits/</a:t>
            </a:r>
            <a:r>
              <a:rPr lang="en-US" altLang="zh-CN" sz="1600" b="0" dirty="0" err="1">
                <a:solidFill>
                  <a:srgbClr val="A31515"/>
                </a:solidFill>
                <a:effectLst/>
                <a:latin typeface="Consolas" panose="020B0609020204030204" pitchFamily="49" charset="0"/>
              </a:rPr>
              <a:t>stdc</a:t>
            </a:r>
            <a:r>
              <a:rPr lang="en-US" altLang="zh-CN" sz="1600" b="0" dirty="0">
                <a:solidFill>
                  <a:srgbClr val="A31515"/>
                </a:solidFill>
                <a:effectLst/>
                <a:latin typeface="Consolas" panose="020B0609020204030204" pitchFamily="49" charset="0"/>
              </a:rPr>
              <a:t>++.h&gt;</a:t>
            </a:r>
            <a:endParaRPr lang="en-US" altLang="zh-CN" sz="1600" b="0" dirty="0">
              <a:solidFill>
                <a:srgbClr val="000000"/>
              </a:solidFill>
              <a:effectLst/>
              <a:latin typeface="Consolas" panose="020B0609020204030204" pitchFamily="49" charset="0"/>
            </a:endParaRPr>
          </a:p>
          <a:p>
            <a:r>
              <a:rPr lang="en-US" altLang="zh-CN" sz="1600" b="0" dirty="0">
                <a:solidFill>
                  <a:srgbClr val="AF00DB"/>
                </a:solidFill>
                <a:effectLst/>
                <a:latin typeface="Consolas" panose="020B0609020204030204" pitchFamily="49" charset="0"/>
              </a:rPr>
              <a:t>using</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namespace</a:t>
            </a:r>
            <a:r>
              <a:rPr lang="en-US" altLang="zh-CN" sz="1600" b="0" dirty="0">
                <a:solidFill>
                  <a:srgbClr val="000000"/>
                </a:solidFill>
                <a:effectLst/>
                <a:latin typeface="Consolas" panose="020B0609020204030204" pitchFamily="49" charset="0"/>
              </a:rPr>
              <a:t> </a:t>
            </a:r>
            <a:r>
              <a:rPr lang="en-US" altLang="zh-CN" sz="1600" b="0" dirty="0">
                <a:solidFill>
                  <a:srgbClr val="267F99"/>
                </a:solidFill>
                <a:effectLst/>
                <a:latin typeface="Consolas" panose="020B0609020204030204" pitchFamily="49" charset="0"/>
              </a:rPr>
              <a:t>std</a:t>
            </a:r>
            <a:r>
              <a:rPr lang="en-US" altLang="zh-CN" sz="1600" b="0" dirty="0">
                <a:solidFill>
                  <a:srgbClr val="000000"/>
                </a:solidFill>
                <a:effectLst/>
                <a:latin typeface="Consolas" panose="020B0609020204030204" pitchFamily="49" charset="0"/>
              </a:rPr>
              <a:t>;</a:t>
            </a:r>
          </a:p>
          <a:p>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f</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1005</a:t>
            </a:r>
            <a:r>
              <a:rPr lang="en-US" altLang="zh-CN" sz="1600" b="0" dirty="0">
                <a:solidFill>
                  <a:srgbClr val="000000"/>
                </a:solidFill>
                <a:effectLst/>
                <a:latin typeface="Consolas" panose="020B0609020204030204" pitchFamily="49" charset="0"/>
              </a:rPr>
              <a:t>];</a:t>
            </a:r>
          </a:p>
          <a:p>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v</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1005</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w</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1005</a:t>
            </a:r>
            <a:r>
              <a:rPr lang="en-US" altLang="zh-CN" sz="1600" b="0" dirty="0">
                <a:solidFill>
                  <a:srgbClr val="000000"/>
                </a:solidFill>
                <a:effectLst/>
                <a:latin typeface="Consolas" panose="020B0609020204030204" pitchFamily="49" charset="0"/>
              </a:rPr>
              <a:t>];</a:t>
            </a:r>
          </a:p>
          <a:p>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main</a:t>
            </a:r>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M</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cin</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&gt;&gt;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T</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&gt;&gt;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M</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&lt;= </a:t>
            </a:r>
            <a:r>
              <a:rPr lang="en-US" altLang="zh-CN" sz="1600" b="0" dirty="0">
                <a:solidFill>
                  <a:srgbClr val="001080"/>
                </a:solidFill>
                <a:effectLst/>
                <a:latin typeface="Consolas" panose="020B0609020204030204" pitchFamily="49" charset="0"/>
              </a:rPr>
              <a:t>M</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cin</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&gt;&gt;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v</a:t>
            </a:r>
            <a:r>
              <a:rPr lang="en-US" altLang="zh-CN" sz="1600" b="0" dirty="0">
                <a:solidFill>
                  <a:srgbClr val="000000"/>
                </a:solidFill>
                <a:effectLst/>
                <a:latin typeface="Consolas" panose="020B0609020204030204" pitchFamily="49" charset="0"/>
              </a:rPr>
              <a:t>[</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&gt;&gt;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w</a:t>
            </a:r>
            <a:r>
              <a:rPr lang="en-US" altLang="zh-CN" sz="1600" b="0" dirty="0">
                <a:solidFill>
                  <a:srgbClr val="000000"/>
                </a:solidFill>
                <a:effectLst/>
                <a:latin typeface="Consolas" panose="020B0609020204030204" pitchFamily="49" charset="0"/>
              </a:rPr>
              <a:t>[</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&lt;= </a:t>
            </a:r>
            <a:r>
              <a:rPr lang="en-US" altLang="zh-CN" sz="1600" b="0" dirty="0">
                <a:solidFill>
                  <a:srgbClr val="001080"/>
                </a:solidFill>
                <a:effectLst/>
                <a:latin typeface="Consolas" panose="020B0609020204030204" pitchFamily="49" charset="0"/>
              </a:rPr>
              <a:t>M</a:t>
            </a:r>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 </a:t>
            </a:r>
            <a:r>
              <a:rPr lang="en-US" altLang="zh-CN" sz="1600" b="0" dirty="0">
                <a:solidFill>
                  <a:srgbClr val="001080"/>
                </a:solidFill>
                <a:effectLst/>
                <a:latin typeface="Consolas" panose="020B0609020204030204" pitchFamily="49" charset="0"/>
              </a:rPr>
              <a:t>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&gt;= </a:t>
            </a:r>
            <a:r>
              <a:rPr lang="en-US" altLang="zh-CN" sz="1600" b="0" dirty="0">
                <a:solidFill>
                  <a:srgbClr val="001080"/>
                </a:solidFill>
                <a:effectLst/>
                <a:latin typeface="Consolas" panose="020B0609020204030204" pitchFamily="49" charset="0"/>
              </a:rPr>
              <a:t>v</a:t>
            </a:r>
            <a:r>
              <a:rPr lang="en-US" altLang="zh-CN" sz="1600" b="0" dirty="0">
                <a:solidFill>
                  <a:srgbClr val="000000"/>
                </a:solidFill>
                <a:effectLst/>
                <a:latin typeface="Consolas" panose="020B0609020204030204" pitchFamily="49" charset="0"/>
              </a:rPr>
              <a:t>[</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f</a:t>
            </a:r>
            <a:r>
              <a:rPr lang="en-US" altLang="zh-CN" sz="1600" b="0" dirty="0">
                <a:solidFill>
                  <a:srgbClr val="000000"/>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 </a:t>
            </a:r>
            <a:r>
              <a:rPr lang="en-US" altLang="zh-CN" sz="1600" b="0" dirty="0">
                <a:solidFill>
                  <a:srgbClr val="795E26"/>
                </a:solidFill>
                <a:effectLst/>
                <a:latin typeface="Consolas" panose="020B0609020204030204" pitchFamily="49" charset="0"/>
              </a:rPr>
              <a:t>max</a:t>
            </a:r>
            <a:r>
              <a:rPr lang="en-US" altLang="zh-CN" sz="1600" b="0" dirty="0">
                <a:solidFill>
                  <a:srgbClr val="000000"/>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f</a:t>
            </a:r>
            <a:r>
              <a:rPr lang="en-US" altLang="zh-CN" sz="1600" b="0" dirty="0">
                <a:solidFill>
                  <a:srgbClr val="000000"/>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f</a:t>
            </a:r>
            <a:r>
              <a:rPr lang="en-US" altLang="zh-CN" sz="1600" b="0" dirty="0">
                <a:solidFill>
                  <a:srgbClr val="000000"/>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j</a:t>
            </a:r>
            <a:r>
              <a:rPr lang="en-US" altLang="zh-CN" sz="1600" b="0" dirty="0">
                <a:solidFill>
                  <a:srgbClr val="000000"/>
                </a:solidFill>
                <a:effectLst/>
                <a:latin typeface="Consolas" panose="020B0609020204030204" pitchFamily="49" charset="0"/>
              </a:rPr>
              <a:t> - </a:t>
            </a:r>
            <a:r>
              <a:rPr lang="en-US" altLang="zh-CN" sz="1600" b="0" dirty="0">
                <a:solidFill>
                  <a:srgbClr val="001080"/>
                </a:solidFill>
                <a:effectLst/>
                <a:latin typeface="Consolas" panose="020B0609020204030204" pitchFamily="49" charset="0"/>
              </a:rPr>
              <a:t>v</a:t>
            </a:r>
            <a:r>
              <a:rPr lang="en-US" altLang="zh-CN" sz="1600" b="0" dirty="0">
                <a:solidFill>
                  <a:srgbClr val="000000"/>
                </a:solidFill>
                <a:effectLst/>
                <a:latin typeface="Consolas" panose="020B0609020204030204" pitchFamily="49" charset="0"/>
              </a:rPr>
              <a:t>[</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 </a:t>
            </a:r>
            <a:r>
              <a:rPr lang="en-US" altLang="zh-CN" sz="1600" b="0" dirty="0">
                <a:solidFill>
                  <a:srgbClr val="001080"/>
                </a:solidFill>
                <a:effectLst/>
                <a:latin typeface="Consolas" panose="020B0609020204030204" pitchFamily="49" charset="0"/>
              </a:rPr>
              <a:t>w</a:t>
            </a:r>
            <a:r>
              <a:rPr lang="en-US" altLang="zh-CN" sz="1600" b="0" dirty="0">
                <a:solidFill>
                  <a:srgbClr val="000000"/>
                </a:solidFill>
                <a:effectLst/>
                <a:latin typeface="Consolas" panose="020B0609020204030204" pitchFamily="49" charset="0"/>
              </a:rPr>
              <a:t>[</a:t>
            </a:r>
            <a:r>
              <a:rPr lang="en-US" altLang="zh-CN" sz="1600" b="0" dirty="0" err="1">
                <a:solidFill>
                  <a:srgbClr val="00108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r>
              <a:rPr lang="en-US" altLang="zh-CN" sz="1600" b="0" dirty="0" err="1">
                <a:solidFill>
                  <a:srgbClr val="001080"/>
                </a:solidFill>
                <a:effectLst/>
                <a:latin typeface="Consolas" panose="020B0609020204030204" pitchFamily="49" charset="0"/>
              </a:rPr>
              <a:t>cout</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&lt;&lt;</a:t>
            </a:r>
            <a:r>
              <a:rPr lang="en-US" altLang="zh-CN" sz="1600" b="0" dirty="0">
                <a:solidFill>
                  <a:srgbClr val="000000"/>
                </a:solidFill>
                <a:effectLst/>
                <a:latin typeface="Consolas" panose="020B0609020204030204" pitchFamily="49" charset="0"/>
              </a:rPr>
              <a:t> </a:t>
            </a:r>
            <a:r>
              <a:rPr lang="en-US" altLang="zh-CN" sz="1600" b="0" dirty="0">
                <a:solidFill>
                  <a:srgbClr val="001080"/>
                </a:solidFill>
                <a:effectLst/>
                <a:latin typeface="Consolas" panose="020B0609020204030204" pitchFamily="49" charset="0"/>
              </a:rPr>
              <a:t>f</a:t>
            </a:r>
            <a:r>
              <a:rPr lang="en-US" altLang="zh-CN" sz="1600" b="0" dirty="0">
                <a:solidFill>
                  <a:srgbClr val="000000"/>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T</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return</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840443" y="2138092"/>
            <a:ext cx="6582334" cy="833707"/>
          </a:xfrm>
          <a:prstGeom prst="rect">
            <a:avLst/>
          </a:prstGeom>
        </p:spPr>
        <p:txBody>
          <a:bodyPr>
            <a:normAutofit/>
          </a:bodyPr>
          <a:lstStyle>
            <a:lvl1pPr algn="l" defTabSz="914400" rtl="0" eaLnBrk="1" latinLnBrk="0" hangingPunct="1">
              <a:lnSpc>
                <a:spcPct val="90000"/>
              </a:lnSpc>
              <a:spcBef>
                <a:spcPct val="0"/>
              </a:spcBef>
              <a:buNone/>
              <a:defRPr sz="4000" b="1" i="0" kern="1200">
                <a:solidFill>
                  <a:schemeClr val="bg1"/>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kumimoji="1" lang="en-US" altLang="zh-CN" sz="4400" b="0" dirty="0">
                <a:latin typeface="+mj-lt"/>
              </a:rPr>
              <a:t>4</a:t>
            </a:r>
            <a:r>
              <a:rPr kumimoji="1" lang="en-US" altLang="zh-CN" sz="3200" dirty="0">
                <a:latin typeface="+mj-lt"/>
              </a:rPr>
              <a:t>/</a:t>
            </a:r>
            <a:r>
              <a:rPr kumimoji="1" lang="zh-CN" altLang="en-US" sz="3200" dirty="0">
                <a:latin typeface="+mj-lt"/>
              </a:rPr>
              <a:t>  </a:t>
            </a:r>
            <a:r>
              <a:rPr kumimoji="1" lang="en-US" altLang="zh-CN" sz="3200" dirty="0">
                <a:latin typeface="+mj-lt"/>
              </a:rPr>
              <a:t> </a:t>
            </a:r>
            <a:r>
              <a:rPr kumimoji="1" lang="zh-CN" altLang="en-US" sz="3200" dirty="0">
                <a:latin typeface="+mj-lt"/>
              </a:rPr>
              <a:t>课堂总结</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519675" y="368275"/>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rPr>
              <a:t>注意事项</a:t>
            </a:r>
          </a:p>
        </p:txBody>
      </p:sp>
      <p:sp>
        <p:nvSpPr>
          <p:cNvPr id="5" name="文本框 4"/>
          <p:cNvSpPr txBox="1"/>
          <p:nvPr>
            <p:custDataLst>
              <p:tags r:id="rId1"/>
            </p:custDataLst>
          </p:nvPr>
        </p:nvSpPr>
        <p:spPr>
          <a:xfrm>
            <a:off x="1000125" y="1253490"/>
            <a:ext cx="6593205" cy="922020"/>
          </a:xfrm>
          <a:prstGeom prst="rect">
            <a:avLst/>
          </a:prstGeom>
          <a:noFill/>
        </p:spPr>
        <p:txBody>
          <a:bodyPr wrap="square">
            <a:spAutoFit/>
          </a:bodyPr>
          <a:lstStyle/>
          <a:p>
            <a:pPr>
              <a:lnSpc>
                <a:spcPct val="150000"/>
              </a:lnSpc>
            </a:pPr>
            <a:r>
              <a:rPr lang="en-US" dirty="0"/>
              <a:t>01</a:t>
            </a:r>
            <a:r>
              <a:rPr lang="zh-CN" altLang="en-US" dirty="0"/>
              <a:t>背包优化为一维后，为了保证滚动数组的合理性，</a:t>
            </a:r>
          </a:p>
          <a:p>
            <a:pPr>
              <a:lnSpc>
                <a:spcPct val="150000"/>
              </a:lnSpc>
            </a:pPr>
            <a:r>
              <a:rPr lang="zh-CN" altLang="en-US" dirty="0"/>
              <a:t>填表时需要逆序遍历列。</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840443" y="2138092"/>
            <a:ext cx="6582334" cy="833707"/>
          </a:xfrm>
          <a:prstGeom prst="rect">
            <a:avLst/>
          </a:prstGeom>
        </p:spPr>
        <p:txBody>
          <a:bodyPr>
            <a:normAutofit/>
          </a:bodyPr>
          <a:lstStyle>
            <a:lvl1pPr algn="l" defTabSz="914400" rtl="0" eaLnBrk="1" latinLnBrk="0" hangingPunct="1">
              <a:lnSpc>
                <a:spcPct val="90000"/>
              </a:lnSpc>
              <a:spcBef>
                <a:spcPct val="0"/>
              </a:spcBef>
              <a:buNone/>
              <a:defRPr sz="4000" b="1" i="0" kern="1200">
                <a:solidFill>
                  <a:schemeClr val="bg1"/>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kumimoji="1" lang="en-US" altLang="zh-CN" sz="4400" b="0" dirty="0">
                <a:latin typeface="+mj-lt"/>
              </a:rPr>
              <a:t>5</a:t>
            </a:r>
            <a:r>
              <a:rPr kumimoji="1" lang="en-US" altLang="zh-CN" sz="3200" dirty="0">
                <a:latin typeface="+mj-lt"/>
              </a:rPr>
              <a:t>/</a:t>
            </a:r>
            <a:r>
              <a:rPr kumimoji="1" lang="zh-CN" altLang="en-US" sz="3200" dirty="0">
                <a:latin typeface="+mj-lt"/>
              </a:rPr>
              <a:t>  </a:t>
            </a:r>
            <a:r>
              <a:rPr kumimoji="1" lang="en-US" altLang="zh-CN" sz="3200" dirty="0">
                <a:latin typeface="+mj-lt"/>
              </a:rPr>
              <a:t> </a:t>
            </a:r>
            <a:r>
              <a:rPr kumimoji="1" lang="zh-CN" altLang="en-US" sz="3200" dirty="0">
                <a:latin typeface="+mj-lt"/>
              </a:rPr>
              <a:t>相关练习</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931001" y="418429"/>
            <a:ext cx="6445378" cy="501073"/>
          </a:xfrm>
          <a:prstGeom prst="rect">
            <a:avLst/>
          </a:prstGeom>
        </p:spPr>
        <p:txBody>
          <a:bodyPr lIns="68578" tIns="34289" rIns="68578" bIns="34289">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3CA6"/>
                </a:solidFill>
                <a:latin typeface="微软雅黑" panose="020B0503020204020204" charset="-122"/>
                <a:ea typeface="微软雅黑" panose="020B0503020204020204" charset="-122"/>
              </a:rPr>
              <a:t>练习</a:t>
            </a:r>
          </a:p>
        </p:txBody>
      </p:sp>
      <p:sp>
        <p:nvSpPr>
          <p:cNvPr id="5" name="文本框 4"/>
          <p:cNvSpPr txBox="1"/>
          <p:nvPr>
            <p:custDataLst>
              <p:tags r:id="rId1"/>
            </p:custDataLst>
          </p:nvPr>
        </p:nvSpPr>
        <p:spPr>
          <a:xfrm>
            <a:off x="1449070" y="1111250"/>
            <a:ext cx="6781800" cy="2999740"/>
          </a:xfrm>
          <a:prstGeom prst="rect">
            <a:avLst/>
          </a:prstGeom>
          <a:noFill/>
        </p:spPr>
        <p:txBody>
          <a:bodyPr wrap="square">
            <a:spAutoFit/>
          </a:bodyPr>
          <a:lstStyle/>
          <a:p>
            <a:pPr>
              <a:lnSpc>
                <a:spcPct val="150000"/>
              </a:lnSpc>
            </a:pPr>
            <a:r>
              <a:rPr lang="zh-CN" altLang="en-US" dirty="0"/>
              <a:t>洛谷</a:t>
            </a:r>
            <a:r>
              <a:rPr lang="en-US" altLang="zh-CN" dirty="0"/>
              <a:t>P2871 	[USACO07DEC] Charm Bracelet S</a:t>
            </a:r>
          </a:p>
          <a:p>
            <a:pPr>
              <a:lnSpc>
                <a:spcPct val="150000"/>
              </a:lnSpc>
            </a:pPr>
            <a:r>
              <a:rPr lang="zh-CN" altLang="en-US" dirty="0">
                <a:sym typeface="+mn-ea"/>
              </a:rPr>
              <a:t>洛谷</a:t>
            </a:r>
            <a:r>
              <a:rPr lang="en-US" altLang="zh-CN" dirty="0">
                <a:sym typeface="+mn-ea"/>
              </a:rPr>
              <a:t>P2925 	[USACO08DEC] Hay For Sale S</a:t>
            </a:r>
          </a:p>
          <a:p>
            <a:pPr>
              <a:lnSpc>
                <a:spcPct val="150000"/>
              </a:lnSpc>
            </a:pPr>
            <a:r>
              <a:rPr lang="zh-CN" altLang="en-US" dirty="0">
                <a:sym typeface="+mn-ea"/>
              </a:rPr>
              <a:t>洛谷</a:t>
            </a:r>
            <a:r>
              <a:rPr lang="en-US" altLang="zh-CN" dirty="0">
                <a:sym typeface="+mn-ea"/>
              </a:rPr>
              <a:t>P1048	[NOIP2005 普及组] 采药</a:t>
            </a:r>
          </a:p>
          <a:p>
            <a:pPr>
              <a:lnSpc>
                <a:spcPct val="150000"/>
              </a:lnSpc>
            </a:pPr>
            <a:r>
              <a:rPr lang="zh-CN" altLang="en-US" dirty="0">
                <a:sym typeface="+mn-ea"/>
              </a:rPr>
              <a:t>洛谷</a:t>
            </a:r>
            <a:r>
              <a:rPr lang="en-US" altLang="zh-CN" dirty="0">
                <a:sym typeface="+mn-ea"/>
              </a:rPr>
              <a:t>P2639	[USACO09OCT] Bessie's Weight Problem G</a:t>
            </a:r>
          </a:p>
          <a:p>
            <a:pPr>
              <a:lnSpc>
                <a:spcPct val="150000"/>
              </a:lnSpc>
            </a:pPr>
            <a:r>
              <a:rPr lang="zh-CN" altLang="en-US" dirty="0">
                <a:sym typeface="+mn-ea"/>
              </a:rPr>
              <a:t>洛谷</a:t>
            </a:r>
            <a:r>
              <a:rPr lang="en-US" altLang="zh-CN" dirty="0">
                <a:sym typeface="+mn-ea"/>
              </a:rPr>
              <a:t>P1049	[NOIP2001 普及组] 装箱问题</a:t>
            </a:r>
          </a:p>
          <a:p>
            <a:pPr>
              <a:lnSpc>
                <a:spcPct val="150000"/>
              </a:lnSpc>
            </a:pPr>
            <a:r>
              <a:rPr lang="zh-CN" altLang="en-US" dirty="0">
                <a:sym typeface="+mn-ea"/>
              </a:rPr>
              <a:t>洛谷</a:t>
            </a:r>
            <a:r>
              <a:rPr lang="en-US" altLang="zh-CN" dirty="0">
                <a:sym typeface="+mn-ea"/>
              </a:rPr>
              <a:t>P1510	精卫填海</a:t>
            </a:r>
          </a:p>
          <a:p>
            <a:pPr>
              <a:lnSpc>
                <a:spcPct val="150000"/>
              </a:lnSpc>
            </a:pPr>
            <a:r>
              <a:rPr lang="zh-CN" altLang="en-US" dirty="0">
                <a:sym typeface="+mn-ea"/>
              </a:rPr>
              <a:t>洛谷</a:t>
            </a:r>
            <a:r>
              <a:rPr lang="en-US" altLang="zh-CN" dirty="0">
                <a:sym typeface="+mn-ea"/>
              </a:rPr>
              <a:t>P1164	小A点菜</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TRACKING_SLIDES" val="1"/>
  <p:tag name="GENSWF_OUTPUT_FILE_NAME" val="06"/>
  <p:tag name="KSO_WPP_MARK_KEY" val="49d6ec15-bf1a-445a-b1b4-4d8ed3edb928"/>
  <p:tag name="COMMONDATA" val="eyJoZGlkIjoiMzJkMmMyYzViMjA5YTliMTY4YjllNzUxZTljZDFjMDUifQ=="/>
  <p:tag name="RESOURCE_RECORD_KEY" val="{&quot;13&quot;:[4685212,20025429],&quot;29&quot;:[20750925]}"/>
</p:tagLst>
</file>

<file path=ppt/tags/tag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TABLE_ENDDRAG_ORIGIN_RECT" val="633*299"/>
  <p:tag name="TABLE_ENDDRAG_RECT" val="42*91*633*299"/>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FULL_TEXT_BEAUTIFY_COPY_ID" val="10"/>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TABLE_ENDDRAG_ORIGIN_RECT" val="633*299"/>
  <p:tag name="TABLE_ENDDRAG_RECT" val="42*91*633*299"/>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TABLE_ENDDRAG_ORIGIN_RECT" val="503*58"/>
  <p:tag name="TABLE_ENDDRAG_RECT" val="108*187*503*58"/>
</p:tagLst>
</file>

<file path=ppt/tags/tag109.xml><?xml version="1.0" encoding="utf-8"?>
<p:tagLst xmlns:a="http://schemas.openxmlformats.org/drawingml/2006/main" xmlns:r="http://schemas.openxmlformats.org/officeDocument/2006/relationships" xmlns:p="http://schemas.openxmlformats.org/presentationml/2006/main">
  <p:tag name="TABLE_ENDDRAG_ORIGIN_RECT" val="503*58"/>
  <p:tag name="TABLE_ENDDRAG_RECT" val="108*187*503*58"/>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TABLE_ENDDRAG_ORIGIN_RECT" val="536*51"/>
  <p:tag name="TABLE_ENDDRAG_RECT" val="38*147*536*51"/>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146.xml><?xml version="1.0" encoding="utf-8"?>
<p:tagLst xmlns:a="http://schemas.openxmlformats.org/drawingml/2006/main" xmlns:r="http://schemas.openxmlformats.org/officeDocument/2006/relationships" xmlns:p="http://schemas.openxmlformats.org/presentationml/2006/main">
  <p:tag name="KSO_WM_FULL_TEXT_BEAUTIFY_COPY_ID" val="10"/>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0.xml><?xml version="1.0" encoding="utf-8"?>
<p:tagLst xmlns:p="http://schemas.openxmlformats.org/presentationml/2006/main">
  <p:tag name="KSO_WM_FULL_TEXT_BEAUTIFY_COPY_ID" val="10"/>
  <p:tag name="KSO_WM_BEAUTIFY_FLAG" val=""/>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1587</Words>
  <Application>Microsoft Office PowerPoint</Application>
  <PresentationFormat>全屏显示(16:9)</PresentationFormat>
  <Paragraphs>458</Paragraphs>
  <Slides>33</Slides>
  <Notes>25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等线</vt:lpstr>
      <vt:lpstr>黑体</vt:lpstr>
      <vt:lpstr>宋体</vt:lpstr>
      <vt:lpstr>微软雅黑</vt:lpstr>
      <vt:lpstr>Arial</vt:lpstr>
      <vt:lpstr>Cambria Math</vt:lpstr>
      <vt:lpstr>Consolas</vt:lpstr>
      <vt:lpstr>Wingdings</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书签式三项并列关系图表</dc:title>
  <dc:creator>杜鹏亮</dc:creator>
  <cp:lastModifiedBy>MicroSoft</cp:lastModifiedBy>
  <cp:revision>30</cp:revision>
  <dcterms:created xsi:type="dcterms:W3CDTF">2023-11-16T11:27:00Z</dcterms:created>
  <dcterms:modified xsi:type="dcterms:W3CDTF">2025-04-18T14:42:17Z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34BA1D9A609C40F290157A832431A8E5_13</vt:lpwstr>
  </property>
  <property fmtid="{D5CDD505-2E9C-101B-9397-08002B2CF9AE}" pid="3" name="KSOProductBuildVer">
    <vt:lpwstr>2052-12.1.0.16120</vt:lpwstr>
  </property>
</Properties>
</file>